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99" r:id="rId33"/>
    <p:sldId id="287" r:id="rId34"/>
    <p:sldId id="293" r:id="rId35"/>
    <p:sldId id="294" r:id="rId36"/>
    <p:sldId id="296" r:id="rId37"/>
    <p:sldId id="297" r:id="rId38"/>
    <p:sldId id="298" r:id="rId3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50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5340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19291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20"/>
            <a:ext cx="12191695" cy="6858000"/>
          </a:xfrm>
          <a:prstGeom prst="rect">
            <a:avLst/>
          </a:prstGeom>
          <a:solidFill>
            <a:srgbClr val="F7FAFE"/>
          </a:solidFill>
          <a:ln w="12700">
            <a:solidFill>
              <a:srgbClr val="F7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CCB"/>
          </a:solidFill>
          <a:ln w="12700">
            <a:solidFill>
              <a:srgbClr val="0F5CCB"/>
            </a:solidFill>
            <a:prstDash val="solid"/>
          </a:ln>
        </p:spPr>
      </p:sp>
      <p:pic>
        <p:nvPicPr>
          <p:cNvPr id="4" name="Image 0" descr="/mnt/data/a_cinematic_high_resolution_stylized_cybersecur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796561"/>
            <a:ext cx="5394960" cy="3036278"/>
          </a:xfrm>
          <a:prstGeom prst="rect">
            <a:avLst/>
          </a:prstGeom>
        </p:spPr>
      </p:pic>
      <p:pic>
        <p:nvPicPr>
          <p:cNvPr id="5" name="Image 1" descr="/mnt/data/mulungushi_logo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274320"/>
            <a:ext cx="713232" cy="7132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43000" y="31089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MULUNGUSHI UNIVERSITY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1143000" y="56692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of Engineering and Technology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94360" y="1234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F5C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ICS 441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594360" y="1645920"/>
            <a:ext cx="5166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Cybersecurity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Ethical Hacking</a:t>
            </a:r>
            <a:endParaRPr lang="en-US" sz="3600" dirty="0"/>
          </a:p>
        </p:txBody>
      </p:sp>
      <p:sp>
        <p:nvSpPr>
          <p:cNvPr id="10" name="Text 6"/>
          <p:cNvSpPr/>
          <p:nvPr/>
        </p:nvSpPr>
        <p:spPr>
          <a:xfrm>
            <a:off x="594360" y="3072384"/>
            <a:ext cx="5349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F5C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1: Engagement Ethics, Law, Safety, Threat Modeling and Risk Register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594360" y="3785616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1 • Lecturer: Mr. M Bwalya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58368" y="4864608"/>
            <a:ext cx="4800600" cy="786384"/>
          </a:xfrm>
          <a:prstGeom prst="roundRect">
            <a:avLst>
              <a:gd name="adj" fmla="val 9302"/>
            </a:avLst>
          </a:prstGeom>
          <a:solidFill>
            <a:srgbClr val="EEF7FF"/>
          </a:solidFill>
          <a:ln w="12700">
            <a:solidFill>
              <a:srgbClr val="B8CCE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41248" y="5010912"/>
            <a:ext cx="4434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CC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rule: no written authorisation, no testing.</a:t>
            </a:r>
            <a:endParaRPr lang="en-US" sz="2300" dirty="0"/>
          </a:p>
        </p:txBody>
      </p:sp>
      <p:sp>
        <p:nvSpPr>
          <p:cNvPr id="15" name="Shape 11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8890">
            <a:solidFill>
              <a:srgbClr val="B8CCE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11480" y="651052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ICS 441 • Advanced Cybersecurity and Ethical Hacking • Unit 1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292840" y="651052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E"/>
          </a:solidFill>
          <a:ln w="12700">
            <a:solidFill>
              <a:srgbClr val="F7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CCB"/>
          </a:solidFill>
          <a:ln w="12700">
            <a:solidFill>
              <a:srgbClr val="0F5CCB"/>
            </a:solidFill>
            <a:prstDash val="solid"/>
          </a:ln>
        </p:spPr>
      </p:sp>
      <p:pic>
        <p:nvPicPr>
          <p:cNvPr id="4" name="Image 0" descr="/mnt/data/mulungushi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19456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learning outcomes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960120" y="786384"/>
            <a:ext cx="10835640" cy="0"/>
          </a:xfrm>
          <a:prstGeom prst="line">
            <a:avLst/>
          </a:prstGeom>
          <a:noFill/>
          <a:ln w="12700">
            <a:solidFill>
              <a:srgbClr val="B8CC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8890">
            <a:solidFill>
              <a:srgbClr val="B8CC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651052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ICS 441 • Advanced Cybersecurity and Ethical Hacking • Unit 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92840" y="651052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85800" y="1051560"/>
            <a:ext cx="658368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3335">
            <a:solidFill>
              <a:srgbClr val="B8CC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58952" y="1124712"/>
            <a:ext cx="6437376" cy="384048"/>
          </a:xfrm>
          <a:prstGeom prst="roundRect">
            <a:avLst>
              <a:gd name="adj" fmla="val 14286"/>
            </a:avLst>
          </a:prstGeom>
          <a:solidFill>
            <a:srgbClr val="0F5CCB"/>
          </a:solidFill>
          <a:ln w="6350">
            <a:solidFill>
              <a:srgbClr val="0F5CC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1197864"/>
            <a:ext cx="6163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unit, students should be able to: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850392" y="1673352"/>
            <a:ext cx="6254496" cy="43982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Separate ethical hacking from cybercrime using authorization, scope and intent.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Prepare a safe engagement plan with Rules of Engagement and written consent.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Handle evidence and discovered data using privacy and OPSEC principles.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Explain threat modeling and convert threats into safe security test cases.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Create a simple risk register with likelihood, impact, mitigation, owner and status.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7635240" y="201168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EEF7FF"/>
          </a:solidFill>
          <a:ln w="12700">
            <a:solidFill>
              <a:srgbClr val="B8C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18120" y="2157984"/>
            <a:ext cx="347472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F5C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security work is planned, legal, safe and documented.</a:t>
            </a:r>
            <a:endParaRPr lang="en-US" sz="2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E"/>
          </a:solidFill>
          <a:ln w="12700">
            <a:solidFill>
              <a:srgbClr val="F7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CCB"/>
          </a:solidFill>
          <a:ln w="12700">
            <a:solidFill>
              <a:srgbClr val="0F5CCB"/>
            </a:solidFill>
            <a:prstDash val="solid"/>
          </a:ln>
        </p:spPr>
      </p:sp>
      <p:pic>
        <p:nvPicPr>
          <p:cNvPr id="4" name="Image 0" descr="/mnt/data/mulungushi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19456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mindset: red team thinking, blue team responsibility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960120" y="786384"/>
            <a:ext cx="10835640" cy="0"/>
          </a:xfrm>
          <a:prstGeom prst="line">
            <a:avLst/>
          </a:prstGeom>
          <a:noFill/>
          <a:ln w="12700">
            <a:solidFill>
              <a:srgbClr val="B8CC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8890">
            <a:solidFill>
              <a:srgbClr val="B8CC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651052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ICS 441 • Advanced Cybersecurity and Ethical Hacking • Unit 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92840" y="651052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40080" y="1051560"/>
            <a:ext cx="534924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3335">
            <a:solidFill>
              <a:srgbClr val="B8CC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13232" y="1124712"/>
            <a:ext cx="5202936" cy="384048"/>
          </a:xfrm>
          <a:prstGeom prst="roundRect">
            <a:avLst>
              <a:gd name="adj" fmla="val 14286"/>
            </a:avLst>
          </a:prstGeom>
          <a:solidFill>
            <a:srgbClr val="0F5CCB"/>
          </a:solidFill>
          <a:ln w="6350">
            <a:solidFill>
              <a:srgbClr val="0F5CC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0392" y="1197864"/>
            <a:ext cx="4928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Red-team thinking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804672" y="1673352"/>
            <a:ext cx="5020056" cy="43982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Ask how a weakness could be discovered.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Validate risk only in authorised safe-lab conditions.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Document what happened clearly and honestly.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Think creatively, but never act outside the ROE.</a:t>
            </a:r>
            <a:endParaRPr lang="en-US" sz="2050" dirty="0"/>
          </a:p>
        </p:txBody>
      </p:sp>
      <p:sp>
        <p:nvSpPr>
          <p:cNvPr id="14" name="Shape 11"/>
          <p:cNvSpPr/>
          <p:nvPr/>
        </p:nvSpPr>
        <p:spPr>
          <a:xfrm>
            <a:off x="6217920" y="1051560"/>
            <a:ext cx="534924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3335">
            <a:solidFill>
              <a:srgbClr val="B8CC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91072" y="1124712"/>
            <a:ext cx="5202936" cy="384048"/>
          </a:xfrm>
          <a:prstGeom prst="roundRect">
            <a:avLst>
              <a:gd name="adj" fmla="val 14286"/>
            </a:avLst>
          </a:prstGeom>
          <a:solidFill>
            <a:srgbClr val="168A4A"/>
          </a:solidFill>
          <a:ln w="6350">
            <a:solidFill>
              <a:srgbClr val="168A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28232" y="1197864"/>
            <a:ext cx="4928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Blue-team responsibility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6382512" y="1673352"/>
            <a:ext cx="5020056" cy="43982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Prevent weaknesses through secure design and configuration.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Detect suspicious behaviour using logs and analytics.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Respond quickly and contain incidents.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Recover and improve controls after lessons learned.</a:t>
            </a:r>
            <a:endParaRPr lang="en-US" sz="2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E"/>
          </a:solidFill>
          <a:ln w="12700">
            <a:solidFill>
              <a:srgbClr val="F7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CCB"/>
          </a:solidFill>
          <a:ln w="12700">
            <a:solidFill>
              <a:srgbClr val="0F5CCB"/>
            </a:solidFill>
            <a:prstDash val="solid"/>
          </a:ln>
        </p:spPr>
      </p:sp>
      <p:pic>
        <p:nvPicPr>
          <p:cNvPr id="4" name="Image 0" descr="/mnt/data/mulungushi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19456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this course advanced?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960120" y="786384"/>
            <a:ext cx="10835640" cy="0"/>
          </a:xfrm>
          <a:prstGeom prst="line">
            <a:avLst/>
          </a:prstGeom>
          <a:noFill/>
          <a:ln w="12700">
            <a:solidFill>
              <a:srgbClr val="B8CC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8890">
            <a:solidFill>
              <a:srgbClr val="B8CC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651052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ICS 441 • Advanced Cybersecurity and Ethical Hacking • Unit 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92840" y="651052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40080" y="1051560"/>
            <a:ext cx="534924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3335">
            <a:solidFill>
              <a:srgbClr val="B8CC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13232" y="1124712"/>
            <a:ext cx="5202936" cy="384048"/>
          </a:xfrm>
          <a:prstGeom prst="roundRect">
            <a:avLst>
              <a:gd name="adj" fmla="val 14286"/>
            </a:avLst>
          </a:prstGeom>
          <a:solidFill>
            <a:srgbClr val="0F5CCB"/>
          </a:solidFill>
          <a:ln w="6350">
            <a:solidFill>
              <a:srgbClr val="0F5CC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0392" y="1197864"/>
            <a:ext cx="4928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basic awareness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804672" y="1673352"/>
            <a:ext cx="5020056" cy="43982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Move from “what is malware?” to how attacks progress across systems.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Connect identity, networks, endpoints, applications, data and cloud.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Study both offensive testing and defensive detection.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Treat security as risk management, not just tool use.</a:t>
            </a:r>
            <a:endParaRPr lang="en-US" sz="2050" dirty="0"/>
          </a:p>
        </p:txBody>
      </p:sp>
      <p:sp>
        <p:nvSpPr>
          <p:cNvPr id="14" name="Shape 11"/>
          <p:cNvSpPr/>
          <p:nvPr/>
        </p:nvSpPr>
        <p:spPr>
          <a:xfrm>
            <a:off x="6217920" y="1051560"/>
            <a:ext cx="534924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3335">
            <a:solidFill>
              <a:srgbClr val="B8CC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91072" y="1124712"/>
            <a:ext cx="5202936" cy="384048"/>
          </a:xfrm>
          <a:prstGeom prst="roundRect">
            <a:avLst>
              <a:gd name="adj" fmla="val 14286"/>
            </a:avLst>
          </a:prstGeom>
          <a:solidFill>
            <a:srgbClr val="168A4A"/>
          </a:solidFill>
          <a:ln w="6350">
            <a:solidFill>
              <a:srgbClr val="168A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28232" y="1197864"/>
            <a:ext cx="4928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capability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6382512" y="1673352"/>
            <a:ext cx="5020056" cy="43982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 frameworks such as MITRE </a:t>
            </a:r>
            <a:r>
              <a:rPr lang="en-US" sz="2050" dirty="0" smtClean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ATT&amp;CK</a:t>
            </a: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OWASP and NIST.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Collect evidence through logs, scans and lab observations.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Write findings for technical and non-technical audiences.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Prioritise remediation using business impact.</a:t>
            </a:r>
            <a:endParaRPr lang="en-US" sz="2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E"/>
          </a:solidFill>
          <a:ln w="12700">
            <a:solidFill>
              <a:srgbClr val="F7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CCB"/>
          </a:solidFill>
          <a:ln w="12700">
            <a:solidFill>
              <a:srgbClr val="0F5CCB"/>
            </a:solidFill>
            <a:prstDash val="solid"/>
          </a:ln>
        </p:spPr>
      </p:sp>
      <p:pic>
        <p:nvPicPr>
          <p:cNvPr id="4" name="Image 0" descr="/mnt/data/mulungushi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19456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modern attack surface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960120" y="786384"/>
            <a:ext cx="10835640" cy="0"/>
          </a:xfrm>
          <a:prstGeom prst="line">
            <a:avLst/>
          </a:prstGeom>
          <a:noFill/>
          <a:ln w="12700">
            <a:solidFill>
              <a:srgbClr val="B8CC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8890">
            <a:solidFill>
              <a:srgbClr val="B8CC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651052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ICS 441 • Advanced Cybersecurity and Ethical Hacking • Unit 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92840" y="651052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02920" y="1078992"/>
            <a:ext cx="3675888" cy="5166360"/>
          </a:xfrm>
          <a:prstGeom prst="roundRect">
            <a:avLst>
              <a:gd name="adj" fmla="val 1990"/>
            </a:avLst>
          </a:prstGeom>
          <a:solidFill>
            <a:srgbClr val="FFFFFF"/>
          </a:solidFill>
          <a:ln w="13335">
            <a:solidFill>
              <a:srgbClr val="B8CC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76072" y="1152144"/>
            <a:ext cx="3529584" cy="384048"/>
          </a:xfrm>
          <a:prstGeom prst="roundRect">
            <a:avLst>
              <a:gd name="adj" fmla="val 14286"/>
            </a:avLst>
          </a:prstGeom>
          <a:solidFill>
            <a:srgbClr val="0F5CCB"/>
          </a:solidFill>
          <a:ln w="6350">
            <a:solidFill>
              <a:srgbClr val="0F5CC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3232" y="1225296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surface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667512" y="1700784"/>
            <a:ext cx="3346704" cy="43982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Networks, servers and endpoints.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Open ports, weak patching and poor segmentation.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User laptops, desktops and mobile devices.</a:t>
            </a:r>
            <a:endParaRPr lang="en-US" sz="1850" dirty="0"/>
          </a:p>
        </p:txBody>
      </p:sp>
      <p:sp>
        <p:nvSpPr>
          <p:cNvPr id="14" name="Shape 11"/>
          <p:cNvSpPr/>
          <p:nvPr/>
        </p:nvSpPr>
        <p:spPr>
          <a:xfrm>
            <a:off x="4389120" y="1078992"/>
            <a:ext cx="3675888" cy="5166360"/>
          </a:xfrm>
          <a:prstGeom prst="roundRect">
            <a:avLst>
              <a:gd name="adj" fmla="val 1990"/>
            </a:avLst>
          </a:prstGeom>
          <a:solidFill>
            <a:srgbClr val="FFFFFF"/>
          </a:solidFill>
          <a:ln w="13335">
            <a:solidFill>
              <a:srgbClr val="B8CC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462272" y="1152144"/>
            <a:ext cx="3529584" cy="384048"/>
          </a:xfrm>
          <a:prstGeom prst="roundRect">
            <a:avLst>
              <a:gd name="adj" fmla="val 14286"/>
            </a:avLst>
          </a:prstGeom>
          <a:solidFill>
            <a:srgbClr val="168A4A"/>
          </a:solidFill>
          <a:ln w="6350">
            <a:solidFill>
              <a:srgbClr val="168A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99432" y="1225296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surface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4553712" y="1700784"/>
            <a:ext cx="3346704" cy="43982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Cloud environments, web apps and APIs.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Containers, CI/CD pipelines and supply chains.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IoT, edge devices and third-party integrations.</a:t>
            </a:r>
            <a:endParaRPr lang="en-US" sz="1850" dirty="0"/>
          </a:p>
        </p:txBody>
      </p:sp>
      <p:sp>
        <p:nvSpPr>
          <p:cNvPr id="18" name="Shape 15"/>
          <p:cNvSpPr/>
          <p:nvPr/>
        </p:nvSpPr>
        <p:spPr>
          <a:xfrm>
            <a:off x="8275320" y="1078992"/>
            <a:ext cx="3675888" cy="5166360"/>
          </a:xfrm>
          <a:prstGeom prst="roundRect">
            <a:avLst>
              <a:gd name="adj" fmla="val 1990"/>
            </a:avLst>
          </a:prstGeom>
          <a:solidFill>
            <a:srgbClr val="FFFFFF"/>
          </a:solidFill>
          <a:ln w="13335">
            <a:solidFill>
              <a:srgbClr val="B8CC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48472" y="1152144"/>
            <a:ext cx="3529584" cy="384048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485632" y="1225296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Teaching focus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8439912" y="1700784"/>
            <a:ext cx="3346704" cy="43982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Understand where systems are exposed.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Test only within approved lab scope.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Map weaknesses to controls and evidence.</a:t>
            </a:r>
            <a:endParaRPr lang="en-US" sz="1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E"/>
          </a:solidFill>
          <a:ln w="12700">
            <a:solidFill>
              <a:srgbClr val="F7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CCB"/>
          </a:solidFill>
          <a:ln w="12700">
            <a:solidFill>
              <a:srgbClr val="0F5CCB"/>
            </a:solidFill>
            <a:prstDash val="solid"/>
          </a:ln>
        </p:spPr>
      </p:sp>
      <p:pic>
        <p:nvPicPr>
          <p:cNvPr id="4" name="Image 0" descr="/mnt/data/mulungushi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19456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Ethical hacking in context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960120" y="786384"/>
            <a:ext cx="10835640" cy="0"/>
          </a:xfrm>
          <a:prstGeom prst="line">
            <a:avLst/>
          </a:prstGeom>
          <a:noFill/>
          <a:ln w="12700">
            <a:solidFill>
              <a:srgbClr val="B8CC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8890">
            <a:solidFill>
              <a:srgbClr val="B8CC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651052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ICS 441 • Advanced Cybersecurity and Ethical Hacking • Unit 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92840" y="651052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94360" y="960120"/>
            <a:ext cx="1101852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2700">
            <a:solidFill>
              <a:srgbClr val="B8CCE8"/>
            </a:solidFill>
            <a:prstDash val="solid"/>
          </a:ln>
        </p:spPr>
      </p:sp>
      <p:pic>
        <p:nvPicPr>
          <p:cNvPr id="11" name="Image 1" descr="/mnt/data/wide_infographic_on_a_clean_white_blue_backgrou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4253" y="1115568"/>
            <a:ext cx="7798734" cy="43891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68680" y="5541264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summary: authorisation, ROE, privacy, evidence, audit trail and responsible disclosure.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E"/>
          </a:solidFill>
          <a:ln w="12700">
            <a:solidFill>
              <a:srgbClr val="F7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CCB"/>
          </a:solidFill>
          <a:ln w="12700">
            <a:solidFill>
              <a:srgbClr val="0F5CCB"/>
            </a:solidFill>
            <a:prstDash val="solid"/>
          </a:ln>
        </p:spPr>
      </p:sp>
      <p:pic>
        <p:nvPicPr>
          <p:cNvPr id="4" name="Image 0" descr="/mnt/data/mulungushi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19456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Ethical hacking versus cybercrime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960120" y="786384"/>
            <a:ext cx="10835640" cy="0"/>
          </a:xfrm>
          <a:prstGeom prst="line">
            <a:avLst/>
          </a:prstGeom>
          <a:noFill/>
          <a:ln w="12700">
            <a:solidFill>
              <a:srgbClr val="B8CC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8890">
            <a:solidFill>
              <a:srgbClr val="B8CC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651052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ICS 441 • Advanced Cybersecurity and Ethical Hacking • Unit 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92840" y="651052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40080" y="1051560"/>
            <a:ext cx="534924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3335">
            <a:solidFill>
              <a:srgbClr val="B8CC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13232" y="1124712"/>
            <a:ext cx="5202936" cy="384048"/>
          </a:xfrm>
          <a:prstGeom prst="roundRect">
            <a:avLst>
              <a:gd name="adj" fmla="val 14286"/>
            </a:avLst>
          </a:prstGeom>
          <a:solidFill>
            <a:srgbClr val="0F5CCB"/>
          </a:solidFill>
          <a:ln w="6350">
            <a:solidFill>
              <a:srgbClr val="0F5CC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0392" y="1197864"/>
            <a:ext cx="4928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Ethical hacking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804672" y="1673352"/>
            <a:ext cx="5020056" cy="43982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Legal and explicitly authorised by the system owner.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Has written scope, approved methods and a defined time window.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Intent is to improve security and reduce risk.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Findings are documented and reported responsibly.</a:t>
            </a:r>
            <a:endParaRPr lang="en-US" sz="2050" dirty="0"/>
          </a:p>
        </p:txBody>
      </p:sp>
      <p:sp>
        <p:nvSpPr>
          <p:cNvPr id="14" name="Shape 11"/>
          <p:cNvSpPr/>
          <p:nvPr/>
        </p:nvSpPr>
        <p:spPr>
          <a:xfrm>
            <a:off x="6217920" y="1051560"/>
            <a:ext cx="534924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3335">
            <a:solidFill>
              <a:srgbClr val="B8CC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91072" y="1124712"/>
            <a:ext cx="5202936" cy="384048"/>
          </a:xfrm>
          <a:prstGeom prst="roundRect">
            <a:avLst>
              <a:gd name="adj" fmla="val 14286"/>
            </a:avLst>
          </a:prstGeom>
          <a:solidFill>
            <a:srgbClr val="168A4A"/>
          </a:solidFill>
          <a:ln w="6350">
            <a:solidFill>
              <a:srgbClr val="168A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28232" y="1197864"/>
            <a:ext cx="4928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Cybercrime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6382512" y="1673352"/>
            <a:ext cx="5020056" cy="43982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permission from the owner.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May involve theft, disruption, data exposure or coercion.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Intent is harmful, selfish or unlawful.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Creates legal, disciplinary and reputational consequences.</a:t>
            </a:r>
            <a:endParaRPr lang="en-US" sz="2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E"/>
          </a:solidFill>
          <a:ln w="12700">
            <a:solidFill>
              <a:srgbClr val="F7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CCB"/>
          </a:solidFill>
          <a:ln w="12700">
            <a:solidFill>
              <a:srgbClr val="0F5CCB"/>
            </a:solidFill>
            <a:prstDash val="solid"/>
          </a:ln>
        </p:spPr>
      </p:sp>
      <p:pic>
        <p:nvPicPr>
          <p:cNvPr id="4" name="Image 0" descr="/mnt/data/mulungushi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19456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 of ethical hacking — interpreted safely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960120" y="786384"/>
            <a:ext cx="10835640" cy="0"/>
          </a:xfrm>
          <a:prstGeom prst="line">
            <a:avLst/>
          </a:prstGeom>
          <a:noFill/>
          <a:ln w="12700">
            <a:solidFill>
              <a:srgbClr val="B8CC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8890">
            <a:solidFill>
              <a:srgbClr val="B8CC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651052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ICS 441 • Advanced Cybersecurity and Ethical Hacking • Unit 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92840" y="651052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94360" y="960120"/>
            <a:ext cx="1101852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2700">
            <a:solidFill>
              <a:srgbClr val="B8CCE8"/>
            </a:solidFill>
            <a:prstDash val="solid"/>
          </a:ln>
        </p:spPr>
      </p:sp>
      <p:pic>
        <p:nvPicPr>
          <p:cNvPr id="11" name="Image 1" descr="/mnt/data/ics441_extract/ppt/media/image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1960" y="1115568"/>
            <a:ext cx="8521742" cy="47951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E"/>
          </a:solidFill>
          <a:ln w="12700">
            <a:solidFill>
              <a:srgbClr val="F7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CCB"/>
          </a:solidFill>
          <a:ln w="12700">
            <a:solidFill>
              <a:srgbClr val="0F5CCB"/>
            </a:solidFill>
            <a:prstDash val="solid"/>
          </a:ln>
        </p:spPr>
      </p:sp>
      <p:pic>
        <p:nvPicPr>
          <p:cNvPr id="4" name="Image 0" descr="/mnt/data/mulungushi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19456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ethical-hacking workflow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960120" y="786384"/>
            <a:ext cx="10835640" cy="0"/>
          </a:xfrm>
          <a:prstGeom prst="line">
            <a:avLst/>
          </a:prstGeom>
          <a:noFill/>
          <a:ln w="12700">
            <a:solidFill>
              <a:srgbClr val="B8CC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8890">
            <a:solidFill>
              <a:srgbClr val="B8CC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651052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ICS 441 • Advanced Cybersecurity and Ethical Hacking • Unit 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92840" y="651052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85800" y="98755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5C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permission to improvement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594360" y="1847088"/>
            <a:ext cx="1627632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4605">
            <a:solidFill>
              <a:srgbClr val="0F5CC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7512" y="1947672"/>
            <a:ext cx="310896" cy="265176"/>
          </a:xfrm>
          <a:prstGeom prst="rect">
            <a:avLst/>
          </a:prstGeom>
          <a:solidFill>
            <a:srgbClr val="0F5CC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40664" y="2258568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676656" y="2980944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3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Written consent and signed scope.</a:t>
            </a:r>
            <a:endParaRPr lang="en-US" sz="1330" dirty="0"/>
          </a:p>
        </p:txBody>
      </p:sp>
      <p:sp>
        <p:nvSpPr>
          <p:cNvPr id="15" name="Shape 12"/>
          <p:cNvSpPr/>
          <p:nvPr/>
        </p:nvSpPr>
        <p:spPr>
          <a:xfrm>
            <a:off x="2240280" y="2377440"/>
            <a:ext cx="118872" cy="0"/>
          </a:xfrm>
          <a:prstGeom prst="line">
            <a:avLst/>
          </a:prstGeom>
          <a:noFill/>
          <a:ln w="25400">
            <a:solidFill>
              <a:srgbClr val="0F5CCB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2377440" y="1847088"/>
            <a:ext cx="1627632" cy="987552"/>
          </a:xfrm>
          <a:prstGeom prst="roundRect">
            <a:avLst>
              <a:gd name="adj" fmla="val 7407"/>
            </a:avLst>
          </a:prstGeom>
          <a:solidFill>
            <a:srgbClr val="EAF3FF"/>
          </a:solidFill>
          <a:ln w="14605">
            <a:solidFill>
              <a:srgbClr val="0F5CC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450592" y="1947672"/>
            <a:ext cx="310896" cy="265176"/>
          </a:xfrm>
          <a:prstGeom prst="rect">
            <a:avLst/>
          </a:prstGeom>
          <a:solidFill>
            <a:srgbClr val="0F5CC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523744" y="2258568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2459736" y="2980944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3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ROE, timeline, contacts and limits.</a:t>
            </a:r>
            <a:endParaRPr lang="en-US" sz="1330" dirty="0"/>
          </a:p>
        </p:txBody>
      </p:sp>
      <p:sp>
        <p:nvSpPr>
          <p:cNvPr id="20" name="Shape 17"/>
          <p:cNvSpPr/>
          <p:nvPr/>
        </p:nvSpPr>
        <p:spPr>
          <a:xfrm>
            <a:off x="4023360" y="2377440"/>
            <a:ext cx="118872" cy="0"/>
          </a:xfrm>
          <a:prstGeom prst="line">
            <a:avLst/>
          </a:prstGeom>
          <a:noFill/>
          <a:ln w="25400">
            <a:solidFill>
              <a:srgbClr val="0F5CCB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4160520" y="1847088"/>
            <a:ext cx="1627632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4605">
            <a:solidFill>
              <a:srgbClr val="0F5CC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233672" y="1947672"/>
            <a:ext cx="310896" cy="265176"/>
          </a:xfrm>
          <a:prstGeom prst="rect">
            <a:avLst/>
          </a:prstGeom>
          <a:solidFill>
            <a:srgbClr val="0F5CC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306824" y="2258568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4242816" y="2980944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3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Reconnaissance within permitted scope.</a:t>
            </a:r>
            <a:endParaRPr lang="en-US" sz="1330" dirty="0"/>
          </a:p>
        </p:txBody>
      </p:sp>
      <p:sp>
        <p:nvSpPr>
          <p:cNvPr id="25" name="Shape 22"/>
          <p:cNvSpPr/>
          <p:nvPr/>
        </p:nvSpPr>
        <p:spPr>
          <a:xfrm>
            <a:off x="5806440" y="2377440"/>
            <a:ext cx="118872" cy="0"/>
          </a:xfrm>
          <a:prstGeom prst="line">
            <a:avLst/>
          </a:prstGeom>
          <a:noFill/>
          <a:ln w="25400">
            <a:solidFill>
              <a:srgbClr val="0F5CCB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5943600" y="1847088"/>
            <a:ext cx="1627632" cy="987552"/>
          </a:xfrm>
          <a:prstGeom prst="roundRect">
            <a:avLst>
              <a:gd name="adj" fmla="val 7407"/>
            </a:avLst>
          </a:prstGeom>
          <a:solidFill>
            <a:srgbClr val="EAF3FF"/>
          </a:solidFill>
          <a:ln w="14605">
            <a:solidFill>
              <a:srgbClr val="0F5CC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016752" y="1947672"/>
            <a:ext cx="310896" cy="265176"/>
          </a:xfrm>
          <a:prstGeom prst="rect">
            <a:avLst/>
          </a:prstGeom>
          <a:solidFill>
            <a:srgbClr val="0F5CC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089904" y="2258568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6025896" y="2980944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3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safely without unnecessary harm.</a:t>
            </a:r>
            <a:endParaRPr lang="en-US" sz="1330" dirty="0"/>
          </a:p>
        </p:txBody>
      </p:sp>
      <p:sp>
        <p:nvSpPr>
          <p:cNvPr id="30" name="Shape 27"/>
          <p:cNvSpPr/>
          <p:nvPr/>
        </p:nvSpPr>
        <p:spPr>
          <a:xfrm>
            <a:off x="7589520" y="2377440"/>
            <a:ext cx="118872" cy="0"/>
          </a:xfrm>
          <a:prstGeom prst="line">
            <a:avLst/>
          </a:prstGeom>
          <a:noFill/>
          <a:ln w="25400">
            <a:solidFill>
              <a:srgbClr val="0F5CCB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7726680" y="1847088"/>
            <a:ext cx="1627632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4605">
            <a:solidFill>
              <a:srgbClr val="0F5CC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799832" y="1947672"/>
            <a:ext cx="310896" cy="265176"/>
          </a:xfrm>
          <a:prstGeom prst="rect">
            <a:avLst/>
          </a:prstGeom>
          <a:solidFill>
            <a:srgbClr val="0F5CC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7872984" y="2258568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1450" dirty="0"/>
          </a:p>
        </p:txBody>
      </p:sp>
      <p:sp>
        <p:nvSpPr>
          <p:cNvPr id="34" name="Text 31"/>
          <p:cNvSpPr/>
          <p:nvPr/>
        </p:nvSpPr>
        <p:spPr>
          <a:xfrm>
            <a:off x="7808976" y="2980944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3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Evidence, impact and remediation.</a:t>
            </a:r>
            <a:endParaRPr lang="en-US" sz="1330" dirty="0"/>
          </a:p>
        </p:txBody>
      </p:sp>
      <p:sp>
        <p:nvSpPr>
          <p:cNvPr id="35" name="Shape 32"/>
          <p:cNvSpPr/>
          <p:nvPr/>
        </p:nvSpPr>
        <p:spPr>
          <a:xfrm>
            <a:off x="9372600" y="2377440"/>
            <a:ext cx="118872" cy="0"/>
          </a:xfrm>
          <a:prstGeom prst="line">
            <a:avLst/>
          </a:prstGeom>
          <a:noFill/>
          <a:ln w="25400">
            <a:solidFill>
              <a:srgbClr val="0F5CCB"/>
            </a:solidFill>
            <a:prstDash val="solid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9509760" y="1847088"/>
            <a:ext cx="1627632" cy="987552"/>
          </a:xfrm>
          <a:prstGeom prst="roundRect">
            <a:avLst>
              <a:gd name="adj" fmla="val 7407"/>
            </a:avLst>
          </a:prstGeom>
          <a:solidFill>
            <a:srgbClr val="EAF3FF"/>
          </a:solidFill>
          <a:ln w="14605">
            <a:solidFill>
              <a:srgbClr val="0F5CC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582912" y="1947672"/>
            <a:ext cx="310896" cy="265176"/>
          </a:xfrm>
          <a:prstGeom prst="rect">
            <a:avLst/>
          </a:prstGeom>
          <a:solidFill>
            <a:srgbClr val="0F5CC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9656064" y="2258568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Retest</a:t>
            </a:r>
            <a:endParaRPr lang="en-US" sz="1450" dirty="0"/>
          </a:p>
        </p:txBody>
      </p:sp>
      <p:sp>
        <p:nvSpPr>
          <p:cNvPr id="39" name="Text 36"/>
          <p:cNvSpPr/>
          <p:nvPr/>
        </p:nvSpPr>
        <p:spPr>
          <a:xfrm>
            <a:off x="9592056" y="2980944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3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fix and close findings.</a:t>
            </a:r>
            <a:endParaRPr lang="en-US" sz="1330" dirty="0"/>
          </a:p>
        </p:txBody>
      </p:sp>
      <p:sp>
        <p:nvSpPr>
          <p:cNvPr id="40" name="Shape 37"/>
          <p:cNvSpPr/>
          <p:nvPr/>
        </p:nvSpPr>
        <p:spPr>
          <a:xfrm>
            <a:off x="1005840" y="5257800"/>
            <a:ext cx="10195560" cy="685800"/>
          </a:xfrm>
          <a:prstGeom prst="roundRect">
            <a:avLst>
              <a:gd name="adj" fmla="val 10667"/>
            </a:avLst>
          </a:prstGeom>
          <a:solidFill>
            <a:srgbClr val="EEF7FF"/>
          </a:solidFill>
          <a:ln w="12700">
            <a:solidFill>
              <a:srgbClr val="B8CCE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188720" y="5404104"/>
            <a:ext cx="9829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F5C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step must remain authorised, scoped, logged and reversible.</a:t>
            </a:r>
            <a:endParaRPr lang="en-US" sz="2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E"/>
          </a:solidFill>
          <a:ln w="12700">
            <a:solidFill>
              <a:srgbClr val="F7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CCB"/>
          </a:solidFill>
          <a:ln w="12700">
            <a:solidFill>
              <a:srgbClr val="0F5CCB"/>
            </a:solidFill>
            <a:prstDash val="solid"/>
          </a:ln>
        </p:spPr>
      </p:sp>
      <p:pic>
        <p:nvPicPr>
          <p:cNvPr id="4" name="Image 0" descr="/mnt/data/mulungushi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19456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frameworks we will use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960120" y="786384"/>
            <a:ext cx="10835640" cy="0"/>
          </a:xfrm>
          <a:prstGeom prst="line">
            <a:avLst/>
          </a:prstGeom>
          <a:noFill/>
          <a:ln w="12700">
            <a:solidFill>
              <a:srgbClr val="B8CC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8890">
            <a:solidFill>
              <a:srgbClr val="B8CC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651052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ICS 441 • Advanced Cybersecurity and Ethical Hacking • Unit 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92840" y="651052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02920" y="1078992"/>
            <a:ext cx="3675888" cy="5166360"/>
          </a:xfrm>
          <a:prstGeom prst="roundRect">
            <a:avLst>
              <a:gd name="adj" fmla="val 1990"/>
            </a:avLst>
          </a:prstGeom>
          <a:solidFill>
            <a:srgbClr val="FFFFFF"/>
          </a:solidFill>
          <a:ln w="13335">
            <a:solidFill>
              <a:srgbClr val="B8CC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76072" y="1152144"/>
            <a:ext cx="3529584" cy="384048"/>
          </a:xfrm>
          <a:prstGeom prst="roundRect">
            <a:avLst>
              <a:gd name="adj" fmla="val 14286"/>
            </a:avLst>
          </a:prstGeom>
          <a:solidFill>
            <a:srgbClr val="0F5CCB"/>
          </a:solidFill>
          <a:ln w="6350">
            <a:solidFill>
              <a:srgbClr val="0F5CC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3232" y="1225296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MITRE ATTandCK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667512" y="1700784"/>
            <a:ext cx="3346704" cy="43982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Common language for adversary tactics and techniques.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Useful for mapping tests to expected detections.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Helps identify coverage gaps.</a:t>
            </a:r>
            <a:endParaRPr lang="en-US" sz="1850" dirty="0"/>
          </a:p>
        </p:txBody>
      </p:sp>
      <p:sp>
        <p:nvSpPr>
          <p:cNvPr id="14" name="Shape 11"/>
          <p:cNvSpPr/>
          <p:nvPr/>
        </p:nvSpPr>
        <p:spPr>
          <a:xfrm>
            <a:off x="4389120" y="1078992"/>
            <a:ext cx="3675888" cy="5166360"/>
          </a:xfrm>
          <a:prstGeom prst="roundRect">
            <a:avLst>
              <a:gd name="adj" fmla="val 1990"/>
            </a:avLst>
          </a:prstGeom>
          <a:solidFill>
            <a:srgbClr val="FFFFFF"/>
          </a:solidFill>
          <a:ln w="13335">
            <a:solidFill>
              <a:srgbClr val="B8CC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462272" y="1152144"/>
            <a:ext cx="3529584" cy="384048"/>
          </a:xfrm>
          <a:prstGeom prst="roundRect">
            <a:avLst>
              <a:gd name="adj" fmla="val 14286"/>
            </a:avLst>
          </a:prstGeom>
          <a:solidFill>
            <a:srgbClr val="168A4A"/>
          </a:solidFill>
          <a:ln w="6350">
            <a:solidFill>
              <a:srgbClr val="168A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99432" y="1225296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4553712" y="1700784"/>
            <a:ext cx="3346704" cy="43982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Source for web application security testing.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Supports learning on auth, sessions, APIs and secure coding.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Provides practical checklists and testing guidance.</a:t>
            </a:r>
            <a:endParaRPr lang="en-US" sz="1850" dirty="0"/>
          </a:p>
        </p:txBody>
      </p:sp>
      <p:sp>
        <p:nvSpPr>
          <p:cNvPr id="18" name="Shape 15"/>
          <p:cNvSpPr/>
          <p:nvPr/>
        </p:nvSpPr>
        <p:spPr>
          <a:xfrm>
            <a:off x="8275320" y="1078992"/>
            <a:ext cx="3675888" cy="5166360"/>
          </a:xfrm>
          <a:prstGeom prst="roundRect">
            <a:avLst>
              <a:gd name="adj" fmla="val 1990"/>
            </a:avLst>
          </a:prstGeom>
          <a:solidFill>
            <a:srgbClr val="FFFFFF"/>
          </a:solidFill>
          <a:ln w="13335">
            <a:solidFill>
              <a:srgbClr val="B8CC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48472" y="1152144"/>
            <a:ext cx="3529584" cy="384048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485632" y="1225296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guidance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8439912" y="1700784"/>
            <a:ext cx="3346704" cy="43982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Supports testing, incident handling and risk management.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Useful for structured professional documentation.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Connects technical findings to governance.</a:t>
            </a:r>
            <a:endParaRPr lang="en-US" sz="1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E"/>
          </a:solidFill>
          <a:ln w="12700">
            <a:solidFill>
              <a:srgbClr val="F7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CCB"/>
          </a:solidFill>
          <a:ln w="12700">
            <a:solidFill>
              <a:srgbClr val="0F5CCB"/>
            </a:solidFill>
            <a:prstDash val="solid"/>
          </a:ln>
        </p:spPr>
      </p:sp>
      <p:pic>
        <p:nvPicPr>
          <p:cNvPr id="4" name="Image 0" descr="/mnt/data/mulungushi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19456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Defender response to offensive actions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960120" y="786384"/>
            <a:ext cx="10835640" cy="0"/>
          </a:xfrm>
          <a:prstGeom prst="line">
            <a:avLst/>
          </a:prstGeom>
          <a:noFill/>
          <a:ln w="12700">
            <a:solidFill>
              <a:srgbClr val="B8CC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8890">
            <a:solidFill>
              <a:srgbClr val="B8CC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651052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ICS 441 • Advanced Cybersecurity and Ethical Hacking • Unit 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92840" y="651052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02920" y="1078992"/>
            <a:ext cx="3675888" cy="5166360"/>
          </a:xfrm>
          <a:prstGeom prst="roundRect">
            <a:avLst>
              <a:gd name="adj" fmla="val 1990"/>
            </a:avLst>
          </a:prstGeom>
          <a:solidFill>
            <a:srgbClr val="FFFFFF"/>
          </a:solidFill>
          <a:ln w="13335">
            <a:solidFill>
              <a:srgbClr val="B8CC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76072" y="1152144"/>
            <a:ext cx="3529584" cy="384048"/>
          </a:xfrm>
          <a:prstGeom prst="roundRect">
            <a:avLst>
              <a:gd name="adj" fmla="val 14286"/>
            </a:avLst>
          </a:prstGeom>
          <a:solidFill>
            <a:srgbClr val="0F5CCB"/>
          </a:solidFill>
          <a:ln w="6350">
            <a:solidFill>
              <a:srgbClr val="0F5CC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3232" y="1225296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667512" y="1700784"/>
            <a:ext cx="3346704" cy="43982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Secure configuration and hardening.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Least privilege and MFA.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Secure coding and patching.</a:t>
            </a:r>
            <a:endParaRPr lang="en-US" sz="1850" dirty="0"/>
          </a:p>
        </p:txBody>
      </p:sp>
      <p:sp>
        <p:nvSpPr>
          <p:cNvPr id="14" name="Shape 11"/>
          <p:cNvSpPr/>
          <p:nvPr/>
        </p:nvSpPr>
        <p:spPr>
          <a:xfrm>
            <a:off x="4389120" y="1078992"/>
            <a:ext cx="3675888" cy="5166360"/>
          </a:xfrm>
          <a:prstGeom prst="roundRect">
            <a:avLst>
              <a:gd name="adj" fmla="val 1990"/>
            </a:avLst>
          </a:prstGeom>
          <a:solidFill>
            <a:srgbClr val="FFFFFF"/>
          </a:solidFill>
          <a:ln w="13335">
            <a:solidFill>
              <a:srgbClr val="B8CC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462272" y="1152144"/>
            <a:ext cx="3529584" cy="384048"/>
          </a:xfrm>
          <a:prstGeom prst="roundRect">
            <a:avLst>
              <a:gd name="adj" fmla="val 14286"/>
            </a:avLst>
          </a:prstGeom>
          <a:solidFill>
            <a:srgbClr val="168A4A"/>
          </a:solidFill>
          <a:ln w="6350">
            <a:solidFill>
              <a:srgbClr val="168A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99432" y="1225296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4553712" y="1700784"/>
            <a:ext cx="3346704" cy="43982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Logs, SIEM, IDS and analytics.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Alert on suspicious activity.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Measure visibility across systems.</a:t>
            </a:r>
            <a:endParaRPr lang="en-US" sz="1850" dirty="0"/>
          </a:p>
        </p:txBody>
      </p:sp>
      <p:sp>
        <p:nvSpPr>
          <p:cNvPr id="18" name="Shape 15"/>
          <p:cNvSpPr/>
          <p:nvPr/>
        </p:nvSpPr>
        <p:spPr>
          <a:xfrm>
            <a:off x="8275320" y="1078992"/>
            <a:ext cx="3675888" cy="5166360"/>
          </a:xfrm>
          <a:prstGeom prst="roundRect">
            <a:avLst>
              <a:gd name="adj" fmla="val 1990"/>
            </a:avLst>
          </a:prstGeom>
          <a:solidFill>
            <a:srgbClr val="FFFFFF"/>
          </a:solidFill>
          <a:ln w="13335">
            <a:solidFill>
              <a:srgbClr val="B8CC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48472" y="1152144"/>
            <a:ext cx="3529584" cy="384048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485632" y="1225296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 and recover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8439912" y="1700784"/>
            <a:ext cx="3346704" cy="43982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Triage and contain incidents.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Restore services and preserve evidence.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Document lessons learned.</a:t>
            </a:r>
            <a:endParaRPr lang="en-US" sz="1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E"/>
          </a:solidFill>
          <a:ln w="12700">
            <a:solidFill>
              <a:srgbClr val="F7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CCB"/>
          </a:solidFill>
          <a:ln w="12700">
            <a:solidFill>
              <a:srgbClr val="0F5CCB"/>
            </a:solidFill>
            <a:prstDash val="solid"/>
          </a:ln>
        </p:spPr>
      </p:sp>
      <p:pic>
        <p:nvPicPr>
          <p:cNvPr id="4" name="Image 0" descr="/mnt/data/mulungushi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19456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ethics: why safety comes first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960120" y="786384"/>
            <a:ext cx="10835640" cy="0"/>
          </a:xfrm>
          <a:prstGeom prst="line">
            <a:avLst/>
          </a:prstGeom>
          <a:noFill/>
          <a:ln w="12700">
            <a:solidFill>
              <a:srgbClr val="B8CC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8890">
            <a:solidFill>
              <a:srgbClr val="B8CC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651052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ICS 441 • Advanced Cybersecurity and Ethical Hacking • Unit 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92840" y="651052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85800" y="1051560"/>
            <a:ext cx="658368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3335">
            <a:solidFill>
              <a:srgbClr val="B8CC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58952" y="1124712"/>
            <a:ext cx="6437376" cy="384048"/>
          </a:xfrm>
          <a:prstGeom prst="roundRect">
            <a:avLst>
              <a:gd name="adj" fmla="val 14286"/>
            </a:avLst>
          </a:prstGeom>
          <a:solidFill>
            <a:srgbClr val="0F5CCB"/>
          </a:solidFill>
          <a:ln w="6350">
            <a:solidFill>
              <a:srgbClr val="0F5CC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1197864"/>
            <a:ext cx="6163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teaching points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850392" y="1673352"/>
            <a:ext cx="6254496" cy="43982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Technical skills are irrelevant without a legal and ethical framework.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Authorization is the line between a security professional and a criminal.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Testing must minimize disruption, privacy harm and data exposure.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 professional tester can justify every action taken during the engagement.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When risk is unclear, pause and escalate instead of improvising.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7635240" y="201168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EEF7FF"/>
          </a:solidFill>
          <a:ln w="12700">
            <a:solidFill>
              <a:srgbClr val="B8C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18120" y="2157984"/>
            <a:ext cx="347472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F5C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permission. No scope. No testing.</a:t>
            </a:r>
            <a:endParaRPr lang="en-US" sz="2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E"/>
          </a:solidFill>
          <a:ln w="12700">
            <a:solidFill>
              <a:srgbClr val="F7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CCB"/>
          </a:solidFill>
          <a:ln w="12700">
            <a:solidFill>
              <a:srgbClr val="0F5CCB"/>
            </a:solidFill>
            <a:prstDash val="solid"/>
          </a:ln>
        </p:spPr>
      </p:sp>
      <p:pic>
        <p:nvPicPr>
          <p:cNvPr id="4" name="Image 0" descr="/mnt/data/mulungushi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19456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of Engagement (ROE): the safety contract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960120" y="786384"/>
            <a:ext cx="10835640" cy="0"/>
          </a:xfrm>
          <a:prstGeom prst="line">
            <a:avLst/>
          </a:prstGeom>
          <a:noFill/>
          <a:ln w="12700">
            <a:solidFill>
              <a:srgbClr val="B8CC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8890">
            <a:solidFill>
              <a:srgbClr val="B8CC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651052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ICS 441 • Advanced Cybersecurity and Ethical Hacking • Unit 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92840" y="651052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40080" y="1051560"/>
            <a:ext cx="534924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3335">
            <a:solidFill>
              <a:srgbClr val="B8CC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13232" y="1124712"/>
            <a:ext cx="5202936" cy="384048"/>
          </a:xfrm>
          <a:prstGeom prst="roundRect">
            <a:avLst>
              <a:gd name="adj" fmla="val 14286"/>
            </a:avLst>
          </a:prstGeom>
          <a:solidFill>
            <a:srgbClr val="0F5CCB"/>
          </a:solidFill>
          <a:ln w="6350">
            <a:solidFill>
              <a:srgbClr val="0F5CC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0392" y="1197864"/>
            <a:ext cx="4928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ROE defines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804672" y="1673352"/>
            <a:ext cx="5020056" cy="43982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In-scope and out-of-scope assets.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Allowed methods, tools, techniques and rate limits.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Testing window, maintenance windows and stop conditions.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Contacts, escalation paths and response service levels.</a:t>
            </a:r>
            <a:endParaRPr lang="en-US" sz="2050" dirty="0"/>
          </a:p>
        </p:txBody>
      </p:sp>
      <p:sp>
        <p:nvSpPr>
          <p:cNvPr id="14" name="Shape 11"/>
          <p:cNvSpPr/>
          <p:nvPr/>
        </p:nvSpPr>
        <p:spPr>
          <a:xfrm>
            <a:off x="6217920" y="1051560"/>
            <a:ext cx="534924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3335">
            <a:solidFill>
              <a:srgbClr val="B8CC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91072" y="1124712"/>
            <a:ext cx="5202936" cy="384048"/>
          </a:xfrm>
          <a:prstGeom prst="roundRect">
            <a:avLst>
              <a:gd name="adj" fmla="val 14286"/>
            </a:avLst>
          </a:prstGeom>
          <a:solidFill>
            <a:srgbClr val="168A4A"/>
          </a:solidFill>
          <a:ln w="6350">
            <a:solidFill>
              <a:srgbClr val="168A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28232" y="1197864"/>
            <a:ext cx="4928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ROE matters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6382512" y="1673352"/>
            <a:ext cx="5020056" cy="43982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Prevents accidental harm to production services.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Protects students, staff and the institution.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Makes testing auditable and defensible.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Turns vague permission into operational boundaries.</a:t>
            </a:r>
            <a:endParaRPr lang="en-US" sz="2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E"/>
          </a:solidFill>
          <a:ln w="12700">
            <a:solidFill>
              <a:srgbClr val="F7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CCB"/>
          </a:solidFill>
          <a:ln w="12700">
            <a:solidFill>
              <a:srgbClr val="0F5CCB"/>
            </a:solidFill>
            <a:prstDash val="solid"/>
          </a:ln>
        </p:spPr>
      </p:sp>
      <p:pic>
        <p:nvPicPr>
          <p:cNvPr id="4" name="Image 0" descr="/mnt/data/mulungushi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19456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Defining scope clearly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960120" y="786384"/>
            <a:ext cx="10835640" cy="0"/>
          </a:xfrm>
          <a:prstGeom prst="line">
            <a:avLst/>
          </a:prstGeom>
          <a:noFill/>
          <a:ln w="12700">
            <a:solidFill>
              <a:srgbClr val="B8CC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8890">
            <a:solidFill>
              <a:srgbClr val="B8CC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651052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ICS 441 • Advanced Cybersecurity and Ethical Hacking • Unit 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92840" y="651052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40080" y="1051560"/>
            <a:ext cx="534924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3335">
            <a:solidFill>
              <a:srgbClr val="B8CC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13232" y="1124712"/>
            <a:ext cx="5202936" cy="384048"/>
          </a:xfrm>
          <a:prstGeom prst="roundRect">
            <a:avLst>
              <a:gd name="adj" fmla="val 14286"/>
            </a:avLst>
          </a:prstGeom>
          <a:solidFill>
            <a:srgbClr val="0F5CCB"/>
          </a:solidFill>
          <a:ln w="6350">
            <a:solidFill>
              <a:srgbClr val="0F5CC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0392" y="1197864"/>
            <a:ext cx="4928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In-scope examples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804672" y="1673352"/>
            <a:ext cx="5020056" cy="43982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Named lab hosts, subnets, URLs and APIs.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Dedicated test accounts and sample data.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Approved cloud sandbox resources.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Specific time window and controlled test methods.</a:t>
            </a:r>
            <a:endParaRPr lang="en-US" sz="2050" dirty="0"/>
          </a:p>
        </p:txBody>
      </p:sp>
      <p:sp>
        <p:nvSpPr>
          <p:cNvPr id="14" name="Shape 11"/>
          <p:cNvSpPr/>
          <p:nvPr/>
        </p:nvSpPr>
        <p:spPr>
          <a:xfrm>
            <a:off x="6217920" y="1051560"/>
            <a:ext cx="534924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3335">
            <a:solidFill>
              <a:srgbClr val="B8CC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91072" y="1124712"/>
            <a:ext cx="5202936" cy="384048"/>
          </a:xfrm>
          <a:prstGeom prst="roundRect">
            <a:avLst>
              <a:gd name="adj" fmla="val 14286"/>
            </a:avLst>
          </a:prstGeom>
          <a:solidFill>
            <a:srgbClr val="168A4A"/>
          </a:solidFill>
          <a:ln w="6350">
            <a:solidFill>
              <a:srgbClr val="168A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28232" y="1197864"/>
            <a:ext cx="4928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Out-of-scope examples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6382512" y="1673352"/>
            <a:ext cx="5020056" cy="43982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databases and personal email.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DoS, destructive actions or social engineering unless approved.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Third-party systems not owned by the client.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Any asset not explicitly named in the ROE.</a:t>
            </a:r>
            <a:endParaRPr lang="en-US" sz="2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E"/>
          </a:solidFill>
          <a:ln w="12700">
            <a:solidFill>
              <a:srgbClr val="F7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CCB"/>
          </a:solidFill>
          <a:ln w="12700">
            <a:solidFill>
              <a:srgbClr val="0F5CCB"/>
            </a:solidFill>
            <a:prstDash val="solid"/>
          </a:ln>
        </p:spPr>
      </p:sp>
      <p:pic>
        <p:nvPicPr>
          <p:cNvPr id="4" name="Image 0" descr="/mnt/data/mulungushi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19456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Written consent before testing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960120" y="786384"/>
            <a:ext cx="10835640" cy="0"/>
          </a:xfrm>
          <a:prstGeom prst="line">
            <a:avLst/>
          </a:prstGeom>
          <a:noFill/>
          <a:ln w="12700">
            <a:solidFill>
              <a:srgbClr val="B8CC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8890">
            <a:solidFill>
              <a:srgbClr val="B8CC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651052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ICS 441 • Advanced Cybersecurity and Ethical Hacking • Unit 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92840" y="651052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85800" y="1051560"/>
            <a:ext cx="658368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3335">
            <a:solidFill>
              <a:srgbClr val="B8CC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58952" y="1124712"/>
            <a:ext cx="6437376" cy="384048"/>
          </a:xfrm>
          <a:prstGeom prst="roundRect">
            <a:avLst>
              <a:gd name="adj" fmla="val 14286"/>
            </a:avLst>
          </a:prstGeom>
          <a:solidFill>
            <a:srgbClr val="0F5CCB"/>
          </a:solidFill>
          <a:ln w="6350">
            <a:solidFill>
              <a:srgbClr val="0F5CC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1197864"/>
            <a:ext cx="6163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consent must include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850392" y="1673352"/>
            <a:ext cx="6254496" cy="43982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Exact systems, accounts, URLs or networks approved for testing.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Approved dates, times, techniques and emergency stop conditions.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Contacts for escalation and rapid reporting of critical findings.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Data-handling, non-disclosure and evidence storage rules.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Signatures from the authorised owner or delegated authority.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7635240" y="201168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EEF7FF"/>
          </a:solidFill>
          <a:ln w="12700">
            <a:solidFill>
              <a:srgbClr val="B8C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18120" y="2157984"/>
            <a:ext cx="347472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F5C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consent with the test plan; update it when scope changes.</a:t>
            </a:r>
            <a:endParaRPr lang="en-US" sz="2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E"/>
          </a:solidFill>
          <a:ln w="12700">
            <a:solidFill>
              <a:srgbClr val="F7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CCB"/>
          </a:solidFill>
          <a:ln w="12700">
            <a:solidFill>
              <a:srgbClr val="0F5CCB"/>
            </a:solidFill>
            <a:prstDash val="solid"/>
          </a:ln>
        </p:spPr>
      </p:sp>
      <p:pic>
        <p:nvPicPr>
          <p:cNvPr id="4" name="Image 0" descr="/mnt/data/mulungushi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19456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Responsible disclosure of vulnerabilities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960120" y="786384"/>
            <a:ext cx="10835640" cy="0"/>
          </a:xfrm>
          <a:prstGeom prst="line">
            <a:avLst/>
          </a:prstGeom>
          <a:noFill/>
          <a:ln w="12700">
            <a:solidFill>
              <a:srgbClr val="B8CC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8890">
            <a:solidFill>
              <a:srgbClr val="B8CC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651052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ICS 441 • Advanced Cybersecurity and Ethical Hacking • Unit 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92840" y="651052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40080" y="1051560"/>
            <a:ext cx="534924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3335">
            <a:solidFill>
              <a:srgbClr val="B8CC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13232" y="1124712"/>
            <a:ext cx="5202936" cy="384048"/>
          </a:xfrm>
          <a:prstGeom prst="roundRect">
            <a:avLst>
              <a:gd name="adj" fmla="val 14286"/>
            </a:avLst>
          </a:prstGeom>
          <a:solidFill>
            <a:srgbClr val="0F5CCB"/>
          </a:solidFill>
          <a:ln w="6350">
            <a:solidFill>
              <a:srgbClr val="0F5CC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0392" y="1197864"/>
            <a:ext cx="4928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classroom process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804672" y="1673352"/>
            <a:ext cx="5020056" cy="43982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Report promptly with clear reproduction steps.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Include screenshots, timestamps and affected assets where needed.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Propose severity and feasible mitigation.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Coordinate retesting after the owner fixes the issue.</a:t>
            </a:r>
            <a:endParaRPr lang="en-US" sz="2050" dirty="0"/>
          </a:p>
        </p:txBody>
      </p:sp>
      <p:sp>
        <p:nvSpPr>
          <p:cNvPr id="14" name="Shape 11"/>
          <p:cNvSpPr/>
          <p:nvPr/>
        </p:nvSpPr>
        <p:spPr>
          <a:xfrm>
            <a:off x="6217920" y="1051560"/>
            <a:ext cx="534924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3335">
            <a:solidFill>
              <a:srgbClr val="B8CC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91072" y="1124712"/>
            <a:ext cx="5202936" cy="384048"/>
          </a:xfrm>
          <a:prstGeom prst="roundRect">
            <a:avLst>
              <a:gd name="adj" fmla="val 14286"/>
            </a:avLst>
          </a:prstGeom>
          <a:solidFill>
            <a:srgbClr val="168A4A"/>
          </a:solidFill>
          <a:ln w="6350">
            <a:solidFill>
              <a:srgbClr val="168A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28232" y="1197864"/>
            <a:ext cx="4928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expectations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6382512" y="1673352"/>
            <a:ext cx="5020056" cy="43982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 factual, neutral and respectful.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Avoid publishing details without approval.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 not include unnecessary exploit code.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Focus on helping the owner reduce risk.</a:t>
            </a:r>
            <a:endParaRPr lang="en-US" sz="2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510"/>
            <a:ext cx="12191695" cy="6858000"/>
          </a:xfrm>
          <a:prstGeom prst="rect">
            <a:avLst/>
          </a:prstGeom>
          <a:solidFill>
            <a:srgbClr val="F7FAFE"/>
          </a:solidFill>
          <a:ln w="12700">
            <a:solidFill>
              <a:srgbClr val="F7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CCB"/>
          </a:solidFill>
          <a:ln w="12700">
            <a:solidFill>
              <a:srgbClr val="0F5CCB"/>
            </a:solidFill>
            <a:prstDash val="solid"/>
          </a:ln>
        </p:spPr>
      </p:sp>
      <p:pic>
        <p:nvPicPr>
          <p:cNvPr id="4" name="Image 0" descr="/mnt/data/mulungushi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19456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Security (OPSEC) in the lab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960120" y="786384"/>
            <a:ext cx="10835640" cy="0"/>
          </a:xfrm>
          <a:prstGeom prst="line">
            <a:avLst/>
          </a:prstGeom>
          <a:noFill/>
          <a:ln w="12700">
            <a:solidFill>
              <a:srgbClr val="B8CC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8890">
            <a:solidFill>
              <a:srgbClr val="B8CC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651052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ICS 441 • Advanced Cybersecurity and Ethical Hacking • Unit 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92840" y="651052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40080" y="1051560"/>
            <a:ext cx="534924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3335">
            <a:solidFill>
              <a:srgbClr val="B8CC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13232" y="1124712"/>
            <a:ext cx="5202936" cy="384048"/>
          </a:xfrm>
          <a:prstGeom prst="roundRect">
            <a:avLst>
              <a:gd name="adj" fmla="val 14286"/>
            </a:avLst>
          </a:prstGeom>
          <a:solidFill>
            <a:srgbClr val="0F5CCB"/>
          </a:solidFill>
          <a:ln w="6350">
            <a:solidFill>
              <a:srgbClr val="0F5CC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0392" y="1197864"/>
            <a:ext cx="4928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and host hygiene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804672" y="1673352"/>
            <a:ext cx="5020056" cy="43982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 isolated networks such as host-only or NAT.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Create VM snapshots before risky activities.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Label test machines clearly.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Block unintended outbound traffic when required.</a:t>
            </a:r>
            <a:endParaRPr lang="en-US" sz="2050" dirty="0"/>
          </a:p>
        </p:txBody>
      </p:sp>
      <p:sp>
        <p:nvSpPr>
          <p:cNvPr id="14" name="Shape 11"/>
          <p:cNvSpPr/>
          <p:nvPr/>
        </p:nvSpPr>
        <p:spPr>
          <a:xfrm>
            <a:off x="6217920" y="1051560"/>
            <a:ext cx="534924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3335">
            <a:solidFill>
              <a:srgbClr val="B8CC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91072" y="1124712"/>
            <a:ext cx="5202936" cy="384048"/>
          </a:xfrm>
          <a:prstGeom prst="roundRect">
            <a:avLst>
              <a:gd name="adj" fmla="val 14286"/>
            </a:avLst>
          </a:prstGeom>
          <a:solidFill>
            <a:srgbClr val="168A4A"/>
          </a:solidFill>
          <a:ln w="6350">
            <a:solidFill>
              <a:srgbClr val="168A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28232" y="1197864"/>
            <a:ext cx="4928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 safety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6382512" y="1673352"/>
            <a:ext cx="5020056" cy="43982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 dedicated test accounts.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Never reuse personal or production credentials.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Rotate passwords after exercises</a:t>
            </a:r>
            <a:r>
              <a:rPr lang="en-US" sz="2050" dirty="0" smtClean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E"/>
          </a:solidFill>
          <a:ln w="12700">
            <a:solidFill>
              <a:srgbClr val="F7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CCB"/>
          </a:solidFill>
          <a:ln w="12700">
            <a:solidFill>
              <a:srgbClr val="0F5CCB"/>
            </a:solidFill>
            <a:prstDash val="solid"/>
          </a:ln>
        </p:spPr>
      </p:sp>
      <p:pic>
        <p:nvPicPr>
          <p:cNvPr id="4" name="Image 0" descr="/mnt/data/mulungushi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19456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 hygiene reminders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960120" y="786384"/>
            <a:ext cx="10835640" cy="0"/>
          </a:xfrm>
          <a:prstGeom prst="line">
            <a:avLst/>
          </a:prstGeom>
          <a:noFill/>
          <a:ln w="12700">
            <a:solidFill>
              <a:srgbClr val="B8CC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8890">
            <a:solidFill>
              <a:srgbClr val="B8CC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651052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ICS 441 • Advanced Cybersecurity and Ethical Hacking • Unit 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92840" y="651052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94360" y="960120"/>
            <a:ext cx="1101852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2700">
            <a:solidFill>
              <a:srgbClr val="B8CCE8"/>
            </a:solidFill>
            <a:prstDash val="solid"/>
          </a:ln>
        </p:spPr>
      </p:sp>
      <p:pic>
        <p:nvPicPr>
          <p:cNvPr id="11" name="Image 1" descr="/mnt/data/ics441_extract/ppt/media/image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3538" y="1115568"/>
            <a:ext cx="7800163" cy="43891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68680" y="5541264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visual from the attached lecture notes; use it as a classroom discussion prompt.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E"/>
          </a:solidFill>
          <a:ln w="12700">
            <a:solidFill>
              <a:srgbClr val="F7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CCB"/>
          </a:solidFill>
          <a:ln w="12700">
            <a:solidFill>
              <a:srgbClr val="0F5CCB"/>
            </a:solidFill>
            <a:prstDash val="solid"/>
          </a:ln>
        </p:spPr>
      </p:sp>
      <p:pic>
        <p:nvPicPr>
          <p:cNvPr id="4" name="Image 0" descr="/mnt/data/mulungushi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19456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handling and privacy of discovered data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960120" y="786384"/>
            <a:ext cx="10835640" cy="0"/>
          </a:xfrm>
          <a:prstGeom prst="line">
            <a:avLst/>
          </a:prstGeom>
          <a:noFill/>
          <a:ln w="12700">
            <a:solidFill>
              <a:srgbClr val="B8CC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8890">
            <a:solidFill>
              <a:srgbClr val="B8CC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651052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ICS 441 • Advanced Cybersecurity and Ethical Hacking • Unit 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92840" y="651052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40080" y="1051560"/>
            <a:ext cx="534924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3335">
            <a:solidFill>
              <a:srgbClr val="B8CC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13232" y="1124712"/>
            <a:ext cx="5202936" cy="384048"/>
          </a:xfrm>
          <a:prstGeom prst="roundRect">
            <a:avLst>
              <a:gd name="adj" fmla="val 14286"/>
            </a:avLst>
          </a:prstGeom>
          <a:solidFill>
            <a:srgbClr val="0F5CCB"/>
          </a:solidFill>
          <a:ln w="6350">
            <a:solidFill>
              <a:srgbClr val="0F5CC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0392" y="1197864"/>
            <a:ext cx="4928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minimisation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804672" y="1673352"/>
            <a:ext cx="5020056" cy="43982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Collect only what is necessary to prove the finding.</a:t>
            </a:r>
            <a:endParaRPr lang="en-US" sz="2050" dirty="0"/>
          </a:p>
          <a:p>
            <a:pPr marL="0" indent="0">
              <a:buNone/>
            </a:pPr>
            <a:r>
              <a:rPr lang="en-US" sz="2050" dirty="0" smtClean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bulk downloads of sensitive data.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Stop and escalate if unexpected personal data appears.</a:t>
            </a:r>
            <a:endParaRPr lang="en-US" sz="2050" dirty="0"/>
          </a:p>
        </p:txBody>
      </p:sp>
      <p:sp>
        <p:nvSpPr>
          <p:cNvPr id="14" name="Shape 11"/>
          <p:cNvSpPr/>
          <p:nvPr/>
        </p:nvSpPr>
        <p:spPr>
          <a:xfrm>
            <a:off x="6217920" y="1051560"/>
            <a:ext cx="534924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3335">
            <a:solidFill>
              <a:srgbClr val="B8CC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91072" y="1124712"/>
            <a:ext cx="5202936" cy="384048"/>
          </a:xfrm>
          <a:prstGeom prst="roundRect">
            <a:avLst>
              <a:gd name="adj" fmla="val 14286"/>
            </a:avLst>
          </a:prstGeom>
          <a:solidFill>
            <a:srgbClr val="168A4A"/>
          </a:solidFill>
          <a:ln w="6350">
            <a:solidFill>
              <a:srgbClr val="168A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28232" y="1197864"/>
            <a:ext cx="4928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protection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6382512" y="1673352"/>
            <a:ext cx="5020056" cy="43982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Classify evidence by sensitivity.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Redact names, IDs, passwords and tokens.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Encrypt evidence at rest.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Restrict access using least privilege.</a:t>
            </a:r>
            <a:endParaRPr lang="en-US" sz="2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E"/>
          </a:solidFill>
          <a:ln w="12700">
            <a:solidFill>
              <a:srgbClr val="F7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CCB"/>
          </a:solidFill>
          <a:ln w="12700">
            <a:solidFill>
              <a:srgbClr val="0F5CCB"/>
            </a:solidFill>
            <a:prstDash val="solid"/>
          </a:ln>
        </p:spPr>
      </p:sp>
      <p:pic>
        <p:nvPicPr>
          <p:cNvPr id="4" name="Image 0" descr="/mnt/data/mulungushi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19456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management and audit trail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960120" y="786384"/>
            <a:ext cx="10835640" cy="0"/>
          </a:xfrm>
          <a:prstGeom prst="line">
            <a:avLst/>
          </a:prstGeom>
          <a:noFill/>
          <a:ln w="12700">
            <a:solidFill>
              <a:srgbClr val="B8CC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8890">
            <a:solidFill>
              <a:srgbClr val="B8CC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651052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ICS 441 • Advanced Cybersecurity and Ethical Hacking • Unit 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92840" y="651052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85800" y="1051560"/>
            <a:ext cx="658368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3335">
            <a:solidFill>
              <a:srgbClr val="B8CC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58952" y="1124712"/>
            <a:ext cx="6437376" cy="384048"/>
          </a:xfrm>
          <a:prstGeom prst="roundRect">
            <a:avLst>
              <a:gd name="adj" fmla="val 14286"/>
            </a:avLst>
          </a:prstGeom>
          <a:solidFill>
            <a:srgbClr val="0F5CCB"/>
          </a:solidFill>
          <a:ln w="6350">
            <a:solidFill>
              <a:srgbClr val="0F5CC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1197864"/>
            <a:ext cx="6163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evidence practices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850392" y="1673352"/>
            <a:ext cx="6254496" cy="43982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Record timestamps, commands, hashes, source IPs and observed results.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 screenshots only when they add clarity and crop them safely.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Caption screenshots so they match log lines or test steps.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Store evidence in approved locations, not personal cloud-sync folders.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Define retention and secure disposal rules in the engagement plan.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7635240" y="201168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EEF7FF"/>
          </a:solidFill>
          <a:ln w="12700">
            <a:solidFill>
              <a:srgbClr val="B8C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18120" y="2157984"/>
            <a:ext cx="347472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F5C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should be accurate, minimal, protected and traceable.</a:t>
            </a:r>
            <a:endParaRPr lang="en-US" sz="2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E"/>
          </a:solidFill>
          <a:ln w="12700">
            <a:solidFill>
              <a:srgbClr val="F7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CCB"/>
          </a:solidFill>
          <a:ln w="12700">
            <a:solidFill>
              <a:srgbClr val="0F5CCB"/>
            </a:solidFill>
            <a:prstDash val="solid"/>
          </a:ln>
        </p:spPr>
      </p:sp>
      <p:pic>
        <p:nvPicPr>
          <p:cNvPr id="4" name="Image 0" descr="/mnt/data/mulungushi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19456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of custody for sensitive evidence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960120" y="786384"/>
            <a:ext cx="10835640" cy="0"/>
          </a:xfrm>
          <a:prstGeom prst="line">
            <a:avLst/>
          </a:prstGeom>
          <a:noFill/>
          <a:ln w="12700">
            <a:solidFill>
              <a:srgbClr val="B8CC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8890">
            <a:solidFill>
              <a:srgbClr val="B8CC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651052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ICS 441 • Advanced Cybersecurity and Ethical Hacking • Unit 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92840" y="651052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85800" y="98755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5C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Protecting trust in evidence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594360" y="1847088"/>
            <a:ext cx="1627632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4605">
            <a:solidFill>
              <a:srgbClr val="0F5CC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7512" y="1947672"/>
            <a:ext cx="310896" cy="265176"/>
          </a:xfrm>
          <a:prstGeom prst="rect">
            <a:avLst/>
          </a:prstGeom>
          <a:solidFill>
            <a:srgbClr val="0F5CC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40664" y="2258568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676656" y="2980944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3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minimum proof.</a:t>
            </a:r>
            <a:endParaRPr lang="en-US" sz="1330" dirty="0"/>
          </a:p>
        </p:txBody>
      </p:sp>
      <p:sp>
        <p:nvSpPr>
          <p:cNvPr id="15" name="Shape 12"/>
          <p:cNvSpPr/>
          <p:nvPr/>
        </p:nvSpPr>
        <p:spPr>
          <a:xfrm>
            <a:off x="2240280" y="2377440"/>
            <a:ext cx="118872" cy="0"/>
          </a:xfrm>
          <a:prstGeom prst="line">
            <a:avLst/>
          </a:prstGeom>
          <a:noFill/>
          <a:ln w="25400">
            <a:solidFill>
              <a:srgbClr val="0F5CCB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2377440" y="1847088"/>
            <a:ext cx="1627632" cy="987552"/>
          </a:xfrm>
          <a:prstGeom prst="roundRect">
            <a:avLst>
              <a:gd name="adj" fmla="val 7407"/>
            </a:avLst>
          </a:prstGeom>
          <a:solidFill>
            <a:srgbClr val="EAF3FF"/>
          </a:solidFill>
          <a:ln w="14605">
            <a:solidFill>
              <a:srgbClr val="0F5CC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450592" y="1947672"/>
            <a:ext cx="310896" cy="265176"/>
          </a:xfrm>
          <a:prstGeom prst="rect">
            <a:avLst/>
          </a:prstGeom>
          <a:solidFill>
            <a:srgbClr val="0F5CC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523744" y="2258568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2459736" y="2980944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3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Asset, source and timestamp.</a:t>
            </a:r>
            <a:endParaRPr lang="en-US" sz="1330" dirty="0"/>
          </a:p>
        </p:txBody>
      </p:sp>
      <p:sp>
        <p:nvSpPr>
          <p:cNvPr id="20" name="Shape 17"/>
          <p:cNvSpPr/>
          <p:nvPr/>
        </p:nvSpPr>
        <p:spPr>
          <a:xfrm>
            <a:off x="4023360" y="2377440"/>
            <a:ext cx="118872" cy="0"/>
          </a:xfrm>
          <a:prstGeom prst="line">
            <a:avLst/>
          </a:prstGeom>
          <a:noFill/>
          <a:ln w="25400">
            <a:solidFill>
              <a:srgbClr val="0F5CCB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4160520" y="1847088"/>
            <a:ext cx="1627632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4605">
            <a:solidFill>
              <a:srgbClr val="0F5CC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233672" y="1947672"/>
            <a:ext cx="310896" cy="265176"/>
          </a:xfrm>
          <a:prstGeom prst="rect">
            <a:avLst/>
          </a:prstGeom>
          <a:solidFill>
            <a:srgbClr val="0F5CC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306824" y="2258568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4242816" y="2980944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3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 and restrict access.</a:t>
            </a:r>
            <a:endParaRPr lang="en-US" sz="1330" dirty="0"/>
          </a:p>
        </p:txBody>
      </p:sp>
      <p:sp>
        <p:nvSpPr>
          <p:cNvPr id="25" name="Shape 22"/>
          <p:cNvSpPr/>
          <p:nvPr/>
        </p:nvSpPr>
        <p:spPr>
          <a:xfrm>
            <a:off x="5806440" y="2377440"/>
            <a:ext cx="118872" cy="0"/>
          </a:xfrm>
          <a:prstGeom prst="line">
            <a:avLst/>
          </a:prstGeom>
          <a:noFill/>
          <a:ln w="25400">
            <a:solidFill>
              <a:srgbClr val="0F5CCB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5943600" y="1847088"/>
            <a:ext cx="1627632" cy="987552"/>
          </a:xfrm>
          <a:prstGeom prst="roundRect">
            <a:avLst>
              <a:gd name="adj" fmla="val 7407"/>
            </a:avLst>
          </a:prstGeom>
          <a:solidFill>
            <a:srgbClr val="EAF3FF"/>
          </a:solidFill>
          <a:ln w="14605">
            <a:solidFill>
              <a:srgbClr val="0F5CC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016752" y="1947672"/>
            <a:ext cx="310896" cy="265176"/>
          </a:xfrm>
          <a:prstGeom prst="rect">
            <a:avLst/>
          </a:prstGeom>
          <a:solidFill>
            <a:srgbClr val="0F5CC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089904" y="2258568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6025896" y="2980944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3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who received it.</a:t>
            </a:r>
            <a:endParaRPr lang="en-US" sz="1330" dirty="0"/>
          </a:p>
        </p:txBody>
      </p:sp>
      <p:sp>
        <p:nvSpPr>
          <p:cNvPr id="30" name="Shape 27"/>
          <p:cNvSpPr/>
          <p:nvPr/>
        </p:nvSpPr>
        <p:spPr>
          <a:xfrm>
            <a:off x="7589520" y="2377440"/>
            <a:ext cx="118872" cy="0"/>
          </a:xfrm>
          <a:prstGeom prst="line">
            <a:avLst/>
          </a:prstGeom>
          <a:noFill/>
          <a:ln w="25400">
            <a:solidFill>
              <a:srgbClr val="0F5CCB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7726680" y="1847088"/>
            <a:ext cx="1627632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4605">
            <a:solidFill>
              <a:srgbClr val="0F5CC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799832" y="1947672"/>
            <a:ext cx="310896" cy="265176"/>
          </a:xfrm>
          <a:prstGeom prst="rect">
            <a:avLst/>
          </a:prstGeom>
          <a:solidFill>
            <a:srgbClr val="0F5CC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7872984" y="2258568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450" dirty="0"/>
          </a:p>
        </p:txBody>
      </p:sp>
      <p:sp>
        <p:nvSpPr>
          <p:cNvPr id="34" name="Text 31"/>
          <p:cNvSpPr/>
          <p:nvPr/>
        </p:nvSpPr>
        <p:spPr>
          <a:xfrm>
            <a:off x="7808976" y="2980944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3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for remediation.</a:t>
            </a:r>
            <a:endParaRPr lang="en-US" sz="1330" dirty="0"/>
          </a:p>
        </p:txBody>
      </p:sp>
      <p:sp>
        <p:nvSpPr>
          <p:cNvPr id="35" name="Shape 32"/>
          <p:cNvSpPr/>
          <p:nvPr/>
        </p:nvSpPr>
        <p:spPr>
          <a:xfrm>
            <a:off x="9372600" y="2377440"/>
            <a:ext cx="118872" cy="0"/>
          </a:xfrm>
          <a:prstGeom prst="line">
            <a:avLst/>
          </a:prstGeom>
          <a:noFill/>
          <a:ln w="25400">
            <a:solidFill>
              <a:srgbClr val="0F5CCB"/>
            </a:solidFill>
            <a:prstDash val="solid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9509760" y="1847088"/>
            <a:ext cx="1627632" cy="987552"/>
          </a:xfrm>
          <a:prstGeom prst="roundRect">
            <a:avLst>
              <a:gd name="adj" fmla="val 7407"/>
            </a:avLst>
          </a:prstGeom>
          <a:solidFill>
            <a:srgbClr val="EAF3FF"/>
          </a:solidFill>
          <a:ln w="14605">
            <a:solidFill>
              <a:srgbClr val="0F5CC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582912" y="1947672"/>
            <a:ext cx="310896" cy="265176"/>
          </a:xfrm>
          <a:prstGeom prst="rect">
            <a:avLst/>
          </a:prstGeom>
          <a:solidFill>
            <a:srgbClr val="0F5CC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9656064" y="2258568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Dispose</a:t>
            </a:r>
            <a:endParaRPr lang="en-US" sz="1450" dirty="0"/>
          </a:p>
        </p:txBody>
      </p:sp>
      <p:sp>
        <p:nvSpPr>
          <p:cNvPr id="39" name="Text 36"/>
          <p:cNvSpPr/>
          <p:nvPr/>
        </p:nvSpPr>
        <p:spPr>
          <a:xfrm>
            <a:off x="9592056" y="2980944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3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Securely delete after sign-off.</a:t>
            </a:r>
            <a:endParaRPr lang="en-US" sz="1330" dirty="0"/>
          </a:p>
        </p:txBody>
      </p:sp>
      <p:sp>
        <p:nvSpPr>
          <p:cNvPr id="40" name="Shape 37"/>
          <p:cNvSpPr/>
          <p:nvPr/>
        </p:nvSpPr>
        <p:spPr>
          <a:xfrm>
            <a:off x="1005840" y="5257800"/>
            <a:ext cx="10195560" cy="685800"/>
          </a:xfrm>
          <a:prstGeom prst="roundRect">
            <a:avLst>
              <a:gd name="adj" fmla="val 10667"/>
            </a:avLst>
          </a:prstGeom>
          <a:solidFill>
            <a:srgbClr val="EEF7FF"/>
          </a:solidFill>
          <a:ln w="12700">
            <a:solidFill>
              <a:srgbClr val="B8CCE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188720" y="5404104"/>
            <a:ext cx="9829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F5C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step must remain authorised, scoped, logged and reversible.</a:t>
            </a:r>
            <a:endParaRPr lang="en-US" sz="2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E"/>
          </a:solidFill>
          <a:ln w="12700">
            <a:solidFill>
              <a:srgbClr val="F7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CCB"/>
          </a:solidFill>
          <a:ln w="12700">
            <a:solidFill>
              <a:srgbClr val="0F5CCB"/>
            </a:solidFill>
            <a:prstDash val="solid"/>
          </a:ln>
        </p:spPr>
      </p:sp>
      <p:pic>
        <p:nvPicPr>
          <p:cNvPr id="4" name="Image 0" descr="/mnt/data/mulungushi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19456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modeling and test planning overview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960120" y="786384"/>
            <a:ext cx="10835640" cy="0"/>
          </a:xfrm>
          <a:prstGeom prst="line">
            <a:avLst/>
          </a:prstGeom>
          <a:noFill/>
          <a:ln w="12700">
            <a:solidFill>
              <a:srgbClr val="B8CC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8890">
            <a:solidFill>
              <a:srgbClr val="B8CC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651052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ICS 441 • Advanced Cybersecurity and Ethical Hacking • Unit 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92840" y="651052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94360" y="960120"/>
            <a:ext cx="1101852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2700">
            <a:solidFill>
              <a:srgbClr val="B8CCE8"/>
            </a:solidFill>
            <a:prstDash val="solid"/>
          </a:ln>
        </p:spPr>
      </p:sp>
      <p:pic>
        <p:nvPicPr>
          <p:cNvPr id="11" name="Image 1" descr="/mnt/data/a_clean_infographic_on_a_white_light_background_w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4253" y="1115568"/>
            <a:ext cx="7798734" cy="43891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68680" y="5541264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assets, model the attack surface, select controls, create tests and track risk.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E"/>
          </a:solidFill>
          <a:ln w="12700">
            <a:solidFill>
              <a:srgbClr val="F7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CCB"/>
          </a:solidFill>
          <a:ln w="12700">
            <a:solidFill>
              <a:srgbClr val="0F5CCB"/>
            </a:solidFill>
            <a:prstDash val="solid"/>
          </a:ln>
        </p:spPr>
      </p:sp>
      <p:pic>
        <p:nvPicPr>
          <p:cNvPr id="4" name="Image 0" descr="/mnt/data/mulungushi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19456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modeling: definition and purpose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960120" y="786384"/>
            <a:ext cx="10835640" cy="0"/>
          </a:xfrm>
          <a:prstGeom prst="line">
            <a:avLst/>
          </a:prstGeom>
          <a:noFill/>
          <a:ln w="12700">
            <a:solidFill>
              <a:srgbClr val="B8CC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8890">
            <a:solidFill>
              <a:srgbClr val="B8CC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651052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ICS 441 • Advanced Cybersecurity and Ethical Hacking • Unit 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92840" y="651052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85800" y="1051560"/>
            <a:ext cx="658368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3335">
            <a:solidFill>
              <a:srgbClr val="B8CC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58952" y="1124712"/>
            <a:ext cx="6437376" cy="384048"/>
          </a:xfrm>
          <a:prstGeom prst="roundRect">
            <a:avLst>
              <a:gd name="adj" fmla="val 14286"/>
            </a:avLst>
          </a:prstGeom>
          <a:solidFill>
            <a:srgbClr val="0F5CCB"/>
          </a:solidFill>
          <a:ln w="6350">
            <a:solidFill>
              <a:srgbClr val="0F5CC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1197864"/>
            <a:ext cx="6163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threat modeling?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850392" y="1673352"/>
            <a:ext cx="6254496" cy="43982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 structured process for identifying, quantifying and addressing security risks.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It asks “what can go wrong?” before attackers or failures prove it in production.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It helps teams understand the system attack surface and prioritize security effort.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It is proactive: design weaknesses are cheaper to fix before implementation.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It turns security thinking into diagrams, hypotheses, tests and controls.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7635240" y="201168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EEF7FF"/>
          </a:solidFill>
          <a:ln w="12700">
            <a:solidFill>
              <a:srgbClr val="B8C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18120" y="2157984"/>
            <a:ext cx="347472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F5C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modeling moves security left.</a:t>
            </a:r>
            <a:endParaRPr lang="en-US" sz="2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E"/>
          </a:solidFill>
          <a:ln w="12700">
            <a:solidFill>
              <a:srgbClr val="F7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CCB"/>
          </a:solidFill>
          <a:ln w="12700">
            <a:solidFill>
              <a:srgbClr val="0F5CCB"/>
            </a:solidFill>
            <a:prstDash val="solid"/>
          </a:ln>
        </p:spPr>
      </p:sp>
      <p:pic>
        <p:nvPicPr>
          <p:cNvPr id="4" name="Image 0" descr="/mnt/data/mulungushi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19456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of threat modeling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960120" y="786384"/>
            <a:ext cx="10835640" cy="0"/>
          </a:xfrm>
          <a:prstGeom prst="line">
            <a:avLst/>
          </a:prstGeom>
          <a:noFill/>
          <a:ln w="12700">
            <a:solidFill>
              <a:srgbClr val="B8CC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8890">
            <a:solidFill>
              <a:srgbClr val="B8CC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651052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ICS 441 • Advanced Cybersecurity and Ethical Hacking • Unit 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92840" y="651052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40080" y="1051560"/>
            <a:ext cx="534924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3335">
            <a:solidFill>
              <a:srgbClr val="B8CC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13232" y="1124712"/>
            <a:ext cx="5202936" cy="384048"/>
          </a:xfrm>
          <a:prstGeom prst="roundRect">
            <a:avLst>
              <a:gd name="adj" fmla="val 14286"/>
            </a:avLst>
          </a:prstGeom>
          <a:solidFill>
            <a:srgbClr val="0F5CCB"/>
          </a:solidFill>
          <a:ln w="6350">
            <a:solidFill>
              <a:srgbClr val="0F5CC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0392" y="1197864"/>
            <a:ext cx="4928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security teams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804672" y="1673352"/>
            <a:ext cx="5020056" cy="43982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Finds design flaws early in the SDLC.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Provides systematic coverage instead of random testing.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Reduces the chance of missing critical threats.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Generates meaningful security test cases.</a:t>
            </a:r>
            <a:endParaRPr lang="en-US" sz="2050" dirty="0"/>
          </a:p>
        </p:txBody>
      </p:sp>
      <p:sp>
        <p:nvSpPr>
          <p:cNvPr id="14" name="Shape 11"/>
          <p:cNvSpPr/>
          <p:nvPr/>
        </p:nvSpPr>
        <p:spPr>
          <a:xfrm>
            <a:off x="6217920" y="1051560"/>
            <a:ext cx="534924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3335">
            <a:solidFill>
              <a:srgbClr val="B8CC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91072" y="1124712"/>
            <a:ext cx="5202936" cy="384048"/>
          </a:xfrm>
          <a:prstGeom prst="roundRect">
            <a:avLst>
              <a:gd name="adj" fmla="val 14286"/>
            </a:avLst>
          </a:prstGeom>
          <a:solidFill>
            <a:srgbClr val="168A4A"/>
          </a:solidFill>
          <a:ln w="6350">
            <a:solidFill>
              <a:srgbClr val="168A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28232" y="1197864"/>
            <a:ext cx="4928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project teams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6382512" y="1673352"/>
            <a:ext cx="5020056" cy="43982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Improves communication among developers, architects and testers.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Creates shared understanding of security requirements.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Supports prioritization when time and budget are limited.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Makes remediation easier to justify.</a:t>
            </a:r>
            <a:endParaRPr lang="en-US" sz="2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E"/>
          </a:solidFill>
          <a:ln w="12700">
            <a:solidFill>
              <a:srgbClr val="F7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CCB"/>
          </a:solidFill>
          <a:ln w="12700">
            <a:solidFill>
              <a:srgbClr val="0F5CCB"/>
            </a:solidFill>
            <a:prstDash val="solid"/>
          </a:ln>
        </p:spPr>
      </p:sp>
      <p:pic>
        <p:nvPicPr>
          <p:cNvPr id="4" name="Image 0" descr="/mnt/data/mulungushi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19456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modeling frameworks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960120" y="786384"/>
            <a:ext cx="10835640" cy="0"/>
          </a:xfrm>
          <a:prstGeom prst="line">
            <a:avLst/>
          </a:prstGeom>
          <a:noFill/>
          <a:ln w="12700">
            <a:solidFill>
              <a:srgbClr val="B8CC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8890">
            <a:solidFill>
              <a:srgbClr val="B8CC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651052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ICS 441 • Advanced Cybersecurity and Ethical Hacking • Unit 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92840" y="651052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02920" y="1078992"/>
            <a:ext cx="3675888" cy="5166360"/>
          </a:xfrm>
          <a:prstGeom prst="roundRect">
            <a:avLst>
              <a:gd name="adj" fmla="val 1990"/>
            </a:avLst>
          </a:prstGeom>
          <a:solidFill>
            <a:srgbClr val="FFFFFF"/>
          </a:solidFill>
          <a:ln w="13335">
            <a:solidFill>
              <a:srgbClr val="B8CC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76072" y="1152144"/>
            <a:ext cx="3529584" cy="384048"/>
          </a:xfrm>
          <a:prstGeom prst="roundRect">
            <a:avLst>
              <a:gd name="adj" fmla="val 14286"/>
            </a:avLst>
          </a:prstGeom>
          <a:solidFill>
            <a:srgbClr val="0F5CCB"/>
          </a:solidFill>
          <a:ln w="6350">
            <a:solidFill>
              <a:srgbClr val="0F5CC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3232" y="1225296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STRIDE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667512" y="1700784"/>
            <a:ext cx="3346704" cy="43982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Spoofing, Tampering, Repudiation.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Information Disclosure, Denial of Service.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Elevation of Privilege.</a:t>
            </a:r>
            <a:endParaRPr lang="en-US" sz="1850" dirty="0"/>
          </a:p>
        </p:txBody>
      </p:sp>
      <p:sp>
        <p:nvSpPr>
          <p:cNvPr id="14" name="Shape 11"/>
          <p:cNvSpPr/>
          <p:nvPr/>
        </p:nvSpPr>
        <p:spPr>
          <a:xfrm>
            <a:off x="4389120" y="1078992"/>
            <a:ext cx="3675888" cy="5166360"/>
          </a:xfrm>
          <a:prstGeom prst="roundRect">
            <a:avLst>
              <a:gd name="adj" fmla="val 1990"/>
            </a:avLst>
          </a:prstGeom>
          <a:solidFill>
            <a:srgbClr val="FFFFFF"/>
          </a:solidFill>
          <a:ln w="13335">
            <a:solidFill>
              <a:srgbClr val="B8CC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462272" y="1152144"/>
            <a:ext cx="3529584" cy="384048"/>
          </a:xfrm>
          <a:prstGeom prst="roundRect">
            <a:avLst>
              <a:gd name="adj" fmla="val 14286"/>
            </a:avLst>
          </a:prstGeom>
          <a:solidFill>
            <a:srgbClr val="168A4A"/>
          </a:solidFill>
          <a:ln w="6350">
            <a:solidFill>
              <a:srgbClr val="168A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99432" y="1225296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PASTA and DREAD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4553712" y="1700784"/>
            <a:ext cx="3346704" cy="43982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PASTA is risk-centric and attack-simulation oriented.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DREAD estimates damage, reproducibility, exploitability, affected users and discoverability.</a:t>
            </a:r>
            <a:endParaRPr lang="en-US" sz="1850" dirty="0"/>
          </a:p>
        </p:txBody>
      </p:sp>
      <p:sp>
        <p:nvSpPr>
          <p:cNvPr id="18" name="Shape 15"/>
          <p:cNvSpPr/>
          <p:nvPr/>
        </p:nvSpPr>
        <p:spPr>
          <a:xfrm>
            <a:off x="8275320" y="1078992"/>
            <a:ext cx="3675888" cy="5166360"/>
          </a:xfrm>
          <a:prstGeom prst="roundRect">
            <a:avLst>
              <a:gd name="adj" fmla="val 1990"/>
            </a:avLst>
          </a:prstGeom>
          <a:solidFill>
            <a:srgbClr val="FFFFFF"/>
          </a:solidFill>
          <a:ln w="13335">
            <a:solidFill>
              <a:srgbClr val="B8CC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48472" y="1152144"/>
            <a:ext cx="3529584" cy="384048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485632" y="1225296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Threat Modeling Guide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8439912" y="1700784"/>
            <a:ext cx="3346704" cy="43982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Practical guidance for application threat modeling.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Useful for turning design diagrams into security questions.</a:t>
            </a:r>
            <a:endParaRPr lang="en-US" sz="1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E"/>
          </a:solidFill>
          <a:ln w="12700">
            <a:solidFill>
              <a:srgbClr val="F7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CCB"/>
          </a:solidFill>
          <a:ln w="12700">
            <a:solidFill>
              <a:srgbClr val="0F5CCB"/>
            </a:solidFill>
            <a:prstDash val="solid"/>
          </a:ln>
        </p:spPr>
      </p:sp>
      <p:pic>
        <p:nvPicPr>
          <p:cNvPr id="4" name="Image 0" descr="/mnt/data/mulungushi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19456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test planning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960120" y="786384"/>
            <a:ext cx="10835640" cy="0"/>
          </a:xfrm>
          <a:prstGeom prst="line">
            <a:avLst/>
          </a:prstGeom>
          <a:noFill/>
          <a:ln w="12700">
            <a:solidFill>
              <a:srgbClr val="B8CC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8890">
            <a:solidFill>
              <a:srgbClr val="B8CC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651052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ICS 441 • Advanced Cybersecurity and Ethical Hacking • Unit 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92840" y="651052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40080" y="1051560"/>
            <a:ext cx="534924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3335">
            <a:solidFill>
              <a:srgbClr val="B8CC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13232" y="1124712"/>
            <a:ext cx="5202936" cy="384048"/>
          </a:xfrm>
          <a:prstGeom prst="roundRect">
            <a:avLst>
              <a:gd name="adj" fmla="val 14286"/>
            </a:avLst>
          </a:prstGeom>
          <a:solidFill>
            <a:srgbClr val="0F5CCB"/>
          </a:solidFill>
          <a:ln w="6350">
            <a:solidFill>
              <a:srgbClr val="0F5CC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0392" y="1197864"/>
            <a:ext cx="4928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security test plan?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804672" y="1673352"/>
            <a:ext cx="5020056" cy="43982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 document or strategy that defines scope, objectives, resources, schedule and methods.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It translates threat-model output into actionable test cases.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It states what evidence will prove whether a control works.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It defines safety controls before testing starts.</a:t>
            </a:r>
            <a:endParaRPr lang="en-US" sz="2050" dirty="0"/>
          </a:p>
        </p:txBody>
      </p:sp>
      <p:sp>
        <p:nvSpPr>
          <p:cNvPr id="14" name="Shape 11"/>
          <p:cNvSpPr/>
          <p:nvPr/>
        </p:nvSpPr>
        <p:spPr>
          <a:xfrm>
            <a:off x="6217920" y="1051560"/>
            <a:ext cx="534924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3335">
            <a:solidFill>
              <a:srgbClr val="B8CC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91072" y="1124712"/>
            <a:ext cx="5202936" cy="384048"/>
          </a:xfrm>
          <a:prstGeom prst="roundRect">
            <a:avLst>
              <a:gd name="adj" fmla="val 14286"/>
            </a:avLst>
          </a:prstGeom>
          <a:solidFill>
            <a:srgbClr val="168A4A"/>
          </a:solidFill>
          <a:ln w="6350">
            <a:solidFill>
              <a:srgbClr val="168A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28232" y="1197864"/>
            <a:ext cx="4928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approaches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6382512" y="1673352"/>
            <a:ext cx="5020056" cy="43982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SAST: analyze source code for vulnerabilities.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DAST: test a running application for vulnerabilities.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Penetration testing: simulate a controlled real-world attack.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Review and retest: confirm remediation effectiveness.</a:t>
            </a:r>
            <a:endParaRPr lang="en-US" sz="2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E"/>
          </a:solidFill>
          <a:ln w="12700">
            <a:solidFill>
              <a:srgbClr val="F7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CCB"/>
          </a:solidFill>
          <a:ln w="12700">
            <a:solidFill>
              <a:srgbClr val="0F5CCB"/>
            </a:solidFill>
            <a:prstDash val="solid"/>
          </a:ln>
        </p:spPr>
      </p:sp>
      <p:pic>
        <p:nvPicPr>
          <p:cNvPr id="4" name="Image 0" descr="/mnt/data/mulungushi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19456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crucial link: threats become test cases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960120" y="786384"/>
            <a:ext cx="10835640" cy="0"/>
          </a:xfrm>
          <a:prstGeom prst="line">
            <a:avLst/>
          </a:prstGeom>
          <a:noFill/>
          <a:ln w="12700">
            <a:solidFill>
              <a:srgbClr val="B8CC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8890">
            <a:solidFill>
              <a:srgbClr val="B8CC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651052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ICS 441 • Advanced Cybersecurity and Ethical Hacking • Unit 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92840" y="651052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85800" y="1051560"/>
            <a:ext cx="658368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3335">
            <a:solidFill>
              <a:srgbClr val="B8CC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58952" y="1124712"/>
            <a:ext cx="6437376" cy="384048"/>
          </a:xfrm>
          <a:prstGeom prst="roundRect">
            <a:avLst>
              <a:gd name="adj" fmla="val 14286"/>
            </a:avLst>
          </a:prstGeom>
          <a:solidFill>
            <a:srgbClr val="0F5CCB"/>
          </a:solidFill>
          <a:ln w="6350">
            <a:solidFill>
              <a:srgbClr val="0F5CC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1197864"/>
            <a:ext cx="6163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threat modeling informs testing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850392" y="1673352"/>
            <a:ext cx="6254496" cy="43982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primary threat-model output is a list of potential threats and attack vectors.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Each threat should become a safe, scoped and repeatable test case.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Each test case needs an objective, steps, expected evidence and success criteria.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Tests should map to defensive controls such as logs, alerts and access policies.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This makes assessment systematic rather than guesswork.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7635240" y="201168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EEF7FF"/>
          </a:solidFill>
          <a:ln w="12700">
            <a:solidFill>
              <a:srgbClr val="B8C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18120" y="2157984"/>
            <a:ext cx="347472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F5C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→ Test → Evidence → Mitigation → Retest</a:t>
            </a:r>
            <a:endParaRPr lang="en-US" sz="2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E"/>
          </a:solidFill>
          <a:ln w="12700">
            <a:solidFill>
              <a:srgbClr val="F7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CCB"/>
          </a:solidFill>
          <a:ln w="12700">
            <a:solidFill>
              <a:srgbClr val="0F5CCB"/>
            </a:solidFill>
            <a:prstDash val="solid"/>
          </a:ln>
        </p:spPr>
      </p:sp>
      <p:pic>
        <p:nvPicPr>
          <p:cNvPr id="4" name="Image 0" descr="/mnt/data/mulungushi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19456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Identifying key assets and crown jewels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960120" y="786384"/>
            <a:ext cx="10835640" cy="0"/>
          </a:xfrm>
          <a:prstGeom prst="line">
            <a:avLst/>
          </a:prstGeom>
          <a:noFill/>
          <a:ln w="12700">
            <a:solidFill>
              <a:srgbClr val="B8CC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8890">
            <a:solidFill>
              <a:srgbClr val="B8CC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651052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ICS 441 • Advanced Cybersecurity and Ethical Hacking • Unit 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92840" y="651052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40080" y="1051560"/>
            <a:ext cx="534924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3335">
            <a:solidFill>
              <a:srgbClr val="B8CC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13232" y="1124712"/>
            <a:ext cx="5202936" cy="384048"/>
          </a:xfrm>
          <a:prstGeom prst="roundRect">
            <a:avLst>
              <a:gd name="adj" fmla="val 14286"/>
            </a:avLst>
          </a:prstGeom>
          <a:solidFill>
            <a:srgbClr val="0F5CCB"/>
          </a:solidFill>
          <a:ln w="6350">
            <a:solidFill>
              <a:srgbClr val="0F5CC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0392" y="1197864"/>
            <a:ext cx="4928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Crown jewels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804672" y="1673352"/>
            <a:ext cx="5020056" cy="43982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Sensitive data such as student, financial and health records.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Critical services such as authentication, billing, payroll and registration.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Brand reputation, intellectual property, API keys and source code.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Business processes that must not fail.</a:t>
            </a:r>
            <a:endParaRPr lang="en-US" sz="2050" dirty="0"/>
          </a:p>
        </p:txBody>
      </p:sp>
      <p:sp>
        <p:nvSpPr>
          <p:cNvPr id="14" name="Shape 11"/>
          <p:cNvSpPr/>
          <p:nvPr/>
        </p:nvSpPr>
        <p:spPr>
          <a:xfrm>
            <a:off x="6217920" y="1051560"/>
            <a:ext cx="534924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3335">
            <a:solidFill>
              <a:srgbClr val="B8CC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91072" y="1124712"/>
            <a:ext cx="5202936" cy="384048"/>
          </a:xfrm>
          <a:prstGeom prst="roundRect">
            <a:avLst>
              <a:gd name="adj" fmla="val 14286"/>
            </a:avLst>
          </a:prstGeom>
          <a:solidFill>
            <a:srgbClr val="168A4A"/>
          </a:solidFill>
          <a:ln w="6350">
            <a:solidFill>
              <a:srgbClr val="168A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28232" y="1197864"/>
            <a:ext cx="4928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inventory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6382512" y="1673352"/>
            <a:ext cx="5020056" cy="43982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Web applications, APIs, endpoints and servers.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Active Directory, cloud resources, VMs and databases.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Third-party dependencies and integrations.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Public repositories, auth providers and payment services.</a:t>
            </a:r>
            <a:endParaRPr lang="en-US" sz="2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E"/>
          </a:solidFill>
          <a:ln w="12700">
            <a:solidFill>
              <a:srgbClr val="F7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CCB"/>
          </a:solidFill>
          <a:ln w="12700">
            <a:solidFill>
              <a:srgbClr val="0F5CCB"/>
            </a:solidFill>
            <a:prstDash val="solid"/>
          </a:ln>
        </p:spPr>
      </p:sp>
      <p:pic>
        <p:nvPicPr>
          <p:cNvPr id="4" name="Image 0" descr="/mnt/data/mulungushi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19456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surface analysis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960120" y="786384"/>
            <a:ext cx="10835640" cy="0"/>
          </a:xfrm>
          <a:prstGeom prst="line">
            <a:avLst/>
          </a:prstGeom>
          <a:noFill/>
          <a:ln w="12700">
            <a:solidFill>
              <a:srgbClr val="B8CC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8890">
            <a:solidFill>
              <a:srgbClr val="B8CC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651052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ICS 441 • Advanced Cybersecurity and Ethical Hacking • Unit 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92840" y="651052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40080" y="1051560"/>
            <a:ext cx="534924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3335">
            <a:solidFill>
              <a:srgbClr val="B8CC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13232" y="1124712"/>
            <a:ext cx="5202936" cy="384048"/>
          </a:xfrm>
          <a:prstGeom prst="roundRect">
            <a:avLst>
              <a:gd name="adj" fmla="val 14286"/>
            </a:avLst>
          </a:prstGeom>
          <a:solidFill>
            <a:srgbClr val="0F5CCB"/>
          </a:solidFill>
          <a:ln w="6350">
            <a:solidFill>
              <a:srgbClr val="0F5CC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0392" y="1197864"/>
            <a:ext cx="4928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attack surface?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804672" y="1673352"/>
            <a:ext cx="5020056" cy="43982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All possible points where an attacker could enter, influence or extract data.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Network interfaces, open ports and exposed services.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Web applications, APIs, mobile apps and user endpoints.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Cloud storage, human factors and third-party systems.</a:t>
            </a:r>
            <a:endParaRPr lang="en-US" sz="2050" dirty="0"/>
          </a:p>
        </p:txBody>
      </p:sp>
      <p:sp>
        <p:nvSpPr>
          <p:cNvPr id="14" name="Shape 11"/>
          <p:cNvSpPr/>
          <p:nvPr/>
        </p:nvSpPr>
        <p:spPr>
          <a:xfrm>
            <a:off x="6217920" y="1051560"/>
            <a:ext cx="534924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3335">
            <a:solidFill>
              <a:srgbClr val="B8CC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91072" y="1124712"/>
            <a:ext cx="5202936" cy="384048"/>
          </a:xfrm>
          <a:prstGeom prst="roundRect">
            <a:avLst>
              <a:gd name="adj" fmla="val 14286"/>
            </a:avLst>
          </a:prstGeom>
          <a:solidFill>
            <a:srgbClr val="168A4A"/>
          </a:solidFill>
          <a:ln w="6350">
            <a:solidFill>
              <a:srgbClr val="168A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28232" y="1197864"/>
            <a:ext cx="4928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points and exposures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6382512" y="1673352"/>
            <a:ext cx="5020056" cy="43982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Login and password reset forms.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File upload, admin panels and public buckets.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Default </a:t>
            </a:r>
            <a:r>
              <a:rPr lang="en-US" sz="2050" dirty="0" smtClean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credentials and </a:t>
            </a: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directory listing.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Misconfigured services and unnecessary open ports.</a:t>
            </a:r>
            <a:endParaRPr lang="en-US" sz="2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E"/>
          </a:solidFill>
          <a:ln w="12700">
            <a:solidFill>
              <a:srgbClr val="F7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CCB"/>
          </a:solidFill>
          <a:ln w="12700">
            <a:solidFill>
              <a:srgbClr val="0F5CCB"/>
            </a:solidFill>
            <a:prstDash val="solid"/>
          </a:ln>
        </p:spPr>
      </p:sp>
      <p:pic>
        <p:nvPicPr>
          <p:cNvPr id="4" name="Image 0" descr="/mnt/data/mulungushi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19456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MITRE ATTandCK in test planning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960120" y="786384"/>
            <a:ext cx="10835640" cy="0"/>
          </a:xfrm>
          <a:prstGeom prst="line">
            <a:avLst/>
          </a:prstGeom>
          <a:noFill/>
          <a:ln w="12700">
            <a:solidFill>
              <a:srgbClr val="B8CC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8890">
            <a:solidFill>
              <a:srgbClr val="B8CC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651052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ICS 441 • Advanced Cybersecurity and Ethical Hacking • Unit 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92840" y="651052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40080" y="1051560"/>
            <a:ext cx="534924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3335">
            <a:solidFill>
              <a:srgbClr val="B8CC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13232" y="1124712"/>
            <a:ext cx="5202936" cy="384048"/>
          </a:xfrm>
          <a:prstGeom prst="roundRect">
            <a:avLst>
              <a:gd name="adj" fmla="val 14286"/>
            </a:avLst>
          </a:prstGeom>
          <a:solidFill>
            <a:srgbClr val="0F5CCB"/>
          </a:solidFill>
          <a:ln w="6350">
            <a:solidFill>
              <a:srgbClr val="0F5CC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0392" y="1197864"/>
            <a:ext cx="4928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idea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804672" y="1673352"/>
            <a:ext cx="5020056" cy="43982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Tactics describe attacker goals such as initial access or exfiltration.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Techniques describe how attackers achieve those goals.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ATTandCK gives red and blue teams a shared language</a:t>
            </a:r>
            <a:r>
              <a:rPr lang="en-US" sz="2050" dirty="0" smtClean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50" dirty="0"/>
          </a:p>
        </p:txBody>
      </p:sp>
      <p:sp>
        <p:nvSpPr>
          <p:cNvPr id="14" name="Shape 11"/>
          <p:cNvSpPr/>
          <p:nvPr/>
        </p:nvSpPr>
        <p:spPr>
          <a:xfrm>
            <a:off x="6217920" y="1051560"/>
            <a:ext cx="534924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3335">
            <a:solidFill>
              <a:srgbClr val="B8CC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91072" y="1124712"/>
            <a:ext cx="5202936" cy="384048"/>
          </a:xfrm>
          <a:prstGeom prst="roundRect">
            <a:avLst>
              <a:gd name="adj" fmla="val 14286"/>
            </a:avLst>
          </a:prstGeom>
          <a:solidFill>
            <a:srgbClr val="168A4A"/>
          </a:solidFill>
          <a:ln w="6350">
            <a:solidFill>
              <a:srgbClr val="168A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28232" y="1197864"/>
            <a:ext cx="4928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students use it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6382512" y="1673352"/>
            <a:ext cx="5020056" cy="43982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Tag each hypothesis with a tactic or technique.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List expected HTTP, authentication, database or cloud logs.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Identify detection gaps and control weaknesses.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Prioritize tests tied to weak or missing detections.</a:t>
            </a:r>
            <a:endParaRPr lang="en-US" sz="2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E"/>
          </a:solidFill>
          <a:ln w="12700">
            <a:solidFill>
              <a:srgbClr val="F7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CCB"/>
          </a:solidFill>
          <a:ln w="12700">
            <a:solidFill>
              <a:srgbClr val="0F5CCB"/>
            </a:solidFill>
            <a:prstDash val="solid"/>
          </a:ln>
        </p:spPr>
      </p:sp>
      <p:pic>
        <p:nvPicPr>
          <p:cNvPr id="4" name="Image 0" descr="/mnt/data/mulungushi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19456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hypotheses and safe test cases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960120" y="786384"/>
            <a:ext cx="10835640" cy="0"/>
          </a:xfrm>
          <a:prstGeom prst="line">
            <a:avLst/>
          </a:prstGeom>
          <a:noFill/>
          <a:ln w="12700">
            <a:solidFill>
              <a:srgbClr val="B8CC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8890">
            <a:solidFill>
              <a:srgbClr val="B8CC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651052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ICS 441 • Advanced Cybersecurity and Ethical Hacking • Unit 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92840" y="651052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40080" y="1051560"/>
            <a:ext cx="534924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3335">
            <a:solidFill>
              <a:srgbClr val="B8CC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13232" y="1124712"/>
            <a:ext cx="5202936" cy="384048"/>
          </a:xfrm>
          <a:prstGeom prst="roundRect">
            <a:avLst>
              <a:gd name="adj" fmla="val 14286"/>
            </a:avLst>
          </a:prstGeom>
          <a:solidFill>
            <a:srgbClr val="0F5CCB"/>
          </a:solidFill>
          <a:ln w="6350">
            <a:solidFill>
              <a:srgbClr val="0F5CC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0392" y="1197864"/>
            <a:ext cx="4928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hypothesis format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804672" y="1673352"/>
            <a:ext cx="5020056" cy="43982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State how an attacker might compromise a system.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Name the affected asset and likely attack path.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Example: weak IAM policies may expose sensitive cloud storage.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Connect the hypothesis to business impact.</a:t>
            </a:r>
            <a:endParaRPr lang="en-US" sz="2050" dirty="0"/>
          </a:p>
        </p:txBody>
      </p:sp>
      <p:sp>
        <p:nvSpPr>
          <p:cNvPr id="14" name="Shape 11"/>
          <p:cNvSpPr/>
          <p:nvPr/>
        </p:nvSpPr>
        <p:spPr>
          <a:xfrm>
            <a:off x="6217920" y="1051560"/>
            <a:ext cx="534924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3335">
            <a:solidFill>
              <a:srgbClr val="B8CC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91072" y="1124712"/>
            <a:ext cx="5202936" cy="384048"/>
          </a:xfrm>
          <a:prstGeom prst="roundRect">
            <a:avLst>
              <a:gd name="adj" fmla="val 14286"/>
            </a:avLst>
          </a:prstGeom>
          <a:solidFill>
            <a:srgbClr val="168A4A"/>
          </a:solidFill>
          <a:ln w="6350">
            <a:solidFill>
              <a:srgbClr val="168A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28232" y="1197864"/>
            <a:ext cx="4928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case format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6382512" y="1673352"/>
            <a:ext cx="5020056" cy="43982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Objective: what exactly is being tested?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Steps: safe, scoped, repeatable actions.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Success criteria: what result proves the issue?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Outcome: evidence and recommendation recorded.</a:t>
            </a:r>
            <a:endParaRPr lang="en-US" sz="2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E"/>
          </a:solidFill>
          <a:ln w="12700">
            <a:solidFill>
              <a:srgbClr val="F7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CCB"/>
          </a:solidFill>
          <a:ln w="12700">
            <a:solidFill>
              <a:srgbClr val="0F5CCB"/>
            </a:solidFill>
            <a:prstDash val="solid"/>
          </a:ln>
        </p:spPr>
      </p:sp>
      <p:pic>
        <p:nvPicPr>
          <p:cNvPr id="4" name="Image 0" descr="/mnt/data/mulungushi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19456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3200" dirty="0"/>
              <a:t>Creating a Basic Risk Register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960120" y="786384"/>
            <a:ext cx="10835640" cy="0"/>
          </a:xfrm>
          <a:prstGeom prst="line">
            <a:avLst/>
          </a:prstGeom>
          <a:noFill/>
          <a:ln w="12700">
            <a:solidFill>
              <a:srgbClr val="B8CC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8890">
            <a:solidFill>
              <a:srgbClr val="B8CC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651052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ICS 441 • Advanced Cybersecurity and Ethical Hacking • Unit 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92840" y="651052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13232" y="1051560"/>
            <a:ext cx="10579608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3335">
            <a:solidFill>
              <a:srgbClr val="B8CC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13231" y="1124712"/>
            <a:ext cx="10301609" cy="384048"/>
          </a:xfrm>
          <a:prstGeom prst="roundRect">
            <a:avLst>
              <a:gd name="adj" fmla="val 14286"/>
            </a:avLst>
          </a:prstGeom>
          <a:solidFill>
            <a:srgbClr val="0F5CCB"/>
          </a:solidFill>
          <a:ln w="6350">
            <a:solidFill>
              <a:srgbClr val="0F5CC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4671" y="1673352"/>
            <a:ext cx="10388845" cy="43982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GB" b="1" dirty="0"/>
              <a:t>Purpose:</a:t>
            </a:r>
            <a:r>
              <a:rPr lang="en-GB" dirty="0"/>
              <a:t> To document, prioritize, and track security risks.</a:t>
            </a:r>
          </a:p>
          <a:p>
            <a:r>
              <a:rPr lang="en-GB" dirty="0"/>
              <a:t>Key Components: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b="1" dirty="0"/>
              <a:t>Risk Description:</a:t>
            </a:r>
            <a:r>
              <a:rPr lang="en-GB" sz="2000" dirty="0"/>
              <a:t> What is the vulnerability or threat?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b="1" dirty="0"/>
              <a:t>Likelihood:</a:t>
            </a:r>
            <a:r>
              <a:rPr lang="en-GB" sz="2000" dirty="0"/>
              <a:t> How probable is it that this will be exploited? (e.g., Low, Medium, High)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b="1" dirty="0"/>
              <a:t>Impact:</a:t>
            </a:r>
            <a:r>
              <a:rPr lang="en-GB" sz="2000" dirty="0"/>
              <a:t> What would be the business effect if exploited? (e.g., Financial loss, reputational damage)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b="1" dirty="0"/>
              <a:t>Risk Score:</a:t>
            </a:r>
            <a:r>
              <a:rPr lang="en-GB" sz="2000" dirty="0"/>
              <a:t> Likelihood × Impact (used for prioritization).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b="1" dirty="0"/>
              <a:t>Mitigation Steps:</a:t>
            </a:r>
            <a:r>
              <a:rPr lang="en-GB" sz="2000" dirty="0"/>
              <a:t> Recommended actions to reduce risk.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b="1" dirty="0"/>
              <a:t>Owner:</a:t>
            </a:r>
            <a:r>
              <a:rPr lang="en-GB" sz="2000" dirty="0"/>
              <a:t> Who is responsible for addressing this?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6152279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E"/>
          </a:solidFill>
          <a:ln w="12700">
            <a:solidFill>
              <a:srgbClr val="F7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CCB"/>
          </a:solidFill>
          <a:ln w="12700">
            <a:solidFill>
              <a:srgbClr val="0F5CCB"/>
            </a:solidFill>
            <a:prstDash val="solid"/>
          </a:ln>
        </p:spPr>
      </p:sp>
      <p:pic>
        <p:nvPicPr>
          <p:cNvPr id="4" name="Image 0" descr="/mnt/data/mulungushi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19456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risk register: example format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960120" y="786384"/>
            <a:ext cx="10835640" cy="0"/>
          </a:xfrm>
          <a:prstGeom prst="line">
            <a:avLst/>
          </a:prstGeom>
          <a:noFill/>
          <a:ln w="12700">
            <a:solidFill>
              <a:srgbClr val="B8CC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8890">
            <a:solidFill>
              <a:srgbClr val="B8CC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651052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ICS 441 • Advanced Cybersecurity and Ethical Hacking • Unit 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92840" y="651052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65760" y="1051560"/>
            <a:ext cx="1147572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3970">
            <a:solidFill>
              <a:srgbClr val="B8CC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30352" y="1216152"/>
            <a:ext cx="594360" cy="438912"/>
          </a:xfrm>
          <a:prstGeom prst="rect">
            <a:avLst/>
          </a:prstGeom>
          <a:solidFill>
            <a:srgbClr val="0F5CCB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6928" y="1335024"/>
            <a:ext cx="521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</a:t>
            </a:r>
            <a:endParaRPr lang="en-US" sz="930" dirty="0"/>
          </a:p>
        </p:txBody>
      </p:sp>
      <p:sp>
        <p:nvSpPr>
          <p:cNvPr id="13" name="Shape 10"/>
          <p:cNvSpPr/>
          <p:nvPr/>
        </p:nvSpPr>
        <p:spPr>
          <a:xfrm>
            <a:off x="1124712" y="1216152"/>
            <a:ext cx="2057400" cy="438912"/>
          </a:xfrm>
          <a:prstGeom prst="rect">
            <a:avLst/>
          </a:prstGeom>
          <a:solidFill>
            <a:srgbClr val="0F5CCB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61288" y="1335024"/>
            <a:ext cx="1984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/ Hypothesis</a:t>
            </a:r>
            <a:endParaRPr lang="en-US" sz="930" dirty="0"/>
          </a:p>
        </p:txBody>
      </p:sp>
      <p:sp>
        <p:nvSpPr>
          <p:cNvPr id="15" name="Shape 12"/>
          <p:cNvSpPr/>
          <p:nvPr/>
        </p:nvSpPr>
        <p:spPr>
          <a:xfrm>
            <a:off x="3182112" y="1216152"/>
            <a:ext cx="1234440" cy="438912"/>
          </a:xfrm>
          <a:prstGeom prst="rect">
            <a:avLst/>
          </a:prstGeom>
          <a:solidFill>
            <a:srgbClr val="0F5CCB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18688" y="1335024"/>
            <a:ext cx="11612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</a:t>
            </a:r>
            <a:endParaRPr lang="en-US" sz="930" dirty="0"/>
          </a:p>
        </p:txBody>
      </p:sp>
      <p:sp>
        <p:nvSpPr>
          <p:cNvPr id="17" name="Shape 14"/>
          <p:cNvSpPr/>
          <p:nvPr/>
        </p:nvSpPr>
        <p:spPr>
          <a:xfrm>
            <a:off x="4416552" y="1216152"/>
            <a:ext cx="1078992" cy="438912"/>
          </a:xfrm>
          <a:prstGeom prst="rect">
            <a:avLst/>
          </a:prstGeom>
          <a:solidFill>
            <a:srgbClr val="0F5CCB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453128" y="1335024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Likelihood</a:t>
            </a:r>
            <a:endParaRPr lang="en-US" sz="930" dirty="0"/>
          </a:p>
        </p:txBody>
      </p:sp>
      <p:sp>
        <p:nvSpPr>
          <p:cNvPr id="19" name="Shape 16"/>
          <p:cNvSpPr/>
          <p:nvPr/>
        </p:nvSpPr>
        <p:spPr>
          <a:xfrm>
            <a:off x="5495544" y="1216152"/>
            <a:ext cx="960120" cy="438912"/>
          </a:xfrm>
          <a:prstGeom prst="rect">
            <a:avLst/>
          </a:prstGeom>
          <a:solidFill>
            <a:srgbClr val="0F5CCB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532120" y="1335024"/>
            <a:ext cx="8869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930" dirty="0"/>
          </a:p>
        </p:txBody>
      </p:sp>
      <p:sp>
        <p:nvSpPr>
          <p:cNvPr id="21" name="Shape 18"/>
          <p:cNvSpPr/>
          <p:nvPr/>
        </p:nvSpPr>
        <p:spPr>
          <a:xfrm>
            <a:off x="6455664" y="1216152"/>
            <a:ext cx="3154680" cy="438912"/>
          </a:xfrm>
          <a:prstGeom prst="rect">
            <a:avLst/>
          </a:prstGeom>
          <a:solidFill>
            <a:srgbClr val="0F5CCB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92240" y="1335024"/>
            <a:ext cx="30815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 / Control</a:t>
            </a:r>
            <a:endParaRPr lang="en-US" sz="930" dirty="0"/>
          </a:p>
        </p:txBody>
      </p:sp>
      <p:sp>
        <p:nvSpPr>
          <p:cNvPr id="23" name="Shape 20"/>
          <p:cNvSpPr/>
          <p:nvPr/>
        </p:nvSpPr>
        <p:spPr>
          <a:xfrm>
            <a:off x="9610344" y="1216152"/>
            <a:ext cx="1051560" cy="438912"/>
          </a:xfrm>
          <a:prstGeom prst="rect">
            <a:avLst/>
          </a:prstGeom>
          <a:solidFill>
            <a:srgbClr val="0F5CCB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646920" y="1335024"/>
            <a:ext cx="9784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930" dirty="0"/>
          </a:p>
        </p:txBody>
      </p:sp>
      <p:sp>
        <p:nvSpPr>
          <p:cNvPr id="25" name="Shape 22"/>
          <p:cNvSpPr/>
          <p:nvPr/>
        </p:nvSpPr>
        <p:spPr>
          <a:xfrm>
            <a:off x="530352" y="1655064"/>
            <a:ext cx="594360" cy="667512"/>
          </a:xfrm>
          <a:prstGeom prst="rect">
            <a:avLst/>
          </a:prstGeom>
          <a:solidFill>
            <a:srgbClr val="FFFFFF"/>
          </a:solidFill>
          <a:ln w="5080">
            <a:solidFill>
              <a:srgbClr val="B8CCE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0644" y="1783080"/>
            <a:ext cx="493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R-01</a:t>
            </a:r>
            <a:endParaRPr lang="en-US" sz="1080" dirty="0"/>
          </a:p>
        </p:txBody>
      </p:sp>
      <p:sp>
        <p:nvSpPr>
          <p:cNvPr id="27" name="Shape 24"/>
          <p:cNvSpPr/>
          <p:nvPr/>
        </p:nvSpPr>
        <p:spPr>
          <a:xfrm>
            <a:off x="1124712" y="1655064"/>
            <a:ext cx="2057400" cy="667512"/>
          </a:xfrm>
          <a:prstGeom prst="rect">
            <a:avLst/>
          </a:prstGeom>
          <a:solidFill>
            <a:srgbClr val="FFFFFF"/>
          </a:solidFill>
          <a:ln w="5080">
            <a:solidFill>
              <a:srgbClr val="B8CCE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175004" y="1783080"/>
            <a:ext cx="19568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MFA on admin accounts</a:t>
            </a:r>
            <a:endParaRPr lang="en-US" sz="1080" dirty="0"/>
          </a:p>
        </p:txBody>
      </p:sp>
      <p:sp>
        <p:nvSpPr>
          <p:cNvPr id="29" name="Shape 26"/>
          <p:cNvSpPr/>
          <p:nvPr/>
        </p:nvSpPr>
        <p:spPr>
          <a:xfrm>
            <a:off x="3182112" y="1655064"/>
            <a:ext cx="1234440" cy="667512"/>
          </a:xfrm>
          <a:prstGeom prst="rect">
            <a:avLst/>
          </a:prstGeom>
          <a:solidFill>
            <a:srgbClr val="FFFFFF"/>
          </a:solidFill>
          <a:ln w="5080">
            <a:solidFill>
              <a:srgbClr val="B8CC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232404" y="1783080"/>
            <a:ext cx="11338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</a:t>
            </a:r>
            <a:endParaRPr lang="en-US" sz="1080" dirty="0"/>
          </a:p>
        </p:txBody>
      </p:sp>
      <p:sp>
        <p:nvSpPr>
          <p:cNvPr id="31" name="Shape 28"/>
          <p:cNvSpPr/>
          <p:nvPr/>
        </p:nvSpPr>
        <p:spPr>
          <a:xfrm>
            <a:off x="4416552" y="1655064"/>
            <a:ext cx="1078992" cy="667512"/>
          </a:xfrm>
          <a:prstGeom prst="rect">
            <a:avLst/>
          </a:prstGeom>
          <a:solidFill>
            <a:srgbClr val="FFFFFF"/>
          </a:solidFill>
          <a:ln w="5080">
            <a:solidFill>
              <a:srgbClr val="B8CCE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466844" y="1783080"/>
            <a:ext cx="978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80" dirty="0"/>
          </a:p>
        </p:txBody>
      </p:sp>
      <p:sp>
        <p:nvSpPr>
          <p:cNvPr id="33" name="Shape 30"/>
          <p:cNvSpPr/>
          <p:nvPr/>
        </p:nvSpPr>
        <p:spPr>
          <a:xfrm>
            <a:off x="5495544" y="1655064"/>
            <a:ext cx="960120" cy="667512"/>
          </a:xfrm>
          <a:prstGeom prst="rect">
            <a:avLst/>
          </a:prstGeom>
          <a:solidFill>
            <a:srgbClr val="FFFFFF"/>
          </a:solidFill>
          <a:ln w="5080">
            <a:solidFill>
              <a:srgbClr val="B8CCE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545836" y="1783080"/>
            <a:ext cx="859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80" dirty="0"/>
          </a:p>
        </p:txBody>
      </p:sp>
      <p:sp>
        <p:nvSpPr>
          <p:cNvPr id="35" name="Shape 32"/>
          <p:cNvSpPr/>
          <p:nvPr/>
        </p:nvSpPr>
        <p:spPr>
          <a:xfrm>
            <a:off x="6455664" y="1655064"/>
            <a:ext cx="3154680" cy="667512"/>
          </a:xfrm>
          <a:prstGeom prst="rect">
            <a:avLst/>
          </a:prstGeom>
          <a:solidFill>
            <a:srgbClr val="FFFFFF"/>
          </a:solidFill>
          <a:ln w="5080">
            <a:solidFill>
              <a:srgbClr val="B8CCE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505956" y="1783080"/>
            <a:ext cx="3054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 MFA, review roles</a:t>
            </a:r>
            <a:endParaRPr lang="en-US" sz="1080" dirty="0"/>
          </a:p>
        </p:txBody>
      </p:sp>
      <p:sp>
        <p:nvSpPr>
          <p:cNvPr id="37" name="Shape 34"/>
          <p:cNvSpPr/>
          <p:nvPr/>
        </p:nvSpPr>
        <p:spPr>
          <a:xfrm>
            <a:off x="9610344" y="1655064"/>
            <a:ext cx="1051560" cy="667512"/>
          </a:xfrm>
          <a:prstGeom prst="rect">
            <a:avLst/>
          </a:prstGeom>
          <a:solidFill>
            <a:srgbClr val="FFFFFF"/>
          </a:solidFill>
          <a:ln w="5080">
            <a:solidFill>
              <a:srgbClr val="B8CCE8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660636" y="1783080"/>
            <a:ext cx="950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080" dirty="0"/>
          </a:p>
        </p:txBody>
      </p:sp>
      <p:sp>
        <p:nvSpPr>
          <p:cNvPr id="39" name="Shape 36"/>
          <p:cNvSpPr/>
          <p:nvPr/>
        </p:nvSpPr>
        <p:spPr>
          <a:xfrm>
            <a:off x="530352" y="2322576"/>
            <a:ext cx="594360" cy="667512"/>
          </a:xfrm>
          <a:prstGeom prst="rect">
            <a:avLst/>
          </a:prstGeom>
          <a:solidFill>
            <a:srgbClr val="F5F9FF"/>
          </a:solidFill>
          <a:ln w="5080">
            <a:solidFill>
              <a:srgbClr val="B8CCE8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80644" y="2450592"/>
            <a:ext cx="493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R-02</a:t>
            </a:r>
            <a:endParaRPr lang="en-US" sz="1080" dirty="0"/>
          </a:p>
        </p:txBody>
      </p:sp>
      <p:sp>
        <p:nvSpPr>
          <p:cNvPr id="41" name="Shape 38"/>
          <p:cNvSpPr/>
          <p:nvPr/>
        </p:nvSpPr>
        <p:spPr>
          <a:xfrm>
            <a:off x="1124712" y="2322576"/>
            <a:ext cx="2057400" cy="667512"/>
          </a:xfrm>
          <a:prstGeom prst="rect">
            <a:avLst/>
          </a:prstGeom>
          <a:solidFill>
            <a:srgbClr val="F5F9FF"/>
          </a:solidFill>
          <a:ln w="5080">
            <a:solidFill>
              <a:srgbClr val="B8CCE8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175004" y="2450592"/>
            <a:ext cx="19568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file upload exposure</a:t>
            </a:r>
            <a:endParaRPr lang="en-US" sz="1080" dirty="0"/>
          </a:p>
        </p:txBody>
      </p:sp>
      <p:sp>
        <p:nvSpPr>
          <p:cNvPr id="43" name="Shape 40"/>
          <p:cNvSpPr/>
          <p:nvPr/>
        </p:nvSpPr>
        <p:spPr>
          <a:xfrm>
            <a:off x="3182112" y="2322576"/>
            <a:ext cx="1234440" cy="667512"/>
          </a:xfrm>
          <a:prstGeom prst="rect">
            <a:avLst/>
          </a:prstGeom>
          <a:solidFill>
            <a:srgbClr val="F5F9FF"/>
          </a:solidFill>
          <a:ln w="5080">
            <a:solidFill>
              <a:srgbClr val="B8CCE8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3232404" y="2450592"/>
            <a:ext cx="11338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</a:t>
            </a:r>
            <a:endParaRPr lang="en-US" sz="1080" dirty="0"/>
          </a:p>
        </p:txBody>
      </p:sp>
      <p:sp>
        <p:nvSpPr>
          <p:cNvPr id="45" name="Shape 42"/>
          <p:cNvSpPr/>
          <p:nvPr/>
        </p:nvSpPr>
        <p:spPr>
          <a:xfrm>
            <a:off x="4416552" y="2322576"/>
            <a:ext cx="1078992" cy="667512"/>
          </a:xfrm>
          <a:prstGeom prst="rect">
            <a:avLst/>
          </a:prstGeom>
          <a:solidFill>
            <a:srgbClr val="F5F9FF"/>
          </a:solidFill>
          <a:ln w="5080">
            <a:solidFill>
              <a:srgbClr val="B8CCE8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466844" y="2450592"/>
            <a:ext cx="978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080" dirty="0"/>
          </a:p>
        </p:txBody>
      </p:sp>
      <p:sp>
        <p:nvSpPr>
          <p:cNvPr id="47" name="Shape 44"/>
          <p:cNvSpPr/>
          <p:nvPr/>
        </p:nvSpPr>
        <p:spPr>
          <a:xfrm>
            <a:off x="5495544" y="2322576"/>
            <a:ext cx="960120" cy="667512"/>
          </a:xfrm>
          <a:prstGeom prst="rect">
            <a:avLst/>
          </a:prstGeom>
          <a:solidFill>
            <a:srgbClr val="F5F9FF"/>
          </a:solidFill>
          <a:ln w="5080">
            <a:solidFill>
              <a:srgbClr val="B8CCE8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545836" y="2450592"/>
            <a:ext cx="859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80" dirty="0"/>
          </a:p>
        </p:txBody>
      </p:sp>
      <p:sp>
        <p:nvSpPr>
          <p:cNvPr id="49" name="Shape 46"/>
          <p:cNvSpPr/>
          <p:nvPr/>
        </p:nvSpPr>
        <p:spPr>
          <a:xfrm>
            <a:off x="6455664" y="2322576"/>
            <a:ext cx="3154680" cy="667512"/>
          </a:xfrm>
          <a:prstGeom prst="rect">
            <a:avLst/>
          </a:prstGeom>
          <a:solidFill>
            <a:srgbClr val="F5F9FF"/>
          </a:solidFill>
          <a:ln w="5080">
            <a:solidFill>
              <a:srgbClr val="B8CCE8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505956" y="2450592"/>
            <a:ext cx="3054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 file types, scan uploads</a:t>
            </a:r>
            <a:endParaRPr lang="en-US" sz="1080" dirty="0"/>
          </a:p>
        </p:txBody>
      </p:sp>
      <p:sp>
        <p:nvSpPr>
          <p:cNvPr id="51" name="Shape 48"/>
          <p:cNvSpPr/>
          <p:nvPr/>
        </p:nvSpPr>
        <p:spPr>
          <a:xfrm>
            <a:off x="9610344" y="2322576"/>
            <a:ext cx="1051560" cy="667512"/>
          </a:xfrm>
          <a:prstGeom prst="rect">
            <a:avLst/>
          </a:prstGeom>
          <a:solidFill>
            <a:srgbClr val="F5F9FF"/>
          </a:solidFill>
          <a:ln w="5080">
            <a:solidFill>
              <a:srgbClr val="B8CCE8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9660636" y="2450592"/>
            <a:ext cx="950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1080" dirty="0"/>
          </a:p>
        </p:txBody>
      </p:sp>
      <p:sp>
        <p:nvSpPr>
          <p:cNvPr id="53" name="Shape 50"/>
          <p:cNvSpPr/>
          <p:nvPr/>
        </p:nvSpPr>
        <p:spPr>
          <a:xfrm>
            <a:off x="530352" y="2990088"/>
            <a:ext cx="594360" cy="667512"/>
          </a:xfrm>
          <a:prstGeom prst="rect">
            <a:avLst/>
          </a:prstGeom>
          <a:solidFill>
            <a:srgbClr val="FFFFFF"/>
          </a:solidFill>
          <a:ln w="5080">
            <a:solidFill>
              <a:srgbClr val="B8CCE8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580644" y="3118104"/>
            <a:ext cx="493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R-03</a:t>
            </a:r>
            <a:endParaRPr lang="en-US" sz="1080" dirty="0"/>
          </a:p>
        </p:txBody>
      </p:sp>
      <p:sp>
        <p:nvSpPr>
          <p:cNvPr id="55" name="Shape 52"/>
          <p:cNvSpPr/>
          <p:nvPr/>
        </p:nvSpPr>
        <p:spPr>
          <a:xfrm>
            <a:off x="1124712" y="2990088"/>
            <a:ext cx="2057400" cy="667512"/>
          </a:xfrm>
          <a:prstGeom prst="rect">
            <a:avLst/>
          </a:prstGeom>
          <a:solidFill>
            <a:srgbClr val="FFFFFF"/>
          </a:solidFill>
          <a:ln w="5080">
            <a:solidFill>
              <a:srgbClr val="B8CCE8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1175004" y="3118104"/>
            <a:ext cx="19568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service banner leaks info</a:t>
            </a:r>
            <a:endParaRPr lang="en-US" sz="1080" dirty="0"/>
          </a:p>
        </p:txBody>
      </p:sp>
      <p:sp>
        <p:nvSpPr>
          <p:cNvPr id="57" name="Shape 54"/>
          <p:cNvSpPr/>
          <p:nvPr/>
        </p:nvSpPr>
        <p:spPr>
          <a:xfrm>
            <a:off x="3182112" y="2990088"/>
            <a:ext cx="1234440" cy="667512"/>
          </a:xfrm>
          <a:prstGeom prst="rect">
            <a:avLst/>
          </a:prstGeom>
          <a:solidFill>
            <a:srgbClr val="FFFFFF"/>
          </a:solidFill>
          <a:ln w="5080">
            <a:solidFill>
              <a:srgbClr val="B8CCE8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3232404" y="3118104"/>
            <a:ext cx="11338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080" dirty="0"/>
          </a:p>
        </p:txBody>
      </p:sp>
      <p:sp>
        <p:nvSpPr>
          <p:cNvPr id="59" name="Shape 56"/>
          <p:cNvSpPr/>
          <p:nvPr/>
        </p:nvSpPr>
        <p:spPr>
          <a:xfrm>
            <a:off x="4416552" y="2990088"/>
            <a:ext cx="1078992" cy="667512"/>
          </a:xfrm>
          <a:prstGeom prst="rect">
            <a:avLst/>
          </a:prstGeom>
          <a:solidFill>
            <a:srgbClr val="FFFFFF"/>
          </a:solidFill>
          <a:ln w="5080">
            <a:solidFill>
              <a:srgbClr val="B8CCE8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4466844" y="3118104"/>
            <a:ext cx="978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080" dirty="0"/>
          </a:p>
        </p:txBody>
      </p:sp>
      <p:sp>
        <p:nvSpPr>
          <p:cNvPr id="61" name="Shape 58"/>
          <p:cNvSpPr/>
          <p:nvPr/>
        </p:nvSpPr>
        <p:spPr>
          <a:xfrm>
            <a:off x="5495544" y="2990088"/>
            <a:ext cx="960120" cy="667512"/>
          </a:xfrm>
          <a:prstGeom prst="rect">
            <a:avLst/>
          </a:prstGeom>
          <a:solidFill>
            <a:srgbClr val="FFFFFF"/>
          </a:solidFill>
          <a:ln w="5080">
            <a:solidFill>
              <a:srgbClr val="B8CCE8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5545836" y="3118104"/>
            <a:ext cx="859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080" dirty="0"/>
          </a:p>
        </p:txBody>
      </p:sp>
      <p:sp>
        <p:nvSpPr>
          <p:cNvPr id="63" name="Shape 60"/>
          <p:cNvSpPr/>
          <p:nvPr/>
        </p:nvSpPr>
        <p:spPr>
          <a:xfrm>
            <a:off x="6455664" y="2990088"/>
            <a:ext cx="3154680" cy="667512"/>
          </a:xfrm>
          <a:prstGeom prst="rect">
            <a:avLst/>
          </a:prstGeom>
          <a:solidFill>
            <a:srgbClr val="FFFFFF"/>
          </a:solidFill>
          <a:ln w="5080">
            <a:solidFill>
              <a:srgbClr val="B8CCE8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6505956" y="3118104"/>
            <a:ext cx="3054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 headers and minimize banners</a:t>
            </a:r>
            <a:endParaRPr lang="en-US" sz="1080" dirty="0"/>
          </a:p>
        </p:txBody>
      </p:sp>
      <p:sp>
        <p:nvSpPr>
          <p:cNvPr id="65" name="Shape 62"/>
          <p:cNvSpPr/>
          <p:nvPr/>
        </p:nvSpPr>
        <p:spPr>
          <a:xfrm>
            <a:off x="9610344" y="2990088"/>
            <a:ext cx="1051560" cy="667512"/>
          </a:xfrm>
          <a:prstGeom prst="rect">
            <a:avLst/>
          </a:prstGeom>
          <a:solidFill>
            <a:srgbClr val="FFFFFF"/>
          </a:solidFill>
          <a:ln w="5080">
            <a:solidFill>
              <a:srgbClr val="B8CCE8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9660636" y="3118104"/>
            <a:ext cx="950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080" dirty="0"/>
          </a:p>
        </p:txBody>
      </p:sp>
      <p:sp>
        <p:nvSpPr>
          <p:cNvPr id="67" name="Shape 64"/>
          <p:cNvSpPr/>
          <p:nvPr/>
        </p:nvSpPr>
        <p:spPr>
          <a:xfrm>
            <a:off x="530352" y="3657600"/>
            <a:ext cx="594360" cy="667512"/>
          </a:xfrm>
          <a:prstGeom prst="rect">
            <a:avLst/>
          </a:prstGeom>
          <a:solidFill>
            <a:srgbClr val="F5F9FF"/>
          </a:solidFill>
          <a:ln w="5080">
            <a:solidFill>
              <a:srgbClr val="B8CCE8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580644" y="3785616"/>
            <a:ext cx="493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R-04</a:t>
            </a:r>
            <a:endParaRPr lang="en-US" sz="1080" dirty="0"/>
          </a:p>
        </p:txBody>
      </p:sp>
      <p:sp>
        <p:nvSpPr>
          <p:cNvPr id="69" name="Shape 66"/>
          <p:cNvSpPr/>
          <p:nvPr/>
        </p:nvSpPr>
        <p:spPr>
          <a:xfrm>
            <a:off x="1124712" y="3657600"/>
            <a:ext cx="2057400" cy="667512"/>
          </a:xfrm>
          <a:prstGeom prst="rect">
            <a:avLst/>
          </a:prstGeom>
          <a:solidFill>
            <a:srgbClr val="F5F9FF"/>
          </a:solidFill>
          <a:ln w="5080">
            <a:solidFill>
              <a:srgbClr val="B8CCE8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1175004" y="3785616"/>
            <a:ext cx="19568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Unencrypted evidence storage</a:t>
            </a:r>
            <a:endParaRPr lang="en-US" sz="1080" dirty="0"/>
          </a:p>
        </p:txBody>
      </p:sp>
      <p:sp>
        <p:nvSpPr>
          <p:cNvPr id="71" name="Shape 68"/>
          <p:cNvSpPr/>
          <p:nvPr/>
        </p:nvSpPr>
        <p:spPr>
          <a:xfrm>
            <a:off x="3182112" y="3657600"/>
            <a:ext cx="1234440" cy="667512"/>
          </a:xfrm>
          <a:prstGeom prst="rect">
            <a:avLst/>
          </a:prstGeom>
          <a:solidFill>
            <a:srgbClr val="F5F9FF"/>
          </a:solidFill>
          <a:ln w="5080">
            <a:solidFill>
              <a:srgbClr val="B8CCE8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3232404" y="3785616"/>
            <a:ext cx="11338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080" dirty="0"/>
          </a:p>
        </p:txBody>
      </p:sp>
      <p:sp>
        <p:nvSpPr>
          <p:cNvPr id="73" name="Shape 70"/>
          <p:cNvSpPr/>
          <p:nvPr/>
        </p:nvSpPr>
        <p:spPr>
          <a:xfrm>
            <a:off x="4416552" y="3657600"/>
            <a:ext cx="1078992" cy="667512"/>
          </a:xfrm>
          <a:prstGeom prst="rect">
            <a:avLst/>
          </a:prstGeom>
          <a:solidFill>
            <a:srgbClr val="F5F9FF"/>
          </a:solidFill>
          <a:ln w="5080">
            <a:solidFill>
              <a:srgbClr val="B8CCE8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4466844" y="3785616"/>
            <a:ext cx="978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080" dirty="0"/>
          </a:p>
        </p:txBody>
      </p:sp>
      <p:sp>
        <p:nvSpPr>
          <p:cNvPr id="75" name="Shape 72"/>
          <p:cNvSpPr/>
          <p:nvPr/>
        </p:nvSpPr>
        <p:spPr>
          <a:xfrm>
            <a:off x="5495544" y="3657600"/>
            <a:ext cx="960120" cy="667512"/>
          </a:xfrm>
          <a:prstGeom prst="rect">
            <a:avLst/>
          </a:prstGeom>
          <a:solidFill>
            <a:srgbClr val="F5F9FF"/>
          </a:solidFill>
          <a:ln w="5080">
            <a:solidFill>
              <a:srgbClr val="B8CCE8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5545836" y="3785616"/>
            <a:ext cx="859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80" dirty="0"/>
          </a:p>
        </p:txBody>
      </p:sp>
      <p:sp>
        <p:nvSpPr>
          <p:cNvPr id="77" name="Shape 74"/>
          <p:cNvSpPr/>
          <p:nvPr/>
        </p:nvSpPr>
        <p:spPr>
          <a:xfrm>
            <a:off x="6455664" y="3657600"/>
            <a:ext cx="3154680" cy="667512"/>
          </a:xfrm>
          <a:prstGeom prst="rect">
            <a:avLst/>
          </a:prstGeom>
          <a:solidFill>
            <a:srgbClr val="F5F9FF"/>
          </a:solidFill>
          <a:ln w="5080">
            <a:solidFill>
              <a:srgbClr val="B8CCE8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6505956" y="3785616"/>
            <a:ext cx="3054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 evidence folder and restrict access</a:t>
            </a:r>
            <a:endParaRPr lang="en-US" sz="1080" dirty="0"/>
          </a:p>
        </p:txBody>
      </p:sp>
      <p:sp>
        <p:nvSpPr>
          <p:cNvPr id="79" name="Shape 76"/>
          <p:cNvSpPr/>
          <p:nvPr/>
        </p:nvSpPr>
        <p:spPr>
          <a:xfrm>
            <a:off x="9610344" y="3657600"/>
            <a:ext cx="1051560" cy="667512"/>
          </a:xfrm>
          <a:prstGeom prst="rect">
            <a:avLst/>
          </a:prstGeom>
          <a:solidFill>
            <a:srgbClr val="F5F9FF"/>
          </a:solidFill>
          <a:ln w="5080">
            <a:solidFill>
              <a:srgbClr val="B8CCE8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9660636" y="3785616"/>
            <a:ext cx="950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Mitigated</a:t>
            </a:r>
            <a:endParaRPr lang="en-US" sz="1080" dirty="0"/>
          </a:p>
        </p:txBody>
      </p:sp>
      <p:sp>
        <p:nvSpPr>
          <p:cNvPr id="81" name="Shape 78"/>
          <p:cNvSpPr/>
          <p:nvPr/>
        </p:nvSpPr>
        <p:spPr>
          <a:xfrm>
            <a:off x="530352" y="4325112"/>
            <a:ext cx="594360" cy="667512"/>
          </a:xfrm>
          <a:prstGeom prst="rect">
            <a:avLst/>
          </a:prstGeom>
          <a:solidFill>
            <a:srgbClr val="FFFFFF"/>
          </a:solidFill>
          <a:ln w="5080">
            <a:solidFill>
              <a:srgbClr val="B8CCE8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580644" y="4453128"/>
            <a:ext cx="493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R-05</a:t>
            </a:r>
            <a:endParaRPr lang="en-US" sz="1080" dirty="0"/>
          </a:p>
        </p:txBody>
      </p:sp>
      <p:sp>
        <p:nvSpPr>
          <p:cNvPr id="83" name="Shape 80"/>
          <p:cNvSpPr/>
          <p:nvPr/>
        </p:nvSpPr>
        <p:spPr>
          <a:xfrm>
            <a:off x="1124712" y="4325112"/>
            <a:ext cx="2057400" cy="667512"/>
          </a:xfrm>
          <a:prstGeom prst="rect">
            <a:avLst/>
          </a:prstGeom>
          <a:solidFill>
            <a:srgbClr val="FFFFFF"/>
          </a:solidFill>
          <a:ln w="5080">
            <a:solidFill>
              <a:srgbClr val="B8CCE8"/>
            </a:solidFill>
            <a:prstDash val="solid"/>
          </a:ln>
        </p:spPr>
      </p:sp>
      <p:sp>
        <p:nvSpPr>
          <p:cNvPr id="84" name="Text 81"/>
          <p:cNvSpPr/>
          <p:nvPr/>
        </p:nvSpPr>
        <p:spPr>
          <a:xfrm>
            <a:off x="1175004" y="4453128"/>
            <a:ext cx="19568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Unpatched lab VM image</a:t>
            </a:r>
            <a:endParaRPr lang="en-US" sz="1080" dirty="0"/>
          </a:p>
        </p:txBody>
      </p:sp>
      <p:sp>
        <p:nvSpPr>
          <p:cNvPr id="85" name="Shape 82"/>
          <p:cNvSpPr/>
          <p:nvPr/>
        </p:nvSpPr>
        <p:spPr>
          <a:xfrm>
            <a:off x="3182112" y="4325112"/>
            <a:ext cx="1234440" cy="667512"/>
          </a:xfrm>
          <a:prstGeom prst="rect">
            <a:avLst/>
          </a:prstGeom>
          <a:solidFill>
            <a:srgbClr val="FFFFFF"/>
          </a:solidFill>
          <a:ln w="5080">
            <a:solidFill>
              <a:srgbClr val="B8CCE8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3232404" y="4453128"/>
            <a:ext cx="11338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</a:t>
            </a:r>
            <a:endParaRPr lang="en-US" sz="1080" dirty="0"/>
          </a:p>
        </p:txBody>
      </p:sp>
      <p:sp>
        <p:nvSpPr>
          <p:cNvPr id="87" name="Shape 84"/>
          <p:cNvSpPr/>
          <p:nvPr/>
        </p:nvSpPr>
        <p:spPr>
          <a:xfrm>
            <a:off x="4416552" y="4325112"/>
            <a:ext cx="1078992" cy="667512"/>
          </a:xfrm>
          <a:prstGeom prst="rect">
            <a:avLst/>
          </a:prstGeom>
          <a:solidFill>
            <a:srgbClr val="FFFFFF"/>
          </a:solidFill>
          <a:ln w="5080">
            <a:solidFill>
              <a:srgbClr val="B8CCE8"/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4466844" y="4453128"/>
            <a:ext cx="978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080" dirty="0"/>
          </a:p>
        </p:txBody>
      </p:sp>
      <p:sp>
        <p:nvSpPr>
          <p:cNvPr id="89" name="Shape 86"/>
          <p:cNvSpPr/>
          <p:nvPr/>
        </p:nvSpPr>
        <p:spPr>
          <a:xfrm>
            <a:off x="5495544" y="4325112"/>
            <a:ext cx="960120" cy="667512"/>
          </a:xfrm>
          <a:prstGeom prst="rect">
            <a:avLst/>
          </a:prstGeom>
          <a:solidFill>
            <a:srgbClr val="FFFFFF"/>
          </a:solidFill>
          <a:ln w="5080">
            <a:solidFill>
              <a:srgbClr val="B8CCE8"/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5545836" y="4453128"/>
            <a:ext cx="859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080" dirty="0"/>
          </a:p>
        </p:txBody>
      </p:sp>
      <p:sp>
        <p:nvSpPr>
          <p:cNvPr id="91" name="Shape 88"/>
          <p:cNvSpPr/>
          <p:nvPr/>
        </p:nvSpPr>
        <p:spPr>
          <a:xfrm>
            <a:off x="6455664" y="4325112"/>
            <a:ext cx="3154680" cy="667512"/>
          </a:xfrm>
          <a:prstGeom prst="rect">
            <a:avLst/>
          </a:prstGeom>
          <a:solidFill>
            <a:srgbClr val="FFFFFF"/>
          </a:solidFill>
          <a:ln w="5080">
            <a:solidFill>
              <a:srgbClr val="B8CCE8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6505956" y="4453128"/>
            <a:ext cx="3054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 template and retest</a:t>
            </a:r>
            <a:endParaRPr lang="en-US" sz="1080" dirty="0"/>
          </a:p>
        </p:txBody>
      </p:sp>
      <p:sp>
        <p:nvSpPr>
          <p:cNvPr id="93" name="Shape 90"/>
          <p:cNvSpPr/>
          <p:nvPr/>
        </p:nvSpPr>
        <p:spPr>
          <a:xfrm>
            <a:off x="9610344" y="4325112"/>
            <a:ext cx="1051560" cy="667512"/>
          </a:xfrm>
          <a:prstGeom prst="rect">
            <a:avLst/>
          </a:prstGeom>
          <a:solidFill>
            <a:srgbClr val="FFFFFF"/>
          </a:solidFill>
          <a:ln w="5080">
            <a:solidFill>
              <a:srgbClr val="B8CCE8"/>
            </a:solidFill>
            <a:prstDash val="solid"/>
          </a:ln>
        </p:spPr>
      </p:sp>
      <p:sp>
        <p:nvSpPr>
          <p:cNvPr id="94" name="Text 91"/>
          <p:cNvSpPr/>
          <p:nvPr/>
        </p:nvSpPr>
        <p:spPr>
          <a:xfrm>
            <a:off x="9660636" y="4453128"/>
            <a:ext cx="950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080" dirty="0"/>
          </a:p>
        </p:txBody>
      </p:sp>
      <p:sp>
        <p:nvSpPr>
          <p:cNvPr id="95" name="Shape 92"/>
          <p:cNvSpPr/>
          <p:nvPr/>
        </p:nvSpPr>
        <p:spPr>
          <a:xfrm>
            <a:off x="1097280" y="5669280"/>
            <a:ext cx="10012680" cy="566928"/>
          </a:xfrm>
          <a:prstGeom prst="roundRect">
            <a:avLst>
              <a:gd name="adj" fmla="val 12903"/>
            </a:avLst>
          </a:prstGeom>
          <a:solidFill>
            <a:srgbClr val="EEF7FF"/>
          </a:solidFill>
          <a:ln w="12700">
            <a:solidFill>
              <a:srgbClr val="B8CCE8"/>
            </a:solidFill>
            <a:prstDash val="solid"/>
          </a:ln>
        </p:spPr>
      </p:sp>
      <p:sp>
        <p:nvSpPr>
          <p:cNvPr id="96" name="Text 93"/>
          <p:cNvSpPr/>
          <p:nvPr/>
        </p:nvSpPr>
        <p:spPr>
          <a:xfrm>
            <a:off x="1280160" y="5815584"/>
            <a:ext cx="9646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F5C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register = track, prioritize, assign ownership, mitigate and retest.</a:t>
            </a:r>
            <a:endParaRPr lang="en-US" sz="2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E"/>
          </a:solidFill>
          <a:ln w="12700">
            <a:solidFill>
              <a:srgbClr val="F7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CCB"/>
          </a:solidFill>
          <a:ln w="12700">
            <a:solidFill>
              <a:srgbClr val="0F5CCB"/>
            </a:solidFill>
            <a:prstDash val="solid"/>
          </a:ln>
        </p:spPr>
      </p:sp>
      <p:pic>
        <p:nvPicPr>
          <p:cNvPr id="4" name="Image 0" descr="/mnt/data/mulungushi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19456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Mini-case discussion: safe lab incident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960120" y="786384"/>
            <a:ext cx="10835640" cy="0"/>
          </a:xfrm>
          <a:prstGeom prst="line">
            <a:avLst/>
          </a:prstGeom>
          <a:noFill/>
          <a:ln w="12700">
            <a:solidFill>
              <a:srgbClr val="B8CC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8890">
            <a:solidFill>
              <a:srgbClr val="B8CC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651052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ICS 441 • Advanced Cybersecurity and Ethical Hacking • Unit 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92840" y="651052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85800" y="1051560"/>
            <a:ext cx="658368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3335">
            <a:solidFill>
              <a:srgbClr val="B8CC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58952" y="1124712"/>
            <a:ext cx="6437376" cy="384048"/>
          </a:xfrm>
          <a:prstGeom prst="roundRect">
            <a:avLst>
              <a:gd name="adj" fmla="val 14286"/>
            </a:avLst>
          </a:prstGeom>
          <a:solidFill>
            <a:srgbClr val="0F5CCB"/>
          </a:solidFill>
          <a:ln w="6350">
            <a:solidFill>
              <a:srgbClr val="0F5CC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1197864"/>
            <a:ext cx="6163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and discussion questions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850392" y="1673352"/>
            <a:ext cx="6254496" cy="43982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 student accidentally scans outside the approved lab subnet.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Monitoring alarms trigger and the network team asks what happened.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Which ROE controls should have prevented the mistake?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What should the student do immediately?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What evidence should be preserved and who should be informed?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7635240" y="201168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EEF7FF"/>
          </a:solidFill>
          <a:ln w="12700">
            <a:solidFill>
              <a:srgbClr val="B8C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18120" y="2157984"/>
            <a:ext cx="347472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F5C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failures are process failures; improve the process, not only the person.</a:t>
            </a:r>
            <a:endParaRPr lang="en-US" sz="2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E"/>
          </a:solidFill>
          <a:ln w="12700">
            <a:solidFill>
              <a:srgbClr val="F7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CCB"/>
          </a:solidFill>
          <a:ln w="12700">
            <a:solidFill>
              <a:srgbClr val="0F5CCB"/>
            </a:solidFill>
            <a:prstDash val="solid"/>
          </a:ln>
        </p:spPr>
      </p:sp>
      <p:pic>
        <p:nvPicPr>
          <p:cNvPr id="4" name="Image 0" descr="/mnt/data/mulungushi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19456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knowledge check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960120" y="786384"/>
            <a:ext cx="10835640" cy="0"/>
          </a:xfrm>
          <a:prstGeom prst="line">
            <a:avLst/>
          </a:prstGeom>
          <a:noFill/>
          <a:ln w="12700">
            <a:solidFill>
              <a:srgbClr val="B8CC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8890">
            <a:solidFill>
              <a:srgbClr val="B8CC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651052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ICS 441 • Advanced Cybersecurity and Ethical Hacking • Unit 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92840" y="651052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85800" y="1051560"/>
            <a:ext cx="658368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3335">
            <a:solidFill>
              <a:srgbClr val="B8CC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58952" y="1124712"/>
            <a:ext cx="6437376" cy="384048"/>
          </a:xfrm>
          <a:prstGeom prst="roundRect">
            <a:avLst>
              <a:gd name="adj" fmla="val 14286"/>
            </a:avLst>
          </a:prstGeom>
          <a:solidFill>
            <a:srgbClr val="0F5CCB"/>
          </a:solidFill>
          <a:ln w="6350">
            <a:solidFill>
              <a:srgbClr val="0F5CC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1197864"/>
            <a:ext cx="6163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in pairs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850392" y="1673352"/>
            <a:ext cx="6254496" cy="43982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What is the difference between ethical hacking and cybercrime?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Name four items that should appear in a Rules of Engagement document.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Why is data minimization important during security testing?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How does a threat hypothesis become a test case?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What columns belong in a basic risk register?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Why must evidence be protected and traceable?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7635240" y="201168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EEF7FF"/>
          </a:solidFill>
          <a:ln w="12700">
            <a:solidFill>
              <a:srgbClr val="B8C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18120" y="2157984"/>
            <a:ext cx="347472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F5C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examples, not memorized definitions only.</a:t>
            </a:r>
            <a:endParaRPr lang="en-US" sz="2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0" y="0"/>
            <a:ext cx="12191695" cy="6858000"/>
          </a:xfrm>
          <a:prstGeom prst="rect">
            <a:avLst/>
          </a:prstGeom>
          <a:solidFill>
            <a:srgbClr val="F7FAFE"/>
          </a:solidFill>
          <a:ln w="12700">
            <a:solidFill>
              <a:srgbClr val="F7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CCB"/>
          </a:solidFill>
          <a:ln w="12700">
            <a:solidFill>
              <a:srgbClr val="0F5CCB"/>
            </a:solidFill>
            <a:prstDash val="solid"/>
          </a:ln>
        </p:spPr>
      </p:sp>
      <p:pic>
        <p:nvPicPr>
          <p:cNvPr id="4" name="Image 0" descr="/mnt/data/mulungushi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19456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Careers linked to this unit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960120" y="786384"/>
            <a:ext cx="10835640" cy="0"/>
          </a:xfrm>
          <a:prstGeom prst="line">
            <a:avLst/>
          </a:prstGeom>
          <a:noFill/>
          <a:ln w="12700">
            <a:solidFill>
              <a:srgbClr val="B8CC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8890">
            <a:solidFill>
              <a:srgbClr val="B8CC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651052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ICS 441 • Advanced Cybersecurity and Ethical Hacking • Unit 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92840" y="651052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04870" y="960120"/>
            <a:ext cx="1101852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2700">
            <a:solidFill>
              <a:srgbClr val="B8CCE8"/>
            </a:solidFill>
            <a:prstDash val="solid"/>
          </a:ln>
        </p:spPr>
      </p:sp>
      <p:pic>
        <p:nvPicPr>
          <p:cNvPr id="11" name="Image 1" descr="/mnt/data/ics441_extract/ppt/media/image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3490" y="1115567"/>
            <a:ext cx="8490211" cy="4777407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E"/>
          </a:solidFill>
          <a:ln w="12700">
            <a:solidFill>
              <a:srgbClr val="F7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CCB"/>
          </a:solidFill>
          <a:ln w="12700">
            <a:solidFill>
              <a:srgbClr val="0F5CCB"/>
            </a:solidFill>
            <a:prstDash val="solid"/>
          </a:ln>
        </p:spPr>
      </p:sp>
      <p:pic>
        <p:nvPicPr>
          <p:cNvPr id="4" name="Image 0" descr="/mnt/data/mulungushi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19456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960120" y="786384"/>
            <a:ext cx="10835640" cy="0"/>
          </a:xfrm>
          <a:prstGeom prst="line">
            <a:avLst/>
          </a:prstGeom>
          <a:noFill/>
          <a:ln w="12700">
            <a:solidFill>
              <a:srgbClr val="B8CC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8890">
            <a:solidFill>
              <a:srgbClr val="B8CC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651052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ICS 441 • Advanced Cybersecurity and Ethical Hacking • Unit 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92840" y="651052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85800" y="1051560"/>
            <a:ext cx="658368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3335">
            <a:solidFill>
              <a:srgbClr val="B8CC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58952" y="1124712"/>
            <a:ext cx="6437376" cy="384048"/>
          </a:xfrm>
          <a:prstGeom prst="roundRect">
            <a:avLst>
              <a:gd name="adj" fmla="val 14286"/>
            </a:avLst>
          </a:prstGeom>
          <a:solidFill>
            <a:srgbClr val="0F5CCB"/>
          </a:solidFill>
          <a:ln w="6350">
            <a:solidFill>
              <a:srgbClr val="0F5CC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1197864"/>
            <a:ext cx="6163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 these points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850392" y="1673352"/>
            <a:ext cx="6254496" cy="43982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Ethical hacking is authorized, scoped, documented and risk-reducing.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Rules of Engagement protect the tester, owner, institution and users.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Threat modeling asks what can go wrong before it happens.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 test plan converts threat hypotheses into safe, repeatable validation.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 risk register tracks risk, likelihood, impact, mitigation, owner and status.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7635240" y="201168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EEF7FF"/>
          </a:solidFill>
          <a:ln w="12700">
            <a:solidFill>
              <a:srgbClr val="B8CC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18120" y="2157984"/>
            <a:ext cx="347472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F5C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+ ethics + evidence + judgment.</a:t>
            </a:r>
            <a:endParaRPr lang="en-US" sz="2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E"/>
          </a:solidFill>
          <a:ln w="12700">
            <a:solidFill>
              <a:srgbClr val="F7FAF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5CCB"/>
          </a:solidFill>
          <a:ln w="12700">
            <a:solidFill>
              <a:srgbClr val="0F5CCB"/>
            </a:solidFill>
            <a:prstDash val="solid"/>
          </a:ln>
        </p:spPr>
      </p:sp>
      <p:pic>
        <p:nvPicPr>
          <p:cNvPr id="4" name="Image 0" descr="/mnt/data/mulungushi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19456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0116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and next preparation</a:t>
            </a:r>
            <a:endParaRPr lang="en-US" sz="2900" dirty="0"/>
          </a:p>
        </p:txBody>
      </p:sp>
      <p:sp>
        <p:nvSpPr>
          <p:cNvPr id="6" name="Shape 3"/>
          <p:cNvSpPr/>
          <p:nvPr/>
        </p:nvSpPr>
        <p:spPr>
          <a:xfrm>
            <a:off x="960120" y="786384"/>
            <a:ext cx="10835640" cy="0"/>
          </a:xfrm>
          <a:prstGeom prst="line">
            <a:avLst/>
          </a:prstGeom>
          <a:noFill/>
          <a:ln w="12700">
            <a:solidFill>
              <a:srgbClr val="B8CC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8890">
            <a:solidFill>
              <a:srgbClr val="B8CC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651052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ICS 441 • Advanced Cybersecurity and Ethical Hacking • Unit 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92840" y="651052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63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68680" y="1234440"/>
            <a:ext cx="10515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2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aim is not to create reckless hackers. The aim is to develop security professionals who can analyze systems, understand risk, test safely and strengthen organizations.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1536192" y="3054096"/>
            <a:ext cx="9134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the next class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3886200" y="53492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F5C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3148</Words>
  <Application>Microsoft Office PowerPoint</Application>
  <PresentationFormat>Widescreen</PresentationFormat>
  <Paragraphs>503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Mulungushi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ICS441 Unit 1 Revised - Large Bullet Aligned Notes</dc:title>
  <dc:subject>ICS 441 Advanced Cybersecurity and Ethical Hacking - Unit 1 revised with visible bullets</dc:subject>
  <dc:creator>OpenAI</dc:creator>
  <cp:lastModifiedBy>HP EliteBook</cp:lastModifiedBy>
  <cp:revision>8</cp:revision>
  <dcterms:created xsi:type="dcterms:W3CDTF">2026-09-06T07:59:38Z</dcterms:created>
  <dcterms:modified xsi:type="dcterms:W3CDTF">2026-09-07T09:05:00Z</dcterms:modified>
</cp:coreProperties>
</file>