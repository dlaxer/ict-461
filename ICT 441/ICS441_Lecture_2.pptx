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1" r:id="rId32"/>
    <p:sldId id="294" r:id="rId33"/>
    <p:sldId id="295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431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2918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384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MULUNGUSHI UNIVERSITY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71323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Engineering and Technology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481328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Cybersecurity and Ethical Hacking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640080" y="312724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3: Reconnaissance and OSINT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58368" y="4069080"/>
            <a:ext cx="4526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427939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</a:t>
            </a:r>
            <a:r>
              <a:rPr lang="en-US" sz="1900" b="1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</a:t>
            </a:r>
            <a:r>
              <a:rPr lang="en-US" sz="1900" b="1" smtClean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Lecturer</a:t>
            </a:r>
            <a:r>
              <a:rPr lang="en-US" sz="1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Mr. M Bwalya</a:t>
            </a:r>
            <a:endParaRPr lang="en-US" sz="1900" dirty="0"/>
          </a:p>
        </p:txBody>
      </p:sp>
      <p:pic>
        <p:nvPicPr>
          <p:cNvPr id="11" name="Image 1" descr="/mnt/data/a_cinematic_high_resolution_stylized_cybersecuri.png"/>
          <p:cNvPicPr>
            <a:picLocks noChangeAspect="1"/>
          </p:cNvPicPr>
          <p:nvPr/>
        </p:nvPicPr>
        <p:blipFill>
          <a:blip r:embed="rId4"/>
          <a:srcRect l="19253" r="19253"/>
          <a:stretch/>
        </p:blipFill>
        <p:spPr>
          <a:xfrm>
            <a:off x="5989320" y="960120"/>
            <a:ext cx="5715000" cy="5230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 for Unit 3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1197864"/>
            <a:ext cx="6190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unit, students should be able to: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 reconnaissance and OSINT in ethical hacking.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Differentiate passive and active reconnaissance using safe examples.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authorised OSINT sources and the risks they reveal.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reconnaissance findings to map attack surface and improve defence.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findings using clear bullets, evidence and responsible language.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 is useful only when it is legal, scoped and defensive.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picture: Reconnaissance and OSINT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a_wide_infographic_scene_clean_vector_3d_style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345" y="1115568"/>
            <a:ext cx="7392550" cy="4160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54132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teaching visual: OSINT should find, understand and protect — not harm.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reconnaissance?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1197864"/>
            <a:ext cx="6190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definition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Reconnaissance is the first stage of an ethical hacking or penetration test.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focuses on gathering information about a target before deeper testing.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helps testers understand assets, technologies, people, services and exposures.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must be performed only within authorised scope and approved rules of engagement.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Good reconnaissance reduces guesswork and makes testing more focused.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understand the target; then test safely.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OSINT?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4870" y="960120"/>
            <a:ext cx="1101852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lect2_extract/ppt/media/image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9117" y="1115568"/>
            <a:ext cx="6221085" cy="46609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5806440"/>
            <a:ext cx="10241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 discussion: what public information about an institution can attackers and defenders both see?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vs active reconnaissance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078992"/>
            <a:ext cx="11201400" cy="468172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" y="1243584"/>
            <a:ext cx="1828800" cy="457200"/>
          </a:xfrm>
          <a:prstGeom prst="rect">
            <a:avLst/>
          </a:prstGeom>
          <a:solidFill>
            <a:srgbClr val="0F5C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" y="136245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96312" y="1243584"/>
            <a:ext cx="2880360" cy="457200"/>
          </a:xfrm>
          <a:prstGeom prst="rect">
            <a:avLst/>
          </a:prstGeom>
          <a:solidFill>
            <a:srgbClr val="0F5C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51176" y="1362456"/>
            <a:ext cx="2770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reconnaissance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76672" y="1243584"/>
            <a:ext cx="2926080" cy="457200"/>
          </a:xfrm>
          <a:prstGeom prst="rect">
            <a:avLst/>
          </a:prstGeom>
          <a:solidFill>
            <a:srgbClr val="0F5C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31536" y="1362456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reconnaissance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02752" y="1243584"/>
            <a:ext cx="3108960" cy="457200"/>
          </a:xfrm>
          <a:prstGeom prst="rect">
            <a:avLst/>
          </a:prstGeom>
          <a:solidFill>
            <a:srgbClr val="0F5C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57616" y="136245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7512" y="1700784"/>
            <a:ext cx="182880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" y="184708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2496312" y="1700784"/>
            <a:ext cx="288036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9464" y="184708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contact with target systems</a:t>
            </a:r>
            <a:endParaRPr lang="en-US" sz="1280" dirty="0"/>
          </a:p>
        </p:txBody>
      </p:sp>
      <p:sp>
        <p:nvSpPr>
          <p:cNvPr id="23" name="Shape 20"/>
          <p:cNvSpPr/>
          <p:nvPr/>
        </p:nvSpPr>
        <p:spPr>
          <a:xfrm>
            <a:off x="5376672" y="1700784"/>
            <a:ext cx="292608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9824" y="184708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engagement with target systems</a:t>
            </a:r>
            <a:endParaRPr lang="en-US" sz="1280" dirty="0"/>
          </a:p>
        </p:txBody>
      </p:sp>
      <p:sp>
        <p:nvSpPr>
          <p:cNvPr id="25" name="Shape 22"/>
          <p:cNvSpPr/>
          <p:nvPr/>
        </p:nvSpPr>
        <p:spPr>
          <a:xfrm>
            <a:off x="8302752" y="1700784"/>
            <a:ext cx="310896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75904" y="184708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is usually lower risk</a:t>
            </a:r>
            <a:endParaRPr lang="en-US" sz="1280" dirty="0"/>
          </a:p>
        </p:txBody>
      </p:sp>
      <p:sp>
        <p:nvSpPr>
          <p:cNvPr id="27" name="Shape 24"/>
          <p:cNvSpPr/>
          <p:nvPr/>
        </p:nvSpPr>
        <p:spPr>
          <a:xfrm>
            <a:off x="667512" y="2450592"/>
            <a:ext cx="1828800" cy="749808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0664" y="259689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80" dirty="0"/>
          </a:p>
        </p:txBody>
      </p:sp>
      <p:sp>
        <p:nvSpPr>
          <p:cNvPr id="29" name="Shape 26"/>
          <p:cNvSpPr/>
          <p:nvPr/>
        </p:nvSpPr>
        <p:spPr>
          <a:xfrm>
            <a:off x="2496312" y="2450592"/>
            <a:ext cx="2880360" cy="749808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69464" y="2596896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Websites, search engines, job posts, social media</a:t>
            </a:r>
            <a:endParaRPr lang="en-US" sz="1280" dirty="0"/>
          </a:p>
        </p:txBody>
      </p:sp>
      <p:sp>
        <p:nvSpPr>
          <p:cNvPr id="31" name="Shape 28"/>
          <p:cNvSpPr/>
          <p:nvPr/>
        </p:nvSpPr>
        <p:spPr>
          <a:xfrm>
            <a:off x="5376672" y="2450592"/>
            <a:ext cx="2926080" cy="749808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49824" y="2596896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Ping, banner checks, approved scanning</a:t>
            </a:r>
            <a:endParaRPr lang="en-US" sz="1280" dirty="0"/>
          </a:p>
        </p:txBody>
      </p:sp>
      <p:sp>
        <p:nvSpPr>
          <p:cNvPr id="33" name="Shape 30"/>
          <p:cNvSpPr/>
          <p:nvPr/>
        </p:nvSpPr>
        <p:spPr>
          <a:xfrm>
            <a:off x="8302752" y="2450592"/>
            <a:ext cx="3108960" cy="749808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75904" y="259689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actions require explicit authorization</a:t>
            </a:r>
            <a:endParaRPr lang="en-US" sz="1280" dirty="0"/>
          </a:p>
        </p:txBody>
      </p:sp>
      <p:sp>
        <p:nvSpPr>
          <p:cNvPr id="35" name="Shape 32"/>
          <p:cNvSpPr/>
          <p:nvPr/>
        </p:nvSpPr>
        <p:spPr>
          <a:xfrm>
            <a:off x="667512" y="3200400"/>
            <a:ext cx="182880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0664" y="33467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risk</a:t>
            </a:r>
            <a:endParaRPr lang="en-US" sz="1280" dirty="0"/>
          </a:p>
        </p:txBody>
      </p:sp>
      <p:sp>
        <p:nvSpPr>
          <p:cNvPr id="37" name="Shape 34"/>
          <p:cNvSpPr/>
          <p:nvPr/>
        </p:nvSpPr>
        <p:spPr>
          <a:xfrm>
            <a:off x="2496312" y="3200400"/>
            <a:ext cx="288036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569464" y="3346704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visibility to the target</a:t>
            </a:r>
            <a:endParaRPr lang="en-US" sz="1280" dirty="0"/>
          </a:p>
        </p:txBody>
      </p:sp>
      <p:sp>
        <p:nvSpPr>
          <p:cNvPr id="39" name="Shape 36"/>
          <p:cNvSpPr/>
          <p:nvPr/>
        </p:nvSpPr>
        <p:spPr>
          <a:xfrm>
            <a:off x="5376672" y="3200400"/>
            <a:ext cx="292608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49824" y="3346704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appear in logs and alerts</a:t>
            </a:r>
            <a:endParaRPr lang="en-US" sz="1280" dirty="0"/>
          </a:p>
        </p:txBody>
      </p:sp>
      <p:sp>
        <p:nvSpPr>
          <p:cNvPr id="41" name="Shape 38"/>
          <p:cNvSpPr/>
          <p:nvPr/>
        </p:nvSpPr>
        <p:spPr>
          <a:xfrm>
            <a:off x="8302752" y="3200400"/>
            <a:ext cx="310896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75904" y="3346704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timing and rate limits</a:t>
            </a:r>
            <a:endParaRPr lang="en-US" sz="1280" dirty="0"/>
          </a:p>
        </p:txBody>
      </p:sp>
      <p:sp>
        <p:nvSpPr>
          <p:cNvPr id="43" name="Shape 40"/>
          <p:cNvSpPr/>
          <p:nvPr/>
        </p:nvSpPr>
        <p:spPr>
          <a:xfrm>
            <a:off x="667512" y="3950208"/>
            <a:ext cx="1828800" cy="749808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0664" y="409651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 labs</a:t>
            </a:r>
            <a:endParaRPr lang="en-US" sz="1280" dirty="0"/>
          </a:p>
        </p:txBody>
      </p:sp>
      <p:sp>
        <p:nvSpPr>
          <p:cNvPr id="45" name="Shape 42"/>
          <p:cNvSpPr/>
          <p:nvPr/>
        </p:nvSpPr>
        <p:spPr>
          <a:xfrm>
            <a:off x="2496312" y="3950208"/>
            <a:ext cx="2880360" cy="749808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569464" y="409651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and safe learning tasks</a:t>
            </a:r>
            <a:endParaRPr lang="en-US" sz="1280" dirty="0"/>
          </a:p>
        </p:txBody>
      </p:sp>
      <p:sp>
        <p:nvSpPr>
          <p:cNvPr id="47" name="Shape 44"/>
          <p:cNvSpPr/>
          <p:nvPr/>
        </p:nvSpPr>
        <p:spPr>
          <a:xfrm>
            <a:off x="5376672" y="3950208"/>
            <a:ext cx="2926080" cy="749808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49824" y="4096512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lab or approved target only</a:t>
            </a:r>
            <a:endParaRPr lang="en-US" sz="1280" dirty="0"/>
          </a:p>
        </p:txBody>
      </p:sp>
      <p:sp>
        <p:nvSpPr>
          <p:cNvPr id="49" name="Shape 46"/>
          <p:cNvSpPr/>
          <p:nvPr/>
        </p:nvSpPr>
        <p:spPr>
          <a:xfrm>
            <a:off x="8302752" y="3950208"/>
            <a:ext cx="3108960" cy="749808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375904" y="409651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test production without written consent</a:t>
            </a:r>
            <a:endParaRPr lang="en-US" sz="1280" dirty="0"/>
          </a:p>
        </p:txBody>
      </p:sp>
      <p:sp>
        <p:nvSpPr>
          <p:cNvPr id="51" name="Shape 48"/>
          <p:cNvSpPr/>
          <p:nvPr/>
        </p:nvSpPr>
        <p:spPr>
          <a:xfrm>
            <a:off x="667512" y="4700016"/>
            <a:ext cx="182880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40664" y="48463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value</a:t>
            </a:r>
            <a:endParaRPr lang="en-US" sz="1280" dirty="0"/>
          </a:p>
        </p:txBody>
      </p:sp>
      <p:sp>
        <p:nvSpPr>
          <p:cNvPr id="53" name="Shape 50"/>
          <p:cNvSpPr/>
          <p:nvPr/>
        </p:nvSpPr>
        <p:spPr>
          <a:xfrm>
            <a:off x="2496312" y="4700016"/>
            <a:ext cx="288036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569464" y="484632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context and public footprint</a:t>
            </a:r>
            <a:endParaRPr lang="en-US" sz="1280" dirty="0"/>
          </a:p>
        </p:txBody>
      </p:sp>
      <p:sp>
        <p:nvSpPr>
          <p:cNvPr id="55" name="Shape 52"/>
          <p:cNvSpPr/>
          <p:nvPr/>
        </p:nvSpPr>
        <p:spPr>
          <a:xfrm>
            <a:off x="5376672" y="4700016"/>
            <a:ext cx="292608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49824" y="48463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live services and exposures</a:t>
            </a:r>
            <a:endParaRPr lang="en-US" sz="1280" dirty="0"/>
          </a:p>
        </p:txBody>
      </p:sp>
      <p:sp>
        <p:nvSpPr>
          <p:cNvPr id="57" name="Shape 54"/>
          <p:cNvSpPr/>
          <p:nvPr/>
        </p:nvSpPr>
        <p:spPr>
          <a:xfrm>
            <a:off x="8302752" y="4700016"/>
            <a:ext cx="310896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75904" y="484632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both responsibly</a:t>
            </a:r>
            <a:endParaRPr lang="en-US" sz="1280" dirty="0"/>
          </a:p>
        </p:txBody>
      </p:sp>
      <p:sp>
        <p:nvSpPr>
          <p:cNvPr id="59" name="Text 56"/>
          <p:cNvSpPr/>
          <p:nvPr/>
        </p:nvSpPr>
        <p:spPr>
          <a:xfrm>
            <a:off x="777240" y="5925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must explain the legal boundary, not just define the terms.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reconnaissance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direct interaction with the target; it leaves no footprint on target systems.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Sources include public websites, social media, job postings and search engines.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Tools may include Google search operators, Shodan, public repositories and link analysis tools.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Goal: identify infrastructure, technologies and possible exposures without alerting the target.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only public data and document sources carefully.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does not mean careless; privacy still matters.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reconnaissance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reconnaissance involves direct engagement with the target network or system.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Examples include network discovery, banner grabbing and approved service checks.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has higher risk of detection because systems may log the activity.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must be approved in the ROE before it is attempted.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rate limits, lab targets and monitoring to avoid disruption.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testing without approval is not ethical hacking.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reconnaissance matters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124712"/>
            <a:ext cx="520293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19786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ethical hacking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22960" y="1691640"/>
            <a:ext cx="502005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the foundation for later testing.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reveals technologies, entry points and exposed assets.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helps testers focus on high-value systems.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reduces blind scanning and wasted effort.</a:t>
            </a:r>
            <a:endParaRPr lang="en-US" sz="2080" dirty="0"/>
          </a:p>
        </p:txBody>
      </p:sp>
      <p:sp>
        <p:nvSpPr>
          <p:cNvPr id="14" name="Shape 11"/>
          <p:cNvSpPr/>
          <p:nvPr/>
        </p:nvSpPr>
        <p:spPr>
          <a:xfrm>
            <a:off x="6236208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1124712"/>
            <a:ext cx="5202936" cy="402336"/>
          </a:xfrm>
          <a:prstGeom prst="roundRect">
            <a:avLst>
              <a:gd name="adj" fmla="val 1363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5664" y="119786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defence</a:t>
            </a:r>
            <a:endParaRPr lang="en-US" sz="1680" dirty="0"/>
          </a:p>
        </p:txBody>
      </p:sp>
      <p:sp>
        <p:nvSpPr>
          <p:cNvPr id="17" name="Text 14"/>
          <p:cNvSpPr/>
          <p:nvPr/>
        </p:nvSpPr>
        <p:spPr>
          <a:xfrm>
            <a:off x="6400800" y="1691640"/>
            <a:ext cx="502005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shows what attackers can learn before attacking.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helps security teams reduce public exposure.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supports early threat detection and monitoring.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strengthens incident response preparation.</a:t>
            </a:r>
            <a:endParaRPr lang="en-US" sz="20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Reconnaissance, risk and compliance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124712"/>
            <a:ext cx="520293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19786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value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22960" y="1691640"/>
            <a:ext cx="502005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Exposed systems can be prioritised by likelihood and impact.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Findings guide patching, hardening and access review.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High-risk assets should be escalated early.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output becomes evidence for a risk register.</a:t>
            </a:r>
            <a:endParaRPr lang="en-US" sz="2080" dirty="0"/>
          </a:p>
        </p:txBody>
      </p:sp>
      <p:sp>
        <p:nvSpPr>
          <p:cNvPr id="14" name="Shape 11"/>
          <p:cNvSpPr/>
          <p:nvPr/>
        </p:nvSpPr>
        <p:spPr>
          <a:xfrm>
            <a:off x="6236208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1124712"/>
            <a:ext cx="5202936" cy="402336"/>
          </a:xfrm>
          <a:prstGeom prst="roundRect">
            <a:avLst>
              <a:gd name="adj" fmla="val 1363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5664" y="119786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and reporting value</a:t>
            </a:r>
            <a:endParaRPr lang="en-US" sz="1680" dirty="0"/>
          </a:p>
        </p:txBody>
      </p:sp>
      <p:sp>
        <p:nvSpPr>
          <p:cNvPr id="17" name="Text 14"/>
          <p:cNvSpPr/>
          <p:nvPr/>
        </p:nvSpPr>
        <p:spPr>
          <a:xfrm>
            <a:off x="6400800" y="1691640"/>
            <a:ext cx="502005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Many security standards expect structured assessment evidence.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clear recon report shows due care and due diligence.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Repeatable methods support auditability.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Findings should be factual, dated and traceable.</a:t>
            </a:r>
            <a:endParaRPr lang="en-US" sz="20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 workflow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98755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safe, repeatable learning process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1938528"/>
            <a:ext cx="301752" cy="301752"/>
          </a:xfrm>
          <a:prstGeom prst="ellipse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002536"/>
            <a:ext cx="301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4088" y="22585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21792" y="2980944"/>
            <a:ext cx="1517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scope and objectives.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2231136" y="2350008"/>
            <a:ext cx="109728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359152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32304" y="1938528"/>
            <a:ext cx="301752" cy="301752"/>
          </a:xfrm>
          <a:prstGeom prst="ellipse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32304" y="2002536"/>
            <a:ext cx="301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514600" y="22585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2432304" y="2980944"/>
            <a:ext cx="1517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public information.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4041648" y="2350008"/>
            <a:ext cx="109728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169664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42816" y="1938528"/>
            <a:ext cx="301752" cy="301752"/>
          </a:xfrm>
          <a:prstGeom prst="ellipse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42816" y="2002536"/>
            <a:ext cx="301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325112" y="22585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4242816" y="2980944"/>
            <a:ext cx="1517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with multiple sources.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5852160" y="2350008"/>
            <a:ext cx="109728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980176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53328" y="1938528"/>
            <a:ext cx="301752" cy="301752"/>
          </a:xfrm>
          <a:prstGeom prst="ellipse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53328" y="2002536"/>
            <a:ext cx="301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135624" y="22585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6053328" y="2980944"/>
            <a:ext cx="1517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assets and exposures.</a:t>
            </a:r>
            <a:endParaRPr lang="en-US" sz="1320" dirty="0"/>
          </a:p>
        </p:txBody>
      </p:sp>
      <p:sp>
        <p:nvSpPr>
          <p:cNvPr id="34" name="Shape 31"/>
          <p:cNvSpPr/>
          <p:nvPr/>
        </p:nvSpPr>
        <p:spPr>
          <a:xfrm>
            <a:off x="7662672" y="2350008"/>
            <a:ext cx="109728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790688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63840" y="1938528"/>
            <a:ext cx="301752" cy="301752"/>
          </a:xfrm>
          <a:prstGeom prst="ellipse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63840" y="2002536"/>
            <a:ext cx="301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946136" y="22585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7863840" y="2980944"/>
            <a:ext cx="1517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findings to risk.</a:t>
            </a:r>
            <a:endParaRPr lang="en-US" sz="1320" dirty="0"/>
          </a:p>
        </p:txBody>
      </p:sp>
      <p:sp>
        <p:nvSpPr>
          <p:cNvPr id="40" name="Shape 37"/>
          <p:cNvSpPr/>
          <p:nvPr/>
        </p:nvSpPr>
        <p:spPr>
          <a:xfrm>
            <a:off x="9473184" y="2350008"/>
            <a:ext cx="109728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601200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674352" y="1938528"/>
            <a:ext cx="301752" cy="301752"/>
          </a:xfrm>
          <a:prstGeom prst="ellipse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674352" y="2002536"/>
            <a:ext cx="301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9756648" y="22585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450" dirty="0"/>
          </a:p>
        </p:txBody>
      </p:sp>
      <p:sp>
        <p:nvSpPr>
          <p:cNvPr id="45" name="Text 42"/>
          <p:cNvSpPr/>
          <p:nvPr/>
        </p:nvSpPr>
        <p:spPr>
          <a:xfrm>
            <a:off x="9674352" y="2980944"/>
            <a:ext cx="1517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defensive action.</a:t>
            </a:r>
            <a:endParaRPr lang="en-US" sz="1320" dirty="0"/>
          </a:p>
        </p:txBody>
      </p:sp>
      <p:sp>
        <p:nvSpPr>
          <p:cNvPr id="46" name="Shape 43"/>
          <p:cNvSpPr/>
          <p:nvPr/>
        </p:nvSpPr>
        <p:spPr>
          <a:xfrm>
            <a:off x="1005840" y="5257800"/>
            <a:ext cx="10195560" cy="685800"/>
          </a:xfrm>
          <a:prstGeom prst="roundRect">
            <a:avLst>
              <a:gd name="adj" fmla="val 10667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207008" y="5422392"/>
            <a:ext cx="9793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principle: collect only what is authorised, public, necessary and useful for defence.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OSINT methods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lect2_extract/ppt/media/image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039" y="1115568"/>
            <a:ext cx="5553163" cy="4160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5806440"/>
            <a:ext cx="10241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Ask students: Which of these sources would help map a university public footprint?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OSINT resources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lect2_extract/ppt/media/image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039" y="1115568"/>
            <a:ext cx="5553163" cy="4160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5806440"/>
            <a:ext cx="10241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only legal, public and approved sources; avoid restricted or unauthorised environments.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OSINT source categories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" y="1152144"/>
            <a:ext cx="3529584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" y="12252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web sources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667512" y="1719072"/>
            <a:ext cx="3346704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Institutional websites and subpages.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News articles and public notices.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Blogs, reports and public documents.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engine cached pages.</a:t>
            </a:r>
            <a:endParaRPr lang="en-US" sz="1870" dirty="0"/>
          </a:p>
        </p:txBody>
      </p:sp>
      <p:sp>
        <p:nvSpPr>
          <p:cNvPr id="14" name="Shape 11"/>
          <p:cNvSpPr/>
          <p:nvPr/>
        </p:nvSpPr>
        <p:spPr>
          <a:xfrm>
            <a:off x="43891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2272" y="1152144"/>
            <a:ext cx="3529584" cy="402336"/>
          </a:xfrm>
          <a:prstGeom prst="roundRect">
            <a:avLst>
              <a:gd name="adj" fmla="val 1363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08576" y="12252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organisation sources</a:t>
            </a:r>
            <a:endParaRPr lang="en-US" sz="1680" dirty="0"/>
          </a:p>
        </p:txBody>
      </p:sp>
      <p:sp>
        <p:nvSpPr>
          <p:cNvPr id="17" name="Text 14"/>
          <p:cNvSpPr/>
          <p:nvPr/>
        </p:nvSpPr>
        <p:spPr>
          <a:xfrm>
            <a:off x="4553712" y="1719072"/>
            <a:ext cx="3346704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Social media posts and profiles.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Staff directories and job adverts.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Conference pages and project sites.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professional profiles.</a:t>
            </a:r>
            <a:endParaRPr lang="en-US" sz="1870" dirty="0"/>
          </a:p>
        </p:txBody>
      </p:sp>
      <p:sp>
        <p:nvSpPr>
          <p:cNvPr id="18" name="Shape 15"/>
          <p:cNvSpPr/>
          <p:nvPr/>
        </p:nvSpPr>
        <p:spPr>
          <a:xfrm>
            <a:off x="82753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48472" y="1152144"/>
            <a:ext cx="3529584" cy="402336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94776" y="12252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sources</a:t>
            </a:r>
            <a:endParaRPr lang="en-US" sz="1680" dirty="0"/>
          </a:p>
        </p:txBody>
      </p:sp>
      <p:sp>
        <p:nvSpPr>
          <p:cNvPr id="21" name="Text 18"/>
          <p:cNvSpPr/>
          <p:nvPr/>
        </p:nvSpPr>
        <p:spPr>
          <a:xfrm>
            <a:off x="8439912" y="1719072"/>
            <a:ext cx="3346704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DNS and WHOIS records.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Certificate transparency records.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repositories and leaks.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Exposed service intelligence.</a:t>
            </a:r>
            <a:endParaRPr lang="en-US" sz="18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2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</a:t>
            </a:r>
            <a:r>
              <a:rPr lang="en-US" sz="2900" b="1" dirty="0" smtClean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lect2_extract/ppt/media/image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039" y="1115568"/>
            <a:ext cx="5553163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Shodan: internet-connected device intelligence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1197864"/>
            <a:ext cx="6190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under the subheading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Shodan indexes information about devices exposed to the internet.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may show open ports, banners, service names and known vulnerabilities.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it to understand exposure; do not interact with systems without permission.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 results only for approved lab assets, owned systems or classroom-safe examples.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Defensive value: find accidental exposure before attackers abuse it.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Shodan is a visibility tool; authorization still controls what you may test.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Shodan example visual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lect2_extract/ppt/media/image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039" y="1115568"/>
            <a:ext cx="5553163" cy="4160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5806440"/>
            <a:ext cx="10241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Teaching prompt: what defensive questions should a security team ask after seeing exposed services?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Recon-ng: modular reconnaissance framework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1197864"/>
            <a:ext cx="6190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under the subheading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Recon-ng is a command-line, modular web reconnaissance framework.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automates information-gathering tasks such as DNS enumeration and contact discovery.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can integrate with APIs such as search engines or Shodan.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should be used only in lab or approved engagements.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professional skill is documenting method, source and defensive meaning.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saves time, but it does not replace judgement.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Recon-ng visual from attached notes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lect2_extract/ppt/media/image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039" y="1115568"/>
            <a:ext cx="5553163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 and metadata extraction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1197864"/>
            <a:ext cx="6190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under the subheading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FOCA focuses on metadata hidden in public documents.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Metadata may reveal usernames, software versions, author names or network paths.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Defenders should remove unnecessary metadata before publishing documents.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should practise only on sample files provided for class.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ethical goal is to reduce accidental information leakage.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is “data about data” — and it can expose sensitive clues.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 visual from attached notes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lect2_extract/ppt/media/image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039" y="1115568"/>
            <a:ext cx="5553163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Maltego: link analysis and investigation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1197864"/>
            <a:ext cx="6190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under the subheading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Maltego maps relationships between people, domains, organisations and online identifiers.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presents information as a graph for easier investigation and analysis.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useful for threat intelligence, fraud investigation and public-footprint review.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should avoid collecting unnecessary personal information.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sources and explain why each relationship matters.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analysts turn scattered clues into a clear map.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Maltego visual from attached notes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lect2_extract/ppt/media/image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039" y="1115568"/>
            <a:ext cx="5553163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useful OSINT tools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124712"/>
            <a:ext cx="520293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19786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I Been Pwned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22960" y="1691640"/>
            <a:ext cx="502005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Checks whether an email or domain appears in known breaches.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Useful for credential-exposure monitoring.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awareness and password-reset campaigns.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 not expose or shame affected users.</a:t>
            </a:r>
            <a:endParaRPr lang="en-US" sz="2080" dirty="0"/>
          </a:p>
        </p:txBody>
      </p:sp>
      <p:sp>
        <p:nvSpPr>
          <p:cNvPr id="14" name="Shape 11"/>
          <p:cNvSpPr/>
          <p:nvPr/>
        </p:nvSpPr>
        <p:spPr>
          <a:xfrm>
            <a:off x="6236208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1124712"/>
            <a:ext cx="5202936" cy="402336"/>
          </a:xfrm>
          <a:prstGeom prst="roundRect">
            <a:avLst>
              <a:gd name="adj" fmla="val 1363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5664" y="119786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WHOIS lookup</a:t>
            </a:r>
            <a:endParaRPr lang="en-US" sz="1680" dirty="0"/>
          </a:p>
        </p:txBody>
      </p:sp>
      <p:sp>
        <p:nvSpPr>
          <p:cNvPr id="17" name="Text 14"/>
          <p:cNvSpPr/>
          <p:nvPr/>
        </p:nvSpPr>
        <p:spPr>
          <a:xfrm>
            <a:off x="6400800" y="1691640"/>
            <a:ext cx="502005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Retrieves public domain registration information.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Shows registrar, dates and name-server details.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Helps map domain ownership and infrastructure history.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Some details may be privacy-protected or outdated.</a:t>
            </a:r>
            <a:endParaRPr lang="en-US" sz="20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reputation tools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124712"/>
            <a:ext cx="520293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19786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BuiltWith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22960" y="1691640"/>
            <a:ext cx="502005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Detects website technology stacks such as CMS, frameworks and analytics tools.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Helps identify outdated or risky public technologies.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Useful for inventory and competitor awareness.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findings before reporting them.</a:t>
            </a:r>
            <a:endParaRPr lang="en-US" sz="2080" dirty="0"/>
          </a:p>
        </p:txBody>
      </p:sp>
      <p:sp>
        <p:nvSpPr>
          <p:cNvPr id="14" name="Shape 11"/>
          <p:cNvSpPr/>
          <p:nvPr/>
        </p:nvSpPr>
        <p:spPr>
          <a:xfrm>
            <a:off x="6236208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1124712"/>
            <a:ext cx="5202936" cy="402336"/>
          </a:xfrm>
          <a:prstGeom prst="roundRect">
            <a:avLst>
              <a:gd name="adj" fmla="val 1363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5664" y="1197864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</a:t>
            </a:r>
            <a:endParaRPr lang="en-US" sz="1680" dirty="0"/>
          </a:p>
        </p:txBody>
      </p:sp>
      <p:sp>
        <p:nvSpPr>
          <p:cNvPr id="17" name="Text 14"/>
          <p:cNvSpPr/>
          <p:nvPr/>
        </p:nvSpPr>
        <p:spPr>
          <a:xfrm>
            <a:off x="6400800" y="1691640"/>
            <a:ext cx="502005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Checks file hashes, URLs and indicators against multiple engines.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Useful for reputation and initial triage.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Avoid uploading sensitive internal files without approval.</a:t>
            </a:r>
            <a:endParaRPr lang="en-US" sz="2080" dirty="0"/>
          </a:p>
          <a:p>
            <a:pPr marL="0" indent="0">
              <a:buNone/>
            </a:pPr>
            <a:r>
              <a:rPr lang="en-US" sz="2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hashes when possible to protect confidentiality.</a:t>
            </a:r>
            <a:endParaRPr lang="en-US" sz="20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OSINT resources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lect2_extract/ppt/media/image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039" y="1115568"/>
            <a:ext cx="5553163" cy="416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and WHOIS interrogation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DNS records can reveal domains, subdomains, mail services and name servers.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WHOIS may reveal domain registration and administrative information.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Certificate records may reveal forgotten hostnames or test systems.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 multiple sources before drawing conclusions.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 only what is relevant to the authorised security objective.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often reveals how an organisation is structured online.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and privacy concerns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Metadata may include author names, edit history, software versions and timestamps.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Published documents can unintentionally reveal internal systems or naming conventions.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Images may contain location or device details when not cleaned properly.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teams should use metadata review before publication.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must practise data minimisation and avoid unnecessary personal data collection.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collect more than you need to prove the risk.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attack-surface map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" y="1152144"/>
            <a:ext cx="3529584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" y="12252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667512" y="1719072"/>
            <a:ext cx="3346704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Domains and subdomains.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apps and APIs.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services and storage.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endpoints and exposed portals.</a:t>
            </a:r>
            <a:endParaRPr lang="en-US" sz="1870" dirty="0"/>
          </a:p>
        </p:txBody>
      </p:sp>
      <p:sp>
        <p:nvSpPr>
          <p:cNvPr id="14" name="Shape 11"/>
          <p:cNvSpPr/>
          <p:nvPr/>
        </p:nvSpPr>
        <p:spPr>
          <a:xfrm>
            <a:off x="43891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2272" y="1152144"/>
            <a:ext cx="3529584" cy="402336"/>
          </a:xfrm>
          <a:prstGeom prst="roundRect">
            <a:avLst>
              <a:gd name="adj" fmla="val 1363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08576" y="12252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points</a:t>
            </a:r>
            <a:endParaRPr lang="en-US" sz="1680" dirty="0"/>
          </a:p>
        </p:txBody>
      </p:sp>
      <p:sp>
        <p:nvSpPr>
          <p:cNvPr id="17" name="Text 14"/>
          <p:cNvSpPr/>
          <p:nvPr/>
        </p:nvSpPr>
        <p:spPr>
          <a:xfrm>
            <a:off x="4553712" y="1719072"/>
            <a:ext cx="3346704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 and password reset pages.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uploads and admin panels.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services and public repositories.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Third-party integrations.</a:t>
            </a:r>
            <a:endParaRPr lang="en-US" sz="1870" dirty="0"/>
          </a:p>
        </p:txBody>
      </p:sp>
      <p:sp>
        <p:nvSpPr>
          <p:cNvPr id="18" name="Shape 15"/>
          <p:cNvSpPr/>
          <p:nvPr/>
        </p:nvSpPr>
        <p:spPr>
          <a:xfrm>
            <a:off x="82753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48472" y="1152144"/>
            <a:ext cx="3529584" cy="402336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94776" y="12252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680" dirty="0"/>
          </a:p>
        </p:txBody>
      </p:sp>
      <p:sp>
        <p:nvSpPr>
          <p:cNvPr id="21" name="Text 18"/>
          <p:cNvSpPr/>
          <p:nvPr/>
        </p:nvSpPr>
        <p:spPr>
          <a:xfrm>
            <a:off x="8439912" y="1719072"/>
            <a:ext cx="3346704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 URL or screenshot.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 and time collected.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it matters for risk.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Recommended defensive action.</a:t>
            </a:r>
            <a:endParaRPr lang="en-US" sz="18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signals found during reconnaissance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Exposed administration panels or login portals.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Outdated technologies shown by banners or public pages.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repositories containing secrets or configuration files.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Leaked credentials or email patterns found in breach datasets.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Documents containing metadata that reveals internal usernames or systems.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recon finding becomes useful when it is linked to risk.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defenders reduce reconnaissance value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" y="1152144"/>
            <a:ext cx="3529584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" y="12252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exposure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667512" y="1719072"/>
            <a:ext cx="3346704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Remove unnecessary public services.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 metadata before publishing.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Disable directory listing and verbose banners.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public repositories.</a:t>
            </a:r>
            <a:endParaRPr lang="en-US" sz="1870" dirty="0"/>
          </a:p>
        </p:txBody>
      </p:sp>
      <p:sp>
        <p:nvSpPr>
          <p:cNvPr id="14" name="Shape 11"/>
          <p:cNvSpPr/>
          <p:nvPr/>
        </p:nvSpPr>
        <p:spPr>
          <a:xfrm>
            <a:off x="43891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2272" y="1152144"/>
            <a:ext cx="3529584" cy="402336"/>
          </a:xfrm>
          <a:prstGeom prst="roundRect">
            <a:avLst>
              <a:gd name="adj" fmla="val 1363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08576" y="12252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identity</a:t>
            </a:r>
            <a:endParaRPr lang="en-US" sz="1680" dirty="0"/>
          </a:p>
        </p:txBody>
      </p:sp>
      <p:sp>
        <p:nvSpPr>
          <p:cNvPr id="17" name="Text 14"/>
          <p:cNvSpPr/>
          <p:nvPr/>
        </p:nvSpPr>
        <p:spPr>
          <a:xfrm>
            <a:off x="4553712" y="1719072"/>
            <a:ext cx="3346704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 MFA on exposed portals.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least privilege and strong password policy.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 failed logins and unusual activity.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Rotate exposed credentials immediately.</a:t>
            </a:r>
            <a:endParaRPr lang="en-US" sz="1870" dirty="0"/>
          </a:p>
        </p:txBody>
      </p:sp>
      <p:sp>
        <p:nvSpPr>
          <p:cNvPr id="18" name="Shape 15"/>
          <p:cNvSpPr/>
          <p:nvPr/>
        </p:nvSpPr>
        <p:spPr>
          <a:xfrm>
            <a:off x="82753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48472" y="1152144"/>
            <a:ext cx="3529584" cy="402336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94776" y="12252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and respond</a:t>
            </a:r>
            <a:endParaRPr lang="en-US" sz="1680" dirty="0"/>
          </a:p>
        </p:txBody>
      </p:sp>
      <p:sp>
        <p:nvSpPr>
          <p:cNvPr id="21" name="Text 18"/>
          <p:cNvSpPr/>
          <p:nvPr/>
        </p:nvSpPr>
        <p:spPr>
          <a:xfrm>
            <a:off x="8439912" y="1719072"/>
            <a:ext cx="3346704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Watch DNS, certificate and brand impersonation changes.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 on scanning patterns.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 asset inventory.</a:t>
            </a: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actions in the risk register.</a:t>
            </a:r>
            <a:endParaRPr lang="en-US" sz="18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1197864"/>
            <a:ext cx="6190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these questions in class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the difference between reconnaissance and OSINT?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is passive reconnaissance usually lower risk than active reconnaissance?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 three OSINT sources and explain what each can reveal.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can metadata become a security or privacy concern?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can reconnaissance findings improve defensive security?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examples, not memorised definitions.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summary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804672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96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3: Reconnaissance and OSINT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629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83096" cy="402336"/>
          </a:xfrm>
          <a:prstGeom prst="roundRect">
            <a:avLst>
              <a:gd name="adj" fmla="val 1363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1197864"/>
            <a:ext cx="6190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850392" y="1691640"/>
            <a:ext cx="6300216" cy="43799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Reconnaissance is the first information-gathering stage of ethical hacking.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OSINT uses publicly available information to understand the target footprint.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Passive recon avoids direct target interaction; active recon requires stronger authorization.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Tools such as Shodan, Recon-ng, FOCA and Maltego help organise public intelligence.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professional outcome is better defence: reduced exposure, stronger monitoring and clear reporting.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6408" y="2130552"/>
            <a:ext cx="34381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Find. Understand. Protect.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2514</Words>
  <Application>Microsoft Office PowerPoint</Application>
  <PresentationFormat>Widescreen</PresentationFormat>
  <Paragraphs>357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Mulungushi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ICS441 Unit 3 Reconnaissance and OSINT</dc:title>
  <dc:subject>ICS441 Advanced Cybersecurity and Ethical Hacking - Unit 3 Reconnaissance and OSINT</dc:subject>
  <dc:creator>OpenAI</dc:creator>
  <cp:lastModifiedBy>HP EliteBook</cp:lastModifiedBy>
  <cp:revision>6</cp:revision>
  <dcterms:created xsi:type="dcterms:W3CDTF">2026-09-06T08:29:01Z</dcterms:created>
  <dcterms:modified xsi:type="dcterms:W3CDTF">2026-09-08T08:03:29Z</dcterms:modified>
</cp:coreProperties>
</file>