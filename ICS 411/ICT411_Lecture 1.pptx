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8"/>
  </p:notesMasterIdLst>
  <p:sldIdLst>
    <p:sldId id="256" r:id="rId2"/>
    <p:sldId id="257" r:id="rId3"/>
    <p:sldId id="258" r:id="rId4"/>
    <p:sldId id="259" r:id="rId5"/>
    <p:sldId id="260" r:id="rId6"/>
    <p:sldId id="264" r:id="rId7"/>
    <p:sldId id="265" r:id="rId8"/>
    <p:sldId id="266" r:id="rId9"/>
    <p:sldId id="267" r:id="rId10"/>
    <p:sldId id="268" r:id="rId11"/>
    <p:sldId id="269" r:id="rId12"/>
    <p:sldId id="270" r:id="rId13"/>
    <p:sldId id="271" r:id="rId14"/>
    <p:sldId id="272" r:id="rId15"/>
    <p:sldId id="273" r:id="rId16"/>
    <p:sldId id="274" r:id="rId17"/>
    <p:sldId id="275" r:id="rId18"/>
    <p:sldId id="276" r:id="rId19"/>
    <p:sldId id="277" r:id="rId20"/>
    <p:sldId id="278" r:id="rId21"/>
    <p:sldId id="279" r:id="rId22"/>
    <p:sldId id="280" r:id="rId23"/>
    <p:sldId id="281" r:id="rId24"/>
    <p:sldId id="282" r:id="rId25"/>
    <p:sldId id="283" r:id="rId26"/>
    <p:sldId id="284" r:id="rId27"/>
    <p:sldId id="285" r:id="rId28"/>
    <p:sldId id="286" r:id="rId29"/>
    <p:sldId id="287" r:id="rId30"/>
    <p:sldId id="288" r:id="rId31"/>
    <p:sldId id="289" r:id="rId32"/>
    <p:sldId id="290" r:id="rId33"/>
    <p:sldId id="291" r:id="rId34"/>
    <p:sldId id="292" r:id="rId35"/>
    <p:sldId id="293" r:id="rId36"/>
    <p:sldId id="295" r:id="rId3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1" d="100"/>
          <a:sy n="91" d="100"/>
        </p:scale>
        <p:origin x="504" y="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5122890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cloud computing as a practical design topic. Students should leave the unit able to discuss cloud adoption with technical and business reasoning.</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Emphasize that students will not only memorize definitions; they must explain, compare, evaluate, and justify decisions.</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set expectations and keep students oriented throughout the lecture.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Relate this to student portals, e-learning systems, mobile apps, online banking, and public service platforms.</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identify systems that become overloaded at predictable peak periods.</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diagram to show how virtualization improves hardware utilisation and isolation. Then connect virtualization to automation, networking, APIs, and data-center scale.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follows the attached lecture definition. Stress “over the internet”, “on demand”, and “without needing local physical infrastructure”.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slide to broaden students’ thinking beyond virtual machines. Cloud includes many managed services.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visual to introduce the five characteristics together: on-demand self-service, broad network access, resource pooling, rapid elasticity, and measured service. Relate each characteristic to the transition from local infrastructure to cloud services.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Give an example: a student team deploying a test website quickly, but with limits so they do not create expensive resources.</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why students sometimes experience slow online platforms even when the cloud provider is not down.</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why resource pooling makes public cloud cheaper than dedicated private infrastructure for many workloads.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 this to operating systems isolation, containers, virtual machines, and access control.</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Contrast elasticity with permanent expansion. Elastic cloud systems should respond to demand changes.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cost thinking without making the lecture financial. Metered services require disciplined design.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data sovereignty and latency as the two core points. Region selection is both technical and legal.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Clarify that cloud does not automatically guarantee high availability; architecture choices matter.</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expands the cost savings point from the lecture notes and adds balanced judgement.</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Connect benefits to student life and industry practice.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elaborates the availability challenge from the attached notes. Use examples such as exams, banking, hospital records, and payroll.</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portability is a trade-off; using advanced provider services can bring benefits but may reduce mobility.</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 simple question: how long would it take to upload terabytes of data over an unreliable connection?</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expands security and confidentiality concerns in the attached notes. Reinforce the shared responsibility idea.</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identity/federation visual to show how privacy and access controls work together. Emphasize that cloud decisions involve legal and organisational responsibility, not only technology.</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expands the vulnerability examples from the lecture notes while keeping focus on design thinking, not memorisation.</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Ask students to classify examples from real institutions under these use cases.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visual from users and devices to networking, provider infrastructure, compute, storage, databases, security, monitoring, and service layers. Explain that architecture documents both technical components and the relationships among them.</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follows the actor descriptions in the attached lecture notes. Give a local example for each role.</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that problems often cross actor boundaries: provider outage, carrier network issue, consumer misconfiguration, or broker integration failure.</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elaborates the upfront planning best practice from the attached notes.</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visual to explain shared responsibility across SaaS, PaaS, and IaaS. Reinforce practical controls: IAM and SSO, least privilege, encryption, secure configuration, patching, vulnerability management, logging, monitoring, backup, and disaster recovery.</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Teach RTO and RPO as practical vocabulary students can apply immediately.</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elaborates cost optimization and performance best practices from the attached notes.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this visual as a preview only. Show that SaaS offers complete applications, PaaS provides managed application platforms, and IaaS provides virtualized compute, storage, and networking. Detailed responsibility boundaries are covered in Unit 2.</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the visual to preview public, private, hybrid, and community cloud. Stress that the selection depends on control, cost, security, compliance, scalability, and management capability.</a:t>
            </a:r>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by asking two students to share their exit-ticket answer verbally.</a:t>
            </a:r>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1.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9.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4.xml"/><Relationship Id="rId1" Type="http://schemas.openxmlformats.org/officeDocument/2006/relationships/slideLayout" Target="../slideLayouts/slideLayout1.xml"/><Relationship Id="rId4" Type="http://schemas.openxmlformats.org/officeDocument/2006/relationships/image" Target="../media/image7.png"/></Relationships>
</file>

<file path=ppt/slides/_rels/slide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6.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2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7.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2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1.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3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3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5.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3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6FAFF"/>
        </a:solidFill>
        <a:effectLst/>
      </p:bgPr>
    </p:bg>
    <p:spTree>
      <p:nvGrpSpPr>
        <p:cNvPr id="1" name=""/>
        <p:cNvGrpSpPr/>
        <p:nvPr/>
      </p:nvGrpSpPr>
      <p:grpSpPr>
        <a:xfrm>
          <a:off x="0" y="0"/>
          <a:ext cx="0" cy="0"/>
          <a:chOff x="0" y="0"/>
          <a:chExt cx="0" cy="0"/>
        </a:xfrm>
      </p:grpSpPr>
      <p:pic>
        <p:nvPicPr>
          <p:cNvPr id="2" name="Image 0" descr="/mnt/data/a_wide_cinematic_high_resolution_digital_illustr.png"/>
          <p:cNvPicPr>
            <a:picLocks noChangeAspect="1"/>
          </p:cNvPicPr>
          <p:nvPr/>
        </p:nvPicPr>
        <p:blipFill>
          <a:blip r:embed="rId3"/>
          <a:srcRect l="25000" r="28625"/>
          <a:stretch/>
        </p:blipFill>
        <p:spPr>
          <a:xfrm>
            <a:off x="6537960" y="0"/>
            <a:ext cx="5650992" cy="6858000"/>
          </a:xfrm>
          <a:prstGeom prst="rect">
            <a:avLst/>
          </a:prstGeom>
        </p:spPr>
      </p:pic>
      <p:sp>
        <p:nvSpPr>
          <p:cNvPr id="4" name="Text 0"/>
          <p:cNvSpPr/>
          <p:nvPr/>
        </p:nvSpPr>
        <p:spPr>
          <a:xfrm>
            <a:off x="1508760" y="411480"/>
            <a:ext cx="4663440" cy="228600"/>
          </a:xfrm>
          <a:prstGeom prst="rect">
            <a:avLst/>
          </a:prstGeom>
          <a:noFill/>
          <a:ln/>
        </p:spPr>
        <p:txBody>
          <a:bodyPr wrap="square" lIns="0" tIns="0" rIns="0" bIns="0" rtlCol="0" anchor="ctr"/>
          <a:lstStyle/>
          <a:p>
            <a:pPr marL="0" indent="0">
              <a:buNone/>
            </a:pPr>
            <a:r>
              <a:rPr lang="en-US" sz="1200" b="1" dirty="0">
                <a:solidFill>
                  <a:srgbClr val="073B73"/>
                </a:solidFill>
                <a:latin typeface="Arial" pitchFamily="34" charset="0"/>
                <a:ea typeface="Arial" pitchFamily="34" charset="-122"/>
                <a:cs typeface="Arial" pitchFamily="34" charset="-120"/>
              </a:rPr>
              <a:t>MULUNGUSHI UNIVERSITY</a:t>
            </a:r>
            <a:endParaRPr lang="en-US" sz="1200" dirty="0"/>
          </a:p>
        </p:txBody>
      </p:sp>
      <p:sp>
        <p:nvSpPr>
          <p:cNvPr id="5" name="Text 1"/>
          <p:cNvSpPr/>
          <p:nvPr/>
        </p:nvSpPr>
        <p:spPr>
          <a:xfrm>
            <a:off x="1508760" y="658368"/>
            <a:ext cx="4663440" cy="228600"/>
          </a:xfrm>
          <a:prstGeom prst="rect">
            <a:avLst/>
          </a:prstGeom>
          <a:noFill/>
          <a:ln/>
        </p:spPr>
        <p:txBody>
          <a:bodyPr wrap="square" lIns="0" tIns="0" rIns="0" bIns="0" rtlCol="0" anchor="ctr"/>
          <a:lstStyle/>
          <a:p>
            <a:pPr marL="0" indent="0">
              <a:buNone/>
            </a:pPr>
            <a:r>
              <a:rPr lang="en-US" sz="1200" dirty="0">
                <a:solidFill>
                  <a:srgbClr val="3F4A55"/>
                </a:solidFill>
                <a:latin typeface="Arial" pitchFamily="34" charset="0"/>
                <a:ea typeface="Arial" pitchFamily="34" charset="-122"/>
                <a:cs typeface="Arial" pitchFamily="34" charset="-120"/>
              </a:rPr>
              <a:t>School of Engineering and Technology</a:t>
            </a:r>
            <a:endParaRPr lang="en-US" sz="1200" dirty="0"/>
          </a:p>
        </p:txBody>
      </p:sp>
      <p:sp>
        <p:nvSpPr>
          <p:cNvPr id="6" name="Text 2"/>
          <p:cNvSpPr/>
          <p:nvPr/>
        </p:nvSpPr>
        <p:spPr>
          <a:xfrm>
            <a:off x="502920" y="1481328"/>
            <a:ext cx="5577840" cy="411480"/>
          </a:xfrm>
          <a:prstGeom prst="rect">
            <a:avLst/>
          </a:prstGeom>
          <a:noFill/>
          <a:ln/>
        </p:spPr>
        <p:txBody>
          <a:bodyPr wrap="square" lIns="0" tIns="0" rIns="0" bIns="0" rtlCol="0" anchor="ctr"/>
          <a:lstStyle/>
          <a:p>
            <a:pPr marL="0" indent="0">
              <a:buNone/>
            </a:pPr>
            <a:r>
              <a:rPr lang="en-US" sz="2500" b="1" dirty="0">
                <a:solidFill>
                  <a:srgbClr val="1E9E66"/>
                </a:solidFill>
                <a:latin typeface="Arial" pitchFamily="34" charset="0"/>
                <a:ea typeface="Arial" pitchFamily="34" charset="-122"/>
                <a:cs typeface="Arial" pitchFamily="34" charset="-120"/>
              </a:rPr>
              <a:t>ICT411 Cloud Computing</a:t>
            </a:r>
            <a:endParaRPr lang="en-US" sz="2500" dirty="0"/>
          </a:p>
        </p:txBody>
      </p:sp>
      <p:sp>
        <p:nvSpPr>
          <p:cNvPr id="7" name="Text 3"/>
          <p:cNvSpPr/>
          <p:nvPr/>
        </p:nvSpPr>
        <p:spPr>
          <a:xfrm>
            <a:off x="502920" y="1938528"/>
            <a:ext cx="5669280" cy="914400"/>
          </a:xfrm>
          <a:prstGeom prst="rect">
            <a:avLst/>
          </a:prstGeom>
          <a:noFill/>
          <a:ln/>
        </p:spPr>
        <p:txBody>
          <a:bodyPr wrap="square" lIns="0" tIns="0" rIns="0" bIns="0" rtlCol="0" anchor="ctr">
            <a:normAutofit fontScale="92500" lnSpcReduction="10000"/>
          </a:bodyPr>
          <a:lstStyle/>
          <a:p>
            <a:pPr marL="0" indent="0">
              <a:buNone/>
            </a:pPr>
            <a:r>
              <a:rPr lang="en-US" sz="3600" b="1" dirty="0">
                <a:solidFill>
                  <a:srgbClr val="073B73"/>
                </a:solidFill>
                <a:latin typeface="Arial" pitchFamily="34" charset="0"/>
                <a:ea typeface="Arial" pitchFamily="34" charset="-122"/>
                <a:cs typeface="Arial" pitchFamily="34" charset="-120"/>
              </a:rPr>
              <a:t>Unit 1: Foundations &amp; Context</a:t>
            </a:r>
            <a:endParaRPr lang="en-US" sz="3600" dirty="0"/>
          </a:p>
        </p:txBody>
      </p:sp>
      <p:sp>
        <p:nvSpPr>
          <p:cNvPr id="8" name="Text 4"/>
          <p:cNvSpPr/>
          <p:nvPr/>
        </p:nvSpPr>
        <p:spPr>
          <a:xfrm>
            <a:off x="502920" y="3063240"/>
            <a:ext cx="5303520" cy="320040"/>
          </a:xfrm>
          <a:prstGeom prst="rect">
            <a:avLst/>
          </a:prstGeom>
          <a:noFill/>
          <a:ln/>
        </p:spPr>
        <p:txBody>
          <a:bodyPr wrap="square" lIns="0" tIns="0" rIns="0" bIns="0" rtlCol="0" anchor="ctr"/>
          <a:lstStyle/>
          <a:p>
            <a:pPr marL="0" indent="0">
              <a:buNone/>
            </a:pPr>
            <a:r>
              <a:rPr lang="en-US" sz="1800" dirty="0">
                <a:solidFill>
                  <a:srgbClr val="3F4A55"/>
                </a:solidFill>
                <a:latin typeface="Arial" pitchFamily="34" charset="0"/>
                <a:ea typeface="Arial" pitchFamily="34" charset="-122"/>
                <a:cs typeface="Arial" pitchFamily="34" charset="-120"/>
              </a:rPr>
              <a:t>Lecture 1 </a:t>
            </a:r>
            <a:endParaRPr lang="en-US" sz="1800" dirty="0"/>
          </a:p>
        </p:txBody>
      </p:sp>
      <p:sp>
        <p:nvSpPr>
          <p:cNvPr id="9" name="Text 5"/>
          <p:cNvSpPr/>
          <p:nvPr/>
        </p:nvSpPr>
        <p:spPr>
          <a:xfrm>
            <a:off x="502920" y="3456432"/>
            <a:ext cx="5303520" cy="320040"/>
          </a:xfrm>
          <a:prstGeom prst="rect">
            <a:avLst/>
          </a:prstGeom>
          <a:noFill/>
          <a:ln/>
        </p:spPr>
        <p:txBody>
          <a:bodyPr wrap="square" lIns="0" tIns="0" rIns="0" bIns="0" rtlCol="0" anchor="ctr"/>
          <a:lstStyle/>
          <a:p>
            <a:pPr marL="0" indent="0">
              <a:buNone/>
            </a:pPr>
            <a:r>
              <a:rPr lang="en-US" sz="1800" b="1" dirty="0">
                <a:solidFill>
                  <a:srgbClr val="073B73"/>
                </a:solidFill>
                <a:latin typeface="Arial" pitchFamily="34" charset="0"/>
                <a:ea typeface="Arial" pitchFamily="34" charset="-122"/>
                <a:cs typeface="Arial" pitchFamily="34" charset="-120"/>
              </a:rPr>
              <a:t>Lecturer: Mr. M Bwalya</a:t>
            </a:r>
            <a:endParaRPr lang="en-US" sz="1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BFF"/>
        </a:solidFill>
        <a:effectLst/>
      </p:bgPr>
    </p:bg>
    <p:spTree>
      <p:nvGrpSpPr>
        <p:cNvPr id="1" name=""/>
        <p:cNvGrpSpPr/>
        <p:nvPr/>
      </p:nvGrpSpPr>
      <p:grpSpPr>
        <a:xfrm>
          <a:off x="0" y="0"/>
          <a:ext cx="0" cy="0"/>
          <a:chOff x="0" y="0"/>
          <a:chExt cx="0" cy="0"/>
        </a:xfrm>
      </p:grpSpPr>
      <p:sp>
        <p:nvSpPr>
          <p:cNvPr id="2" name="Text 0"/>
          <p:cNvSpPr/>
          <p:nvPr/>
        </p:nvSpPr>
        <p:spPr>
          <a:xfrm>
            <a:off x="502920" y="182880"/>
            <a:ext cx="2011680" cy="201168"/>
          </a:xfrm>
          <a:prstGeom prst="rect">
            <a:avLst/>
          </a:prstGeom>
          <a:noFill/>
          <a:ln/>
        </p:spPr>
        <p:txBody>
          <a:bodyPr wrap="square" lIns="0" tIns="0" rIns="0" bIns="0" rtlCol="0" anchor="ctr"/>
          <a:lstStyle/>
          <a:p>
            <a:pPr marL="0" indent="0">
              <a:buNone/>
            </a:pPr>
            <a:r>
              <a:rPr lang="en-US" sz="900" b="1" dirty="0">
                <a:solidFill>
                  <a:srgbClr val="1E9E66"/>
                </a:solidFill>
                <a:latin typeface="Arial" pitchFamily="34" charset="0"/>
                <a:ea typeface="Arial" pitchFamily="34" charset="-122"/>
                <a:cs typeface="Arial" pitchFamily="34" charset="-120"/>
              </a:rPr>
              <a:t>LECTURE 1</a:t>
            </a:r>
            <a:endParaRPr lang="en-US" sz="900" dirty="0"/>
          </a:p>
        </p:txBody>
      </p:sp>
      <p:sp>
        <p:nvSpPr>
          <p:cNvPr id="3" name="Text 1"/>
          <p:cNvSpPr/>
          <p:nvPr/>
        </p:nvSpPr>
        <p:spPr>
          <a:xfrm>
            <a:off x="502920" y="438912"/>
            <a:ext cx="10881360" cy="530352"/>
          </a:xfrm>
          <a:prstGeom prst="rect">
            <a:avLst/>
          </a:prstGeom>
          <a:noFill/>
          <a:ln/>
        </p:spPr>
        <p:txBody>
          <a:bodyPr wrap="square" lIns="0" tIns="0" rIns="0" bIns="0" rtlCol="0" anchor="ctr">
            <a:normAutofit/>
          </a:bodyPr>
          <a:lstStyle/>
          <a:p>
            <a:pPr marL="0" indent="0">
              <a:buNone/>
            </a:pPr>
            <a:r>
              <a:rPr lang="en-US" sz="2800" b="1" dirty="0">
                <a:solidFill>
                  <a:srgbClr val="073B73"/>
                </a:solidFill>
                <a:latin typeface="Arial" pitchFamily="34" charset="0"/>
                <a:ea typeface="Arial" pitchFamily="34" charset="-122"/>
                <a:cs typeface="Arial" pitchFamily="34" charset="-120"/>
              </a:rPr>
              <a:t>Learning outcomes for this lecture</a:t>
            </a:r>
            <a:endParaRPr lang="en-US" sz="2800" dirty="0"/>
          </a:p>
        </p:txBody>
      </p:sp>
      <p:sp>
        <p:nvSpPr>
          <p:cNvPr id="4" name="Shape 2"/>
          <p:cNvSpPr/>
          <p:nvPr/>
        </p:nvSpPr>
        <p:spPr>
          <a:xfrm>
            <a:off x="411480" y="6327648"/>
            <a:ext cx="11247120" cy="0"/>
          </a:xfrm>
          <a:prstGeom prst="line">
            <a:avLst/>
          </a:prstGeom>
          <a:noFill/>
          <a:ln w="8890">
            <a:solidFill>
              <a:srgbClr val="B9D8F2"/>
            </a:solidFill>
            <a:prstDash val="solid"/>
          </a:ln>
        </p:spPr>
      </p:sp>
      <p:sp>
        <p:nvSpPr>
          <p:cNvPr id="5" name="Text 3"/>
          <p:cNvSpPr/>
          <p:nvPr/>
        </p:nvSpPr>
        <p:spPr>
          <a:xfrm>
            <a:off x="502920" y="6382512"/>
            <a:ext cx="7132320" cy="201168"/>
          </a:xfrm>
          <a:prstGeom prst="rect">
            <a:avLst/>
          </a:prstGeom>
          <a:noFill/>
          <a:ln/>
        </p:spPr>
        <p:txBody>
          <a:bodyPr wrap="square" lIns="0" tIns="0" rIns="0" bIns="0" rtlCol="0" anchor="ctr"/>
          <a:lstStyle/>
          <a:p>
            <a:pPr marL="0" indent="0">
              <a:buNone/>
            </a:pPr>
            <a:r>
              <a:rPr lang="en-US" sz="850" dirty="0">
                <a:solidFill>
                  <a:srgbClr val="697386"/>
                </a:solidFill>
                <a:latin typeface="Arial" pitchFamily="34" charset="0"/>
                <a:ea typeface="Arial" pitchFamily="34" charset="-122"/>
                <a:cs typeface="Arial" pitchFamily="34" charset="-120"/>
              </a:rPr>
              <a:t>ICT411 Cloud Computing • Unit 1 • Foundations &amp; Context</a:t>
            </a:r>
            <a:endParaRPr lang="en-US" sz="850" dirty="0"/>
          </a:p>
        </p:txBody>
      </p:sp>
      <p:sp>
        <p:nvSpPr>
          <p:cNvPr id="6" name="Text 4"/>
          <p:cNvSpPr/>
          <p:nvPr/>
        </p:nvSpPr>
        <p:spPr>
          <a:xfrm>
            <a:off x="10835640" y="6364224"/>
            <a:ext cx="320040" cy="228600"/>
          </a:xfrm>
          <a:prstGeom prst="rect">
            <a:avLst/>
          </a:prstGeom>
          <a:noFill/>
          <a:ln/>
        </p:spPr>
        <p:txBody>
          <a:bodyPr wrap="square" lIns="0" tIns="0" rIns="0" bIns="0" rtlCol="0" anchor="ctr"/>
          <a:lstStyle/>
          <a:p>
            <a:pPr marL="0" indent="0" algn="r">
              <a:buNone/>
            </a:pPr>
            <a:r>
              <a:rPr lang="en-US" sz="900" b="1" dirty="0">
                <a:solidFill>
                  <a:srgbClr val="697386"/>
                </a:solidFill>
                <a:latin typeface="Arial" pitchFamily="34" charset="0"/>
                <a:ea typeface="Arial" pitchFamily="34" charset="-122"/>
                <a:cs typeface="Arial" pitchFamily="34" charset="-120"/>
              </a:rPr>
              <a:t>2</a:t>
            </a:r>
            <a:endParaRPr lang="en-US" sz="900" dirty="0"/>
          </a:p>
        </p:txBody>
      </p:sp>
      <p:pic>
        <p:nvPicPr>
          <p:cNvPr id="7" name="Image 0" descr="/mnt/data/mulungushi_logo_crop2.png"/>
          <p:cNvPicPr>
            <a:picLocks noChangeAspect="1"/>
          </p:cNvPicPr>
          <p:nvPr/>
        </p:nvPicPr>
        <p:blipFill>
          <a:blip r:embed="rId3"/>
          <a:stretch>
            <a:fillRect/>
          </a:stretch>
        </p:blipFill>
        <p:spPr>
          <a:xfrm>
            <a:off x="11201400" y="6199632"/>
            <a:ext cx="502920" cy="502920"/>
          </a:xfrm>
          <a:prstGeom prst="rect">
            <a:avLst/>
          </a:prstGeom>
        </p:spPr>
      </p:pic>
      <p:sp>
        <p:nvSpPr>
          <p:cNvPr id="8" name="Text 5"/>
          <p:cNvSpPr/>
          <p:nvPr/>
        </p:nvSpPr>
        <p:spPr>
          <a:xfrm>
            <a:off x="685800" y="1143000"/>
            <a:ext cx="6400800" cy="4526280"/>
          </a:xfrm>
          <a:prstGeom prst="rect">
            <a:avLst/>
          </a:prstGeom>
          <a:noFill/>
          <a:ln/>
        </p:spPr>
        <p:txBody>
          <a:bodyPr wrap="square" lIns="635" tIns="635" rIns="635" bIns="635" rtlCol="0" anchor="t">
            <a:normAutofit/>
          </a:bodyPr>
          <a:lstStyle/>
          <a:p>
            <a:pPr marL="0" indent="0">
              <a:lnSpc>
                <a:spcPct val="97000"/>
              </a:lnSpc>
              <a:buNone/>
            </a:pPr>
            <a:r>
              <a:rPr lang="en-US" sz="2100" dirty="0" smtClean="0">
                <a:solidFill>
                  <a:srgbClr val="3F4A55"/>
                </a:solidFill>
                <a:latin typeface="Arial" pitchFamily="34" charset="0"/>
                <a:ea typeface="Arial" pitchFamily="34" charset="-122"/>
                <a:cs typeface="Arial" pitchFamily="34" charset="-120"/>
              </a:rPr>
              <a:t>• </a:t>
            </a:r>
            <a:r>
              <a:rPr lang="en-US" sz="2100" dirty="0">
                <a:solidFill>
                  <a:srgbClr val="3F4A55"/>
                </a:solidFill>
                <a:latin typeface="Arial" pitchFamily="34" charset="0"/>
                <a:ea typeface="Arial" pitchFamily="34" charset="-122"/>
                <a:cs typeface="Arial" pitchFamily="34" charset="-120"/>
              </a:rPr>
              <a:t>Define cloud computing using service delivery, internet access, and on-demand resource concepts.</a:t>
            </a:r>
            <a:endParaRPr lang="en-US" sz="2100" dirty="0"/>
          </a:p>
          <a:p>
            <a:pPr marL="0" indent="0">
              <a:lnSpc>
                <a:spcPct val="97000"/>
              </a:lnSpc>
              <a:buNone/>
            </a:pPr>
            <a:r>
              <a:rPr lang="en-US" sz="2100" dirty="0">
                <a:solidFill>
                  <a:srgbClr val="3F4A55"/>
                </a:solidFill>
                <a:latin typeface="Arial" pitchFamily="34" charset="0"/>
                <a:ea typeface="Arial" pitchFamily="34" charset="-122"/>
                <a:cs typeface="Arial" pitchFamily="34" charset="-120"/>
              </a:rPr>
              <a:t>• Describe the five essential cloud characteristics using realistic examples.</a:t>
            </a:r>
            <a:endParaRPr lang="en-US" sz="2100" dirty="0"/>
          </a:p>
          <a:p>
            <a:pPr marL="0" indent="0">
              <a:lnSpc>
                <a:spcPct val="97000"/>
              </a:lnSpc>
              <a:buNone/>
            </a:pPr>
            <a:r>
              <a:rPr lang="en-US" sz="2100" dirty="0">
                <a:solidFill>
                  <a:srgbClr val="3F4A55"/>
                </a:solidFill>
                <a:latin typeface="Arial" pitchFamily="34" charset="0"/>
                <a:ea typeface="Arial" pitchFamily="34" charset="-122"/>
                <a:cs typeface="Arial" pitchFamily="34" charset="-120"/>
              </a:rPr>
              <a:t>• Analyze benefits, challenges, legal issues, and vulnerabilities before recommending a cloud solution.</a:t>
            </a:r>
            <a:endParaRPr lang="en-US" sz="2100" dirty="0"/>
          </a:p>
          <a:p>
            <a:pPr marL="0" indent="0">
              <a:lnSpc>
                <a:spcPct val="97000"/>
              </a:lnSpc>
              <a:buNone/>
            </a:pPr>
            <a:r>
              <a:rPr lang="en-US" sz="2100" dirty="0">
                <a:solidFill>
                  <a:srgbClr val="3F4A55"/>
                </a:solidFill>
                <a:latin typeface="Arial" pitchFamily="34" charset="0"/>
                <a:ea typeface="Arial" pitchFamily="34" charset="-122"/>
                <a:cs typeface="Arial" pitchFamily="34" charset="-120"/>
              </a:rPr>
              <a:t>• Interpret a basic cloud architecture and identify the main NIST cloud actors.</a:t>
            </a:r>
            <a:endParaRPr lang="en-US" sz="2100" dirty="0"/>
          </a:p>
        </p:txBody>
      </p:sp>
      <p:pic>
        <p:nvPicPr>
          <p:cNvPr id="9" name="Image 1" descr="/mnt/data/wide_modern_tech_classroom_or_lab_scene_with_a_co.png"/>
          <p:cNvPicPr>
            <a:picLocks noChangeAspect="1"/>
          </p:cNvPicPr>
          <p:nvPr/>
        </p:nvPicPr>
        <p:blipFill>
          <a:blip r:embed="rId4"/>
          <a:srcRect l="6000" t="4000" r="49808" b="10000"/>
          <a:stretch/>
        </p:blipFill>
        <p:spPr>
          <a:xfrm>
            <a:off x="7360920" y="1188720"/>
            <a:ext cx="3840480" cy="420624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BFF"/>
        </a:solidFill>
        <a:effectLst/>
      </p:bgPr>
    </p:bg>
    <p:spTree>
      <p:nvGrpSpPr>
        <p:cNvPr id="1" name=""/>
        <p:cNvGrpSpPr/>
        <p:nvPr/>
      </p:nvGrpSpPr>
      <p:grpSpPr>
        <a:xfrm>
          <a:off x="0" y="0"/>
          <a:ext cx="0" cy="0"/>
          <a:chOff x="0" y="0"/>
          <a:chExt cx="0" cy="0"/>
        </a:xfrm>
      </p:grpSpPr>
      <p:sp>
        <p:nvSpPr>
          <p:cNvPr id="2" name="Text 0"/>
          <p:cNvSpPr/>
          <p:nvPr/>
        </p:nvSpPr>
        <p:spPr>
          <a:xfrm>
            <a:off x="502920" y="182880"/>
            <a:ext cx="2011680" cy="201168"/>
          </a:xfrm>
          <a:prstGeom prst="rect">
            <a:avLst/>
          </a:prstGeom>
          <a:noFill/>
          <a:ln/>
        </p:spPr>
        <p:txBody>
          <a:bodyPr wrap="square" lIns="0" tIns="0" rIns="0" bIns="0" rtlCol="0" anchor="ctr"/>
          <a:lstStyle/>
          <a:p>
            <a:pPr marL="0" indent="0">
              <a:buNone/>
            </a:pPr>
            <a:r>
              <a:rPr lang="en-US" sz="900" b="1" dirty="0">
                <a:solidFill>
                  <a:srgbClr val="1E9E66"/>
                </a:solidFill>
                <a:latin typeface="Arial" pitchFamily="34" charset="0"/>
                <a:ea typeface="Arial" pitchFamily="34" charset="-122"/>
                <a:cs typeface="Arial" pitchFamily="34" charset="-120"/>
              </a:rPr>
              <a:t>LECTURE 1</a:t>
            </a:r>
            <a:endParaRPr lang="en-US" sz="900" dirty="0"/>
          </a:p>
        </p:txBody>
      </p:sp>
      <p:sp>
        <p:nvSpPr>
          <p:cNvPr id="3" name="Text 1"/>
          <p:cNvSpPr/>
          <p:nvPr/>
        </p:nvSpPr>
        <p:spPr>
          <a:xfrm>
            <a:off x="502920" y="438912"/>
            <a:ext cx="10881360" cy="530352"/>
          </a:xfrm>
          <a:prstGeom prst="rect">
            <a:avLst/>
          </a:prstGeom>
          <a:noFill/>
          <a:ln/>
        </p:spPr>
        <p:txBody>
          <a:bodyPr wrap="square" lIns="0" tIns="0" rIns="0" bIns="0" rtlCol="0" anchor="ctr">
            <a:normAutofit/>
          </a:bodyPr>
          <a:lstStyle/>
          <a:p>
            <a:pPr marL="0" indent="0">
              <a:buNone/>
            </a:pPr>
            <a:r>
              <a:rPr lang="en-US" sz="2800" b="1" dirty="0">
                <a:solidFill>
                  <a:srgbClr val="073B73"/>
                </a:solidFill>
                <a:latin typeface="Arial" pitchFamily="34" charset="0"/>
                <a:ea typeface="Arial" pitchFamily="34" charset="-122"/>
                <a:cs typeface="Arial" pitchFamily="34" charset="-120"/>
              </a:rPr>
              <a:t>Lecture roadmap: how the unit is organised</a:t>
            </a:r>
            <a:endParaRPr lang="en-US" sz="2800" dirty="0"/>
          </a:p>
        </p:txBody>
      </p:sp>
      <p:sp>
        <p:nvSpPr>
          <p:cNvPr id="4" name="Shape 2"/>
          <p:cNvSpPr/>
          <p:nvPr/>
        </p:nvSpPr>
        <p:spPr>
          <a:xfrm>
            <a:off x="411480" y="6327648"/>
            <a:ext cx="11247120" cy="0"/>
          </a:xfrm>
          <a:prstGeom prst="line">
            <a:avLst/>
          </a:prstGeom>
          <a:noFill/>
          <a:ln w="8890">
            <a:solidFill>
              <a:srgbClr val="B9D8F2"/>
            </a:solidFill>
            <a:prstDash val="solid"/>
          </a:ln>
        </p:spPr>
      </p:sp>
      <p:sp>
        <p:nvSpPr>
          <p:cNvPr id="5" name="Text 3"/>
          <p:cNvSpPr/>
          <p:nvPr/>
        </p:nvSpPr>
        <p:spPr>
          <a:xfrm>
            <a:off x="502920" y="6382512"/>
            <a:ext cx="7132320" cy="201168"/>
          </a:xfrm>
          <a:prstGeom prst="rect">
            <a:avLst/>
          </a:prstGeom>
          <a:noFill/>
          <a:ln/>
        </p:spPr>
        <p:txBody>
          <a:bodyPr wrap="square" lIns="0" tIns="0" rIns="0" bIns="0" rtlCol="0" anchor="ctr"/>
          <a:lstStyle/>
          <a:p>
            <a:pPr marL="0" indent="0">
              <a:buNone/>
            </a:pPr>
            <a:r>
              <a:rPr lang="en-US" sz="850" dirty="0">
                <a:solidFill>
                  <a:srgbClr val="697386"/>
                </a:solidFill>
                <a:latin typeface="Arial" pitchFamily="34" charset="0"/>
                <a:ea typeface="Arial" pitchFamily="34" charset="-122"/>
                <a:cs typeface="Arial" pitchFamily="34" charset="-120"/>
              </a:rPr>
              <a:t>ICT411 Cloud Computing • Unit 1 • Foundations &amp; Context</a:t>
            </a:r>
            <a:endParaRPr lang="en-US" sz="850" dirty="0"/>
          </a:p>
        </p:txBody>
      </p:sp>
      <p:sp>
        <p:nvSpPr>
          <p:cNvPr id="6" name="Text 4"/>
          <p:cNvSpPr/>
          <p:nvPr/>
        </p:nvSpPr>
        <p:spPr>
          <a:xfrm>
            <a:off x="10835640" y="6364224"/>
            <a:ext cx="320040" cy="228600"/>
          </a:xfrm>
          <a:prstGeom prst="rect">
            <a:avLst/>
          </a:prstGeom>
          <a:noFill/>
          <a:ln/>
        </p:spPr>
        <p:txBody>
          <a:bodyPr wrap="square" lIns="0" tIns="0" rIns="0" bIns="0" rtlCol="0" anchor="ctr"/>
          <a:lstStyle/>
          <a:p>
            <a:pPr marL="0" indent="0" algn="r">
              <a:buNone/>
            </a:pPr>
            <a:r>
              <a:rPr lang="en-US" sz="900" b="1" dirty="0">
                <a:solidFill>
                  <a:srgbClr val="697386"/>
                </a:solidFill>
                <a:latin typeface="Arial" pitchFamily="34" charset="0"/>
                <a:ea typeface="Arial" pitchFamily="34" charset="-122"/>
                <a:cs typeface="Arial" pitchFamily="34" charset="-120"/>
              </a:rPr>
              <a:t>3</a:t>
            </a:r>
            <a:endParaRPr lang="en-US" sz="900" dirty="0"/>
          </a:p>
        </p:txBody>
      </p:sp>
      <p:pic>
        <p:nvPicPr>
          <p:cNvPr id="7" name="Image 0" descr="/mnt/data/mulungushi_logo_crop2.png"/>
          <p:cNvPicPr>
            <a:picLocks noChangeAspect="1"/>
          </p:cNvPicPr>
          <p:nvPr/>
        </p:nvPicPr>
        <p:blipFill>
          <a:blip r:embed="rId3"/>
          <a:stretch>
            <a:fillRect/>
          </a:stretch>
        </p:blipFill>
        <p:spPr>
          <a:xfrm>
            <a:off x="11201400" y="6199632"/>
            <a:ext cx="502920" cy="502920"/>
          </a:xfrm>
          <a:prstGeom prst="rect">
            <a:avLst/>
          </a:prstGeom>
        </p:spPr>
      </p:pic>
      <p:sp>
        <p:nvSpPr>
          <p:cNvPr id="8" name="Text 5"/>
          <p:cNvSpPr/>
          <p:nvPr/>
        </p:nvSpPr>
        <p:spPr>
          <a:xfrm>
            <a:off x="777240" y="1371600"/>
            <a:ext cx="2057400" cy="914400"/>
          </a:xfrm>
          <a:prstGeom prst="rect">
            <a:avLst/>
          </a:prstGeom>
          <a:solidFill>
            <a:srgbClr val="EAF5FF"/>
          </a:solidFill>
          <a:ln w="12700">
            <a:solidFill>
              <a:srgbClr val="B9D8F2"/>
            </a:solidFill>
          </a:ln>
        </p:spPr>
        <p:txBody>
          <a:bodyPr wrap="square" lIns="1397" tIns="1397" rIns="1397" bIns="1397" rtlCol="0" anchor="ctr">
            <a:normAutofit/>
          </a:bodyPr>
          <a:lstStyle/>
          <a:p>
            <a:pPr marL="0" indent="0" algn="ctr">
              <a:buNone/>
            </a:pPr>
            <a:r>
              <a:rPr lang="en-US" sz="1800" b="1" dirty="0">
                <a:solidFill>
                  <a:srgbClr val="073B73"/>
                </a:solidFill>
                <a:latin typeface="Arial" pitchFamily="34" charset="0"/>
                <a:ea typeface="Arial" pitchFamily="34" charset="-122"/>
                <a:cs typeface="Arial" pitchFamily="34" charset="-120"/>
              </a:rPr>
              <a:t>1</a:t>
            </a:r>
            <a:endParaRPr lang="en-US" sz="1800" dirty="0"/>
          </a:p>
          <a:p>
            <a:pPr marL="0" indent="0" algn="ctr">
              <a:buNone/>
            </a:pPr>
            <a:r>
              <a:rPr lang="en-US" sz="1800" b="1" dirty="0">
                <a:solidFill>
                  <a:srgbClr val="073B73"/>
                </a:solidFill>
                <a:latin typeface="Arial" pitchFamily="34" charset="0"/>
                <a:ea typeface="Arial" pitchFamily="34" charset="-122"/>
                <a:cs typeface="Arial" pitchFamily="34" charset="-120"/>
              </a:rPr>
              <a:t>Context and evolution</a:t>
            </a:r>
            <a:endParaRPr lang="en-US" sz="1800" dirty="0"/>
          </a:p>
        </p:txBody>
      </p:sp>
      <p:sp>
        <p:nvSpPr>
          <p:cNvPr id="9" name="Text 6"/>
          <p:cNvSpPr/>
          <p:nvPr/>
        </p:nvSpPr>
        <p:spPr>
          <a:xfrm>
            <a:off x="3063240" y="1371600"/>
            <a:ext cx="2331720" cy="914400"/>
          </a:xfrm>
          <a:prstGeom prst="rect">
            <a:avLst/>
          </a:prstGeom>
          <a:solidFill>
            <a:srgbClr val="EAF5FF"/>
          </a:solidFill>
          <a:ln w="12700">
            <a:solidFill>
              <a:srgbClr val="B9D8F2"/>
            </a:solidFill>
          </a:ln>
        </p:spPr>
        <p:txBody>
          <a:bodyPr wrap="square" lIns="1397" tIns="1397" rIns="1397" bIns="1397" rtlCol="0" anchor="ctr">
            <a:normAutofit/>
          </a:bodyPr>
          <a:lstStyle/>
          <a:p>
            <a:pPr marL="0" indent="0" algn="ctr">
              <a:buNone/>
            </a:pPr>
            <a:r>
              <a:rPr lang="en-US" sz="1800" b="1" dirty="0">
                <a:solidFill>
                  <a:srgbClr val="073B73"/>
                </a:solidFill>
                <a:latin typeface="Arial" pitchFamily="34" charset="0"/>
                <a:ea typeface="Arial" pitchFamily="34" charset="-122"/>
                <a:cs typeface="Arial" pitchFamily="34" charset="-120"/>
              </a:rPr>
              <a:t>2</a:t>
            </a:r>
            <a:endParaRPr lang="en-US" sz="1800" dirty="0"/>
          </a:p>
          <a:p>
            <a:pPr marL="0" indent="0" algn="ctr">
              <a:buNone/>
            </a:pPr>
            <a:r>
              <a:rPr lang="en-US" sz="1800" b="1" dirty="0">
                <a:solidFill>
                  <a:srgbClr val="073B73"/>
                </a:solidFill>
                <a:latin typeface="Arial" pitchFamily="34" charset="0"/>
                <a:ea typeface="Arial" pitchFamily="34" charset="-122"/>
                <a:cs typeface="Arial" pitchFamily="34" charset="-120"/>
              </a:rPr>
              <a:t>Definition and characteristics</a:t>
            </a:r>
            <a:endParaRPr lang="en-US" sz="1800" dirty="0"/>
          </a:p>
        </p:txBody>
      </p:sp>
      <p:sp>
        <p:nvSpPr>
          <p:cNvPr id="10" name="Text 7"/>
          <p:cNvSpPr/>
          <p:nvPr/>
        </p:nvSpPr>
        <p:spPr>
          <a:xfrm>
            <a:off x="5623560" y="1371600"/>
            <a:ext cx="2148840" cy="914400"/>
          </a:xfrm>
          <a:prstGeom prst="rect">
            <a:avLst/>
          </a:prstGeom>
          <a:solidFill>
            <a:srgbClr val="EAF5FF"/>
          </a:solidFill>
          <a:ln w="12700">
            <a:solidFill>
              <a:srgbClr val="B9D8F2"/>
            </a:solidFill>
          </a:ln>
        </p:spPr>
        <p:txBody>
          <a:bodyPr wrap="square" lIns="1397" tIns="1397" rIns="1397" bIns="1397" rtlCol="0" anchor="ctr">
            <a:normAutofit/>
          </a:bodyPr>
          <a:lstStyle/>
          <a:p>
            <a:pPr marL="0" indent="0" algn="ctr">
              <a:buNone/>
            </a:pPr>
            <a:r>
              <a:rPr lang="en-US" sz="1800" b="1" dirty="0">
                <a:solidFill>
                  <a:srgbClr val="073B73"/>
                </a:solidFill>
                <a:latin typeface="Arial" pitchFamily="34" charset="0"/>
                <a:ea typeface="Arial" pitchFamily="34" charset="-122"/>
                <a:cs typeface="Arial" pitchFamily="34" charset="-120"/>
              </a:rPr>
              <a:t>3</a:t>
            </a:r>
            <a:endParaRPr lang="en-US" sz="1800" dirty="0"/>
          </a:p>
          <a:p>
            <a:pPr marL="0" indent="0" algn="ctr">
              <a:buNone/>
            </a:pPr>
            <a:r>
              <a:rPr lang="en-US" sz="1800" b="1" dirty="0">
                <a:solidFill>
                  <a:srgbClr val="073B73"/>
                </a:solidFill>
                <a:latin typeface="Arial" pitchFamily="34" charset="0"/>
                <a:ea typeface="Arial" pitchFamily="34" charset="-122"/>
                <a:cs typeface="Arial" pitchFamily="34" charset="-120"/>
              </a:rPr>
              <a:t>Benefits and challenges</a:t>
            </a:r>
            <a:endParaRPr lang="en-US" sz="1800" dirty="0"/>
          </a:p>
        </p:txBody>
      </p:sp>
      <p:sp>
        <p:nvSpPr>
          <p:cNvPr id="11" name="Text 8"/>
          <p:cNvSpPr/>
          <p:nvPr/>
        </p:nvSpPr>
        <p:spPr>
          <a:xfrm>
            <a:off x="8001000" y="1371600"/>
            <a:ext cx="2148840" cy="914400"/>
          </a:xfrm>
          <a:prstGeom prst="rect">
            <a:avLst/>
          </a:prstGeom>
          <a:solidFill>
            <a:srgbClr val="EAF5FF"/>
          </a:solidFill>
          <a:ln w="12700">
            <a:solidFill>
              <a:srgbClr val="B9D8F2"/>
            </a:solidFill>
          </a:ln>
        </p:spPr>
        <p:txBody>
          <a:bodyPr wrap="square" lIns="1397" tIns="1397" rIns="1397" bIns="1397" rtlCol="0" anchor="ctr">
            <a:normAutofit/>
          </a:bodyPr>
          <a:lstStyle/>
          <a:p>
            <a:pPr marL="0" indent="0" algn="ctr">
              <a:buNone/>
            </a:pPr>
            <a:r>
              <a:rPr lang="en-US" sz="1800" b="1" dirty="0">
                <a:solidFill>
                  <a:srgbClr val="073B73"/>
                </a:solidFill>
                <a:latin typeface="Arial" pitchFamily="34" charset="0"/>
                <a:ea typeface="Arial" pitchFamily="34" charset="-122"/>
                <a:cs typeface="Arial" pitchFamily="34" charset="-120"/>
              </a:rPr>
              <a:t>4</a:t>
            </a:r>
            <a:endParaRPr lang="en-US" sz="1800" dirty="0"/>
          </a:p>
          <a:p>
            <a:pPr marL="0" indent="0" algn="ctr">
              <a:buNone/>
            </a:pPr>
            <a:r>
              <a:rPr lang="en-US" sz="1800" b="1" dirty="0">
                <a:solidFill>
                  <a:srgbClr val="073B73"/>
                </a:solidFill>
                <a:latin typeface="Arial" pitchFamily="34" charset="0"/>
                <a:ea typeface="Arial" pitchFamily="34" charset="-122"/>
                <a:cs typeface="Arial" pitchFamily="34" charset="-120"/>
              </a:rPr>
              <a:t>Architecture and actors</a:t>
            </a:r>
            <a:endParaRPr lang="en-US" sz="1800" dirty="0"/>
          </a:p>
        </p:txBody>
      </p:sp>
      <p:sp>
        <p:nvSpPr>
          <p:cNvPr id="12" name="Text 9"/>
          <p:cNvSpPr/>
          <p:nvPr/>
        </p:nvSpPr>
        <p:spPr>
          <a:xfrm>
            <a:off x="10149840" y="1371600"/>
            <a:ext cx="1463040" cy="914400"/>
          </a:xfrm>
          <a:prstGeom prst="rect">
            <a:avLst/>
          </a:prstGeom>
          <a:solidFill>
            <a:srgbClr val="E6F8F0"/>
          </a:solidFill>
          <a:ln w="12700">
            <a:solidFill>
              <a:srgbClr val="B9D8F2"/>
            </a:solidFill>
          </a:ln>
        </p:spPr>
        <p:txBody>
          <a:bodyPr wrap="square" lIns="1397" tIns="1397" rIns="1397" bIns="1397" rtlCol="0" anchor="ctr">
            <a:normAutofit/>
          </a:bodyPr>
          <a:lstStyle/>
          <a:p>
            <a:pPr marL="0" indent="0" algn="ctr">
              <a:buNone/>
            </a:pPr>
            <a:r>
              <a:rPr lang="en-US" sz="1700" b="1" dirty="0">
                <a:solidFill>
                  <a:srgbClr val="1E9E66"/>
                </a:solidFill>
                <a:latin typeface="Arial" pitchFamily="34" charset="0"/>
                <a:ea typeface="Arial" pitchFamily="34" charset="-122"/>
                <a:cs typeface="Arial" pitchFamily="34" charset="-120"/>
              </a:rPr>
              <a:t>5</a:t>
            </a:r>
            <a:endParaRPr lang="en-US" sz="1700" dirty="0"/>
          </a:p>
          <a:p>
            <a:pPr marL="0" indent="0" algn="ctr">
              <a:buNone/>
            </a:pPr>
            <a:r>
              <a:rPr lang="en-US" sz="1700" b="1" dirty="0">
                <a:solidFill>
                  <a:srgbClr val="1E9E66"/>
                </a:solidFill>
                <a:latin typeface="Arial" pitchFamily="34" charset="0"/>
                <a:ea typeface="Arial" pitchFamily="34" charset="-122"/>
                <a:cs typeface="Arial" pitchFamily="34" charset="-120"/>
              </a:rPr>
              <a:t>Lab and summary</a:t>
            </a:r>
            <a:endParaRPr lang="en-US" sz="1700" dirty="0"/>
          </a:p>
        </p:txBody>
      </p:sp>
      <p:sp>
        <p:nvSpPr>
          <p:cNvPr id="13" name="Text 10"/>
          <p:cNvSpPr/>
          <p:nvPr/>
        </p:nvSpPr>
        <p:spPr>
          <a:xfrm>
            <a:off x="914400" y="2880360"/>
            <a:ext cx="10149840" cy="1920240"/>
          </a:xfrm>
          <a:prstGeom prst="rect">
            <a:avLst/>
          </a:prstGeom>
          <a:noFill/>
          <a:ln/>
        </p:spPr>
        <p:txBody>
          <a:bodyPr wrap="square" lIns="635" tIns="635" rIns="635" bIns="635" rtlCol="0" anchor="t">
            <a:normAutofit/>
          </a:bodyPr>
          <a:lstStyle/>
          <a:p>
            <a:pPr marL="0" indent="0">
              <a:lnSpc>
                <a:spcPct val="97000"/>
              </a:lnSpc>
              <a:buNone/>
            </a:pPr>
            <a:r>
              <a:rPr lang="en-US" sz="2200" dirty="0">
                <a:solidFill>
                  <a:srgbClr val="3F4A55"/>
                </a:solidFill>
                <a:latin typeface="Arial" pitchFamily="34" charset="0"/>
                <a:ea typeface="Arial" pitchFamily="34" charset="-122"/>
                <a:cs typeface="Arial" pitchFamily="34" charset="-120"/>
              </a:rPr>
              <a:t>• First we build a clear mental model of what cloud computing means.</a:t>
            </a:r>
            <a:endParaRPr lang="en-US" sz="2200" dirty="0"/>
          </a:p>
          <a:p>
            <a:pPr marL="0" indent="0">
              <a:lnSpc>
                <a:spcPct val="97000"/>
              </a:lnSpc>
              <a:buNone/>
            </a:pPr>
            <a:r>
              <a:rPr lang="en-US" sz="2200" dirty="0">
                <a:solidFill>
                  <a:srgbClr val="3F4A55"/>
                </a:solidFill>
                <a:latin typeface="Arial" pitchFamily="34" charset="0"/>
                <a:ea typeface="Arial" pitchFamily="34" charset="-122"/>
                <a:cs typeface="Arial" pitchFamily="34" charset="-120"/>
              </a:rPr>
              <a:t>• Then we connect the model to reliability, scalability, security, cost, and policy decisions.</a:t>
            </a:r>
            <a:endParaRPr lang="en-US" sz="2200" dirty="0"/>
          </a:p>
          <a:p>
            <a:pPr marL="0" indent="0">
              <a:lnSpc>
                <a:spcPct val="97000"/>
              </a:lnSpc>
              <a:buNone/>
            </a:pPr>
            <a:r>
              <a:rPr lang="en-US" sz="2200" dirty="0">
                <a:solidFill>
                  <a:srgbClr val="3F4A55"/>
                </a:solidFill>
                <a:latin typeface="Arial" pitchFamily="34" charset="0"/>
                <a:ea typeface="Arial" pitchFamily="34" charset="-122"/>
                <a:cs typeface="Arial" pitchFamily="34" charset="-120"/>
              </a:rPr>
              <a:t>• The unit ends with a practical adoption mini-assessment that prepares students for later hands-on labs.</a:t>
            </a:r>
            <a:endParaRPr lang="en-US" sz="2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BFF"/>
        </a:solidFill>
        <a:effectLst/>
      </p:bgPr>
    </p:bg>
    <p:spTree>
      <p:nvGrpSpPr>
        <p:cNvPr id="1" name=""/>
        <p:cNvGrpSpPr/>
        <p:nvPr/>
      </p:nvGrpSpPr>
      <p:grpSpPr>
        <a:xfrm>
          <a:off x="0" y="0"/>
          <a:ext cx="0" cy="0"/>
          <a:chOff x="0" y="0"/>
          <a:chExt cx="0" cy="0"/>
        </a:xfrm>
      </p:grpSpPr>
      <p:sp>
        <p:nvSpPr>
          <p:cNvPr id="2" name="Text 0"/>
          <p:cNvSpPr/>
          <p:nvPr/>
        </p:nvSpPr>
        <p:spPr>
          <a:xfrm>
            <a:off x="502920" y="182880"/>
            <a:ext cx="2011680" cy="201168"/>
          </a:xfrm>
          <a:prstGeom prst="rect">
            <a:avLst/>
          </a:prstGeom>
          <a:noFill/>
          <a:ln/>
        </p:spPr>
        <p:txBody>
          <a:bodyPr wrap="square" lIns="0" tIns="0" rIns="0" bIns="0" rtlCol="0" anchor="ctr"/>
          <a:lstStyle/>
          <a:p>
            <a:pPr marL="0" indent="0">
              <a:buNone/>
            </a:pPr>
            <a:r>
              <a:rPr lang="en-US" sz="900" b="1" dirty="0">
                <a:solidFill>
                  <a:srgbClr val="1E9E66"/>
                </a:solidFill>
                <a:latin typeface="Arial" pitchFamily="34" charset="0"/>
                <a:ea typeface="Arial" pitchFamily="34" charset="-122"/>
                <a:cs typeface="Arial" pitchFamily="34" charset="-120"/>
              </a:rPr>
              <a:t>LECTURE 1</a:t>
            </a:r>
            <a:endParaRPr lang="en-US" sz="900" dirty="0"/>
          </a:p>
        </p:txBody>
      </p:sp>
      <p:sp>
        <p:nvSpPr>
          <p:cNvPr id="3" name="Text 1"/>
          <p:cNvSpPr/>
          <p:nvPr/>
        </p:nvSpPr>
        <p:spPr>
          <a:xfrm>
            <a:off x="502920" y="438912"/>
            <a:ext cx="10881360" cy="530352"/>
          </a:xfrm>
          <a:prstGeom prst="rect">
            <a:avLst/>
          </a:prstGeom>
          <a:noFill/>
          <a:ln/>
        </p:spPr>
        <p:txBody>
          <a:bodyPr wrap="square" lIns="0" tIns="0" rIns="0" bIns="0" rtlCol="0" anchor="ctr">
            <a:normAutofit/>
          </a:bodyPr>
          <a:lstStyle/>
          <a:p>
            <a:pPr marL="0" indent="0">
              <a:buNone/>
            </a:pPr>
            <a:r>
              <a:rPr lang="en-US" sz="2800" b="1" dirty="0">
                <a:solidFill>
                  <a:srgbClr val="073B73"/>
                </a:solidFill>
                <a:latin typeface="Arial" pitchFamily="34" charset="0"/>
                <a:ea typeface="Arial" pitchFamily="34" charset="-122"/>
                <a:cs typeface="Arial" pitchFamily="34" charset="-120"/>
              </a:rPr>
              <a:t>Why cloud computing </a:t>
            </a:r>
            <a:r>
              <a:rPr lang="en-US" sz="2800" b="1" dirty="0" smtClean="0">
                <a:solidFill>
                  <a:srgbClr val="073B73"/>
                </a:solidFill>
                <a:latin typeface="Arial" pitchFamily="34" charset="0"/>
                <a:ea typeface="Arial" pitchFamily="34" charset="-122"/>
                <a:cs typeface="Arial" pitchFamily="34" charset="-120"/>
              </a:rPr>
              <a:t>matters</a:t>
            </a:r>
            <a:endParaRPr lang="en-US" sz="2800" dirty="0"/>
          </a:p>
        </p:txBody>
      </p:sp>
      <p:sp>
        <p:nvSpPr>
          <p:cNvPr id="4" name="Shape 2"/>
          <p:cNvSpPr/>
          <p:nvPr/>
        </p:nvSpPr>
        <p:spPr>
          <a:xfrm>
            <a:off x="411480" y="6327648"/>
            <a:ext cx="11247120" cy="0"/>
          </a:xfrm>
          <a:prstGeom prst="line">
            <a:avLst/>
          </a:prstGeom>
          <a:noFill/>
          <a:ln w="8890">
            <a:solidFill>
              <a:srgbClr val="B9D8F2"/>
            </a:solidFill>
            <a:prstDash val="solid"/>
          </a:ln>
        </p:spPr>
      </p:sp>
      <p:sp>
        <p:nvSpPr>
          <p:cNvPr id="5" name="Text 3"/>
          <p:cNvSpPr/>
          <p:nvPr/>
        </p:nvSpPr>
        <p:spPr>
          <a:xfrm>
            <a:off x="502920" y="6382512"/>
            <a:ext cx="7132320" cy="201168"/>
          </a:xfrm>
          <a:prstGeom prst="rect">
            <a:avLst/>
          </a:prstGeom>
          <a:noFill/>
          <a:ln/>
        </p:spPr>
        <p:txBody>
          <a:bodyPr wrap="square" lIns="0" tIns="0" rIns="0" bIns="0" rtlCol="0" anchor="ctr"/>
          <a:lstStyle/>
          <a:p>
            <a:pPr marL="0" indent="0">
              <a:buNone/>
            </a:pPr>
            <a:r>
              <a:rPr lang="en-US" sz="850" dirty="0">
                <a:solidFill>
                  <a:srgbClr val="697386"/>
                </a:solidFill>
                <a:latin typeface="Arial" pitchFamily="34" charset="0"/>
                <a:ea typeface="Arial" pitchFamily="34" charset="-122"/>
                <a:cs typeface="Arial" pitchFamily="34" charset="-120"/>
              </a:rPr>
              <a:t>ICT411 Cloud Computing • Unit 1 • Foundations &amp; Context</a:t>
            </a:r>
            <a:endParaRPr lang="en-US" sz="850" dirty="0"/>
          </a:p>
        </p:txBody>
      </p:sp>
      <p:sp>
        <p:nvSpPr>
          <p:cNvPr id="6" name="Text 4"/>
          <p:cNvSpPr/>
          <p:nvPr/>
        </p:nvSpPr>
        <p:spPr>
          <a:xfrm>
            <a:off x="10835640" y="6364224"/>
            <a:ext cx="320040" cy="228600"/>
          </a:xfrm>
          <a:prstGeom prst="rect">
            <a:avLst/>
          </a:prstGeom>
          <a:noFill/>
          <a:ln/>
        </p:spPr>
        <p:txBody>
          <a:bodyPr wrap="square" lIns="0" tIns="0" rIns="0" bIns="0" rtlCol="0" anchor="ctr"/>
          <a:lstStyle/>
          <a:p>
            <a:pPr marL="0" indent="0" algn="r">
              <a:buNone/>
            </a:pPr>
            <a:r>
              <a:rPr lang="en-US" sz="900" b="1" dirty="0">
                <a:solidFill>
                  <a:srgbClr val="697386"/>
                </a:solidFill>
                <a:latin typeface="Arial" pitchFamily="34" charset="0"/>
                <a:ea typeface="Arial" pitchFamily="34" charset="-122"/>
                <a:cs typeface="Arial" pitchFamily="34" charset="-120"/>
              </a:rPr>
              <a:t>4</a:t>
            </a:r>
            <a:endParaRPr lang="en-US" sz="900" dirty="0"/>
          </a:p>
        </p:txBody>
      </p:sp>
      <p:pic>
        <p:nvPicPr>
          <p:cNvPr id="7" name="Image 0" descr="/mnt/data/mulungushi_logo_crop2.png"/>
          <p:cNvPicPr>
            <a:picLocks noChangeAspect="1"/>
          </p:cNvPicPr>
          <p:nvPr/>
        </p:nvPicPr>
        <p:blipFill>
          <a:blip r:embed="rId3"/>
          <a:stretch>
            <a:fillRect/>
          </a:stretch>
        </p:blipFill>
        <p:spPr>
          <a:xfrm>
            <a:off x="11201400" y="6199632"/>
            <a:ext cx="502920" cy="502920"/>
          </a:xfrm>
          <a:prstGeom prst="rect">
            <a:avLst/>
          </a:prstGeom>
        </p:spPr>
      </p:pic>
      <p:sp>
        <p:nvSpPr>
          <p:cNvPr id="8" name="Text 5"/>
          <p:cNvSpPr/>
          <p:nvPr/>
        </p:nvSpPr>
        <p:spPr>
          <a:xfrm>
            <a:off x="713232" y="1115568"/>
            <a:ext cx="10698480" cy="502920"/>
          </a:xfrm>
          <a:prstGeom prst="rect">
            <a:avLst/>
          </a:prstGeom>
          <a:noFill/>
          <a:ln/>
        </p:spPr>
        <p:txBody>
          <a:bodyPr wrap="square" lIns="635" tIns="635" rIns="635" bIns="635" rtlCol="0" anchor="t">
            <a:normAutofit fontScale="85000" lnSpcReduction="20000"/>
          </a:bodyPr>
          <a:lstStyle/>
          <a:p>
            <a:pPr marL="0" indent="0" algn="ctr">
              <a:buNone/>
            </a:pPr>
            <a:r>
              <a:rPr lang="en-US" sz="2400" b="1" dirty="0">
                <a:solidFill>
                  <a:srgbClr val="073B73"/>
                </a:solidFill>
                <a:latin typeface="Arial" pitchFamily="34" charset="0"/>
                <a:ea typeface="Arial" pitchFamily="34" charset="-122"/>
                <a:cs typeface="Arial" pitchFamily="34" charset="-120"/>
              </a:rPr>
              <a:t>Cloud computing is now a normal way of building, deploying, securing, and scaling software systems.</a:t>
            </a:r>
            <a:endParaRPr lang="en-US" sz="2400" dirty="0"/>
          </a:p>
        </p:txBody>
      </p:sp>
      <p:sp>
        <p:nvSpPr>
          <p:cNvPr id="9" name="Text 6"/>
          <p:cNvSpPr/>
          <p:nvPr/>
        </p:nvSpPr>
        <p:spPr>
          <a:xfrm>
            <a:off x="822960" y="1901952"/>
            <a:ext cx="10332720" cy="3246120"/>
          </a:xfrm>
          <a:prstGeom prst="rect">
            <a:avLst/>
          </a:prstGeom>
          <a:noFill/>
          <a:ln/>
        </p:spPr>
        <p:txBody>
          <a:bodyPr wrap="square" lIns="635" tIns="635" rIns="635" bIns="635" rtlCol="0" anchor="t">
            <a:normAutofit/>
          </a:bodyPr>
          <a:lstStyle/>
          <a:p>
            <a:pPr marL="0" indent="0">
              <a:lnSpc>
                <a:spcPct val="97000"/>
              </a:lnSpc>
              <a:buNone/>
            </a:pPr>
            <a:r>
              <a:rPr lang="en-US" sz="2050" dirty="0">
                <a:solidFill>
                  <a:srgbClr val="3F4A55"/>
                </a:solidFill>
                <a:latin typeface="Arial" pitchFamily="34" charset="0"/>
                <a:ea typeface="Arial" pitchFamily="34" charset="-122"/>
                <a:cs typeface="Arial" pitchFamily="34" charset="-120"/>
              </a:rPr>
              <a:t>• Software engineers deploy applications without waiting for physical servers to be purchased and installed.</a:t>
            </a:r>
            <a:endParaRPr lang="en-US" sz="2050" dirty="0"/>
          </a:p>
          <a:p>
            <a:pPr marL="0" indent="0">
              <a:lnSpc>
                <a:spcPct val="97000"/>
              </a:lnSpc>
              <a:buNone/>
            </a:pPr>
            <a:r>
              <a:rPr lang="en-US" sz="2050" dirty="0">
                <a:solidFill>
                  <a:srgbClr val="3F4A55"/>
                </a:solidFill>
                <a:latin typeface="Arial" pitchFamily="34" charset="0"/>
                <a:ea typeface="Arial" pitchFamily="34" charset="-122"/>
                <a:cs typeface="Arial" pitchFamily="34" charset="-120"/>
              </a:rPr>
              <a:t>• Systems can start small and grow as more users join, which is useful for start-ups, universities, banks, hospitals, and government systems.</a:t>
            </a:r>
            <a:endParaRPr lang="en-US" sz="2050" dirty="0"/>
          </a:p>
          <a:p>
            <a:pPr marL="0" indent="0">
              <a:lnSpc>
                <a:spcPct val="97000"/>
              </a:lnSpc>
              <a:buNone/>
            </a:pPr>
            <a:r>
              <a:rPr lang="en-US" sz="2050" dirty="0">
                <a:solidFill>
                  <a:srgbClr val="3F4A55"/>
                </a:solidFill>
                <a:latin typeface="Arial" pitchFamily="34" charset="0"/>
                <a:ea typeface="Arial" pitchFamily="34" charset="-122"/>
                <a:cs typeface="Arial" pitchFamily="34" charset="-120"/>
              </a:rPr>
              <a:t>• Cloud changes how we think about infrastructure: servers, storage, networking, identity, monitoring, and cost become programmable services.</a:t>
            </a:r>
            <a:endParaRPr lang="en-US" sz="2050" dirty="0"/>
          </a:p>
          <a:p>
            <a:pPr marL="0" indent="0">
              <a:lnSpc>
                <a:spcPct val="97000"/>
              </a:lnSpc>
              <a:buNone/>
            </a:pPr>
            <a:r>
              <a:rPr lang="en-US" sz="2050" dirty="0">
                <a:solidFill>
                  <a:srgbClr val="3F4A55"/>
                </a:solidFill>
                <a:latin typeface="Arial" pitchFamily="34" charset="0"/>
                <a:ea typeface="Arial" pitchFamily="34" charset="-122"/>
                <a:cs typeface="Arial" pitchFamily="34" charset="-120"/>
              </a:rPr>
              <a:t>• Modern computer scientists must understand both code and the platform on which that code runs.</a:t>
            </a:r>
            <a:endParaRPr lang="en-US" sz="2050" dirty="0"/>
          </a:p>
        </p:txBody>
      </p:sp>
      <p:sp>
        <p:nvSpPr>
          <p:cNvPr id="10" name="Text 7"/>
          <p:cNvSpPr/>
          <p:nvPr/>
        </p:nvSpPr>
        <p:spPr>
          <a:xfrm>
            <a:off x="1005840" y="5440680"/>
            <a:ext cx="10058400" cy="502920"/>
          </a:xfrm>
          <a:prstGeom prst="rect">
            <a:avLst/>
          </a:prstGeom>
          <a:solidFill>
            <a:srgbClr val="E6F8F0"/>
          </a:solidFill>
          <a:ln w="12700">
            <a:solidFill>
              <a:srgbClr val="B9D8F2"/>
            </a:solidFill>
          </a:ln>
        </p:spPr>
        <p:txBody>
          <a:bodyPr wrap="square" lIns="1397" tIns="1397" rIns="1397" bIns="1397" rtlCol="0" anchor="ctr">
            <a:normAutofit/>
          </a:bodyPr>
          <a:lstStyle/>
          <a:p>
            <a:pPr marL="0" indent="0" algn="ctr">
              <a:buNone/>
            </a:pPr>
            <a:r>
              <a:rPr lang="en-US" sz="1800" b="1" dirty="0">
                <a:solidFill>
                  <a:srgbClr val="1E9E66"/>
                </a:solidFill>
                <a:latin typeface="Arial" pitchFamily="34" charset="0"/>
                <a:ea typeface="Arial" pitchFamily="34" charset="-122"/>
                <a:cs typeface="Arial" pitchFamily="34" charset="-120"/>
              </a:rPr>
              <a:t>Industry mindset: build for growth, failure, security, cost, and user experience from day one.</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BFF"/>
        </a:solidFill>
        <a:effectLst/>
      </p:bgPr>
    </p:bg>
    <p:spTree>
      <p:nvGrpSpPr>
        <p:cNvPr id="1" name=""/>
        <p:cNvGrpSpPr/>
        <p:nvPr/>
      </p:nvGrpSpPr>
      <p:grpSpPr>
        <a:xfrm>
          <a:off x="0" y="0"/>
          <a:ext cx="0" cy="0"/>
          <a:chOff x="0" y="0"/>
          <a:chExt cx="0" cy="0"/>
        </a:xfrm>
      </p:grpSpPr>
      <p:sp>
        <p:nvSpPr>
          <p:cNvPr id="2" name="Text 0"/>
          <p:cNvSpPr/>
          <p:nvPr/>
        </p:nvSpPr>
        <p:spPr>
          <a:xfrm>
            <a:off x="502920" y="182880"/>
            <a:ext cx="2011680" cy="201168"/>
          </a:xfrm>
          <a:prstGeom prst="rect">
            <a:avLst/>
          </a:prstGeom>
          <a:noFill/>
          <a:ln/>
        </p:spPr>
        <p:txBody>
          <a:bodyPr wrap="square" lIns="0" tIns="0" rIns="0" bIns="0" rtlCol="0" anchor="ctr"/>
          <a:lstStyle/>
          <a:p>
            <a:pPr marL="0" indent="0">
              <a:buNone/>
            </a:pPr>
            <a:r>
              <a:rPr lang="en-US" sz="900" b="1" dirty="0">
                <a:solidFill>
                  <a:srgbClr val="1E9E66"/>
                </a:solidFill>
                <a:latin typeface="Arial" pitchFamily="34" charset="0"/>
                <a:ea typeface="Arial" pitchFamily="34" charset="-122"/>
                <a:cs typeface="Arial" pitchFamily="34" charset="-120"/>
              </a:rPr>
              <a:t>LECTURE 1</a:t>
            </a:r>
            <a:endParaRPr lang="en-US" sz="900" dirty="0"/>
          </a:p>
        </p:txBody>
      </p:sp>
      <p:sp>
        <p:nvSpPr>
          <p:cNvPr id="3" name="Text 1"/>
          <p:cNvSpPr/>
          <p:nvPr/>
        </p:nvSpPr>
        <p:spPr>
          <a:xfrm>
            <a:off x="502920" y="438912"/>
            <a:ext cx="10881360" cy="530352"/>
          </a:xfrm>
          <a:prstGeom prst="rect">
            <a:avLst/>
          </a:prstGeom>
          <a:noFill/>
          <a:ln/>
        </p:spPr>
        <p:txBody>
          <a:bodyPr wrap="square" lIns="0" tIns="0" rIns="0" bIns="0" rtlCol="0" anchor="ctr">
            <a:normAutofit/>
          </a:bodyPr>
          <a:lstStyle/>
          <a:p>
            <a:pPr marL="0" indent="0">
              <a:buNone/>
            </a:pPr>
            <a:r>
              <a:rPr lang="en-US" sz="2800" b="1" dirty="0">
                <a:solidFill>
                  <a:srgbClr val="073B73"/>
                </a:solidFill>
                <a:latin typeface="Arial" pitchFamily="34" charset="0"/>
                <a:ea typeface="Arial" pitchFamily="34" charset="-122"/>
                <a:cs typeface="Arial" pitchFamily="34" charset="-120"/>
              </a:rPr>
              <a:t>The traditional IT problem</a:t>
            </a:r>
            <a:endParaRPr lang="en-US" sz="2800" dirty="0"/>
          </a:p>
        </p:txBody>
      </p:sp>
      <p:sp>
        <p:nvSpPr>
          <p:cNvPr id="4" name="Shape 2"/>
          <p:cNvSpPr/>
          <p:nvPr/>
        </p:nvSpPr>
        <p:spPr>
          <a:xfrm>
            <a:off x="411480" y="6327648"/>
            <a:ext cx="11247120" cy="0"/>
          </a:xfrm>
          <a:prstGeom prst="line">
            <a:avLst/>
          </a:prstGeom>
          <a:noFill/>
          <a:ln w="8890">
            <a:solidFill>
              <a:srgbClr val="B9D8F2"/>
            </a:solidFill>
            <a:prstDash val="solid"/>
          </a:ln>
        </p:spPr>
      </p:sp>
      <p:sp>
        <p:nvSpPr>
          <p:cNvPr id="5" name="Text 3"/>
          <p:cNvSpPr/>
          <p:nvPr/>
        </p:nvSpPr>
        <p:spPr>
          <a:xfrm>
            <a:off x="502920" y="6382512"/>
            <a:ext cx="7132320" cy="201168"/>
          </a:xfrm>
          <a:prstGeom prst="rect">
            <a:avLst/>
          </a:prstGeom>
          <a:noFill/>
          <a:ln/>
        </p:spPr>
        <p:txBody>
          <a:bodyPr wrap="square" lIns="0" tIns="0" rIns="0" bIns="0" rtlCol="0" anchor="ctr"/>
          <a:lstStyle/>
          <a:p>
            <a:pPr marL="0" indent="0">
              <a:buNone/>
            </a:pPr>
            <a:r>
              <a:rPr lang="en-US" sz="850" dirty="0">
                <a:solidFill>
                  <a:srgbClr val="697386"/>
                </a:solidFill>
                <a:latin typeface="Arial" pitchFamily="34" charset="0"/>
                <a:ea typeface="Arial" pitchFamily="34" charset="-122"/>
                <a:cs typeface="Arial" pitchFamily="34" charset="-120"/>
              </a:rPr>
              <a:t>ICT411 Cloud Computing • Unit 1 • Foundations &amp; Context</a:t>
            </a:r>
            <a:endParaRPr lang="en-US" sz="850" dirty="0"/>
          </a:p>
        </p:txBody>
      </p:sp>
      <p:sp>
        <p:nvSpPr>
          <p:cNvPr id="6" name="Text 4"/>
          <p:cNvSpPr/>
          <p:nvPr/>
        </p:nvSpPr>
        <p:spPr>
          <a:xfrm>
            <a:off x="10835640" y="6364224"/>
            <a:ext cx="320040" cy="228600"/>
          </a:xfrm>
          <a:prstGeom prst="rect">
            <a:avLst/>
          </a:prstGeom>
          <a:noFill/>
          <a:ln/>
        </p:spPr>
        <p:txBody>
          <a:bodyPr wrap="square" lIns="0" tIns="0" rIns="0" bIns="0" rtlCol="0" anchor="ctr"/>
          <a:lstStyle/>
          <a:p>
            <a:pPr marL="0" indent="0" algn="r">
              <a:buNone/>
            </a:pPr>
            <a:r>
              <a:rPr lang="en-US" sz="900" b="1" dirty="0">
                <a:solidFill>
                  <a:srgbClr val="697386"/>
                </a:solidFill>
                <a:latin typeface="Arial" pitchFamily="34" charset="0"/>
                <a:ea typeface="Arial" pitchFamily="34" charset="-122"/>
                <a:cs typeface="Arial" pitchFamily="34" charset="-120"/>
              </a:rPr>
              <a:t>5</a:t>
            </a:r>
            <a:endParaRPr lang="en-US" sz="900" dirty="0"/>
          </a:p>
        </p:txBody>
      </p:sp>
      <p:pic>
        <p:nvPicPr>
          <p:cNvPr id="7" name="Image 0" descr="/mnt/data/mulungushi_logo_crop2.png"/>
          <p:cNvPicPr>
            <a:picLocks noChangeAspect="1"/>
          </p:cNvPicPr>
          <p:nvPr/>
        </p:nvPicPr>
        <p:blipFill>
          <a:blip r:embed="rId3"/>
          <a:stretch>
            <a:fillRect/>
          </a:stretch>
        </p:blipFill>
        <p:spPr>
          <a:xfrm>
            <a:off x="11201400" y="6199632"/>
            <a:ext cx="502920" cy="502920"/>
          </a:xfrm>
          <a:prstGeom prst="rect">
            <a:avLst/>
          </a:prstGeom>
        </p:spPr>
      </p:pic>
      <p:sp>
        <p:nvSpPr>
          <p:cNvPr id="8" name="Text 5"/>
          <p:cNvSpPr/>
          <p:nvPr/>
        </p:nvSpPr>
        <p:spPr>
          <a:xfrm>
            <a:off x="658368" y="1143000"/>
            <a:ext cx="6629400" cy="4160520"/>
          </a:xfrm>
          <a:prstGeom prst="rect">
            <a:avLst/>
          </a:prstGeom>
          <a:noFill/>
          <a:ln/>
        </p:spPr>
        <p:txBody>
          <a:bodyPr wrap="square" lIns="635" tIns="635" rIns="635" bIns="635" rtlCol="0" anchor="t">
            <a:normAutofit/>
          </a:bodyPr>
          <a:lstStyle/>
          <a:p>
            <a:pPr marL="0" indent="0">
              <a:lnSpc>
                <a:spcPct val="97000"/>
              </a:lnSpc>
              <a:buNone/>
            </a:pPr>
            <a:r>
              <a:rPr lang="en-US" sz="2050" dirty="0">
                <a:solidFill>
                  <a:srgbClr val="3F4A55"/>
                </a:solidFill>
                <a:latin typeface="Arial" pitchFamily="34" charset="0"/>
                <a:ea typeface="Arial" pitchFamily="34" charset="-122"/>
                <a:cs typeface="Arial" pitchFamily="34" charset="-120"/>
              </a:rPr>
              <a:t>• In traditional environments, an organisation buys servers, storage, network equipment, licences, backup devices, and cooling before the system is fully used.</a:t>
            </a:r>
            <a:endParaRPr lang="en-US" sz="2050" dirty="0"/>
          </a:p>
          <a:p>
            <a:pPr marL="0" indent="0">
              <a:lnSpc>
                <a:spcPct val="97000"/>
              </a:lnSpc>
              <a:buNone/>
            </a:pPr>
            <a:r>
              <a:rPr lang="en-US" sz="2050" dirty="0">
                <a:solidFill>
                  <a:srgbClr val="3F4A55"/>
                </a:solidFill>
                <a:latin typeface="Arial" pitchFamily="34" charset="0"/>
                <a:ea typeface="Arial" pitchFamily="34" charset="-122"/>
                <a:cs typeface="Arial" pitchFamily="34" charset="-120"/>
              </a:rPr>
              <a:t>• Capacity planning is difficult because user demand may rise suddenly during registration, payments, results publication, or national events.</a:t>
            </a:r>
            <a:endParaRPr lang="en-US" sz="2050" dirty="0"/>
          </a:p>
          <a:p>
            <a:pPr marL="0" indent="0">
              <a:lnSpc>
                <a:spcPct val="97000"/>
              </a:lnSpc>
              <a:buNone/>
            </a:pPr>
            <a:r>
              <a:rPr lang="en-US" sz="2050" dirty="0">
                <a:solidFill>
                  <a:srgbClr val="3F4A55"/>
                </a:solidFill>
                <a:latin typeface="Arial" pitchFamily="34" charset="0"/>
                <a:ea typeface="Arial" pitchFamily="34" charset="-122"/>
                <a:cs typeface="Arial" pitchFamily="34" charset="-120"/>
              </a:rPr>
              <a:t>• Too little capacity causes slow systems and service failure; too much capacity wastes money and electricity.</a:t>
            </a:r>
            <a:endParaRPr lang="en-US" sz="2050" dirty="0"/>
          </a:p>
          <a:p>
            <a:pPr marL="0" indent="0">
              <a:lnSpc>
                <a:spcPct val="97000"/>
              </a:lnSpc>
              <a:buNone/>
            </a:pPr>
            <a:r>
              <a:rPr lang="en-US" sz="2050" dirty="0">
                <a:solidFill>
                  <a:srgbClr val="3F4A55"/>
                </a:solidFill>
                <a:latin typeface="Arial" pitchFamily="34" charset="0"/>
                <a:ea typeface="Arial" pitchFamily="34" charset="-122"/>
                <a:cs typeface="Arial" pitchFamily="34" charset="-120"/>
              </a:rPr>
              <a:t>• Manual setup slows down innovation because developers may wait days or weeks before testing a new system.</a:t>
            </a:r>
            <a:endParaRPr lang="en-US" sz="2050" dirty="0"/>
          </a:p>
        </p:txBody>
      </p:sp>
      <p:sp>
        <p:nvSpPr>
          <p:cNvPr id="9" name="Text 6"/>
          <p:cNvSpPr/>
          <p:nvPr/>
        </p:nvSpPr>
        <p:spPr>
          <a:xfrm>
            <a:off x="7589520" y="1417320"/>
            <a:ext cx="3520440" cy="594360"/>
          </a:xfrm>
          <a:prstGeom prst="rect">
            <a:avLst/>
          </a:prstGeom>
          <a:solidFill>
            <a:srgbClr val="FCEFEA"/>
          </a:solidFill>
          <a:ln w="12700">
            <a:solidFill>
              <a:srgbClr val="B9D8F2"/>
            </a:solidFill>
          </a:ln>
        </p:spPr>
        <p:txBody>
          <a:bodyPr wrap="square" lIns="1397" tIns="1397" rIns="1397" bIns="1397" rtlCol="0" anchor="ctr">
            <a:normAutofit/>
          </a:bodyPr>
          <a:lstStyle/>
          <a:p>
            <a:pPr marL="0" indent="0" algn="ctr">
              <a:buNone/>
            </a:pPr>
            <a:r>
              <a:rPr lang="en-US" sz="2000" b="1" dirty="0">
                <a:solidFill>
                  <a:srgbClr val="B34328"/>
                </a:solidFill>
                <a:latin typeface="Arial" pitchFamily="34" charset="0"/>
                <a:ea typeface="Arial" pitchFamily="34" charset="-122"/>
                <a:cs typeface="Arial" pitchFamily="34" charset="-120"/>
              </a:rPr>
              <a:t>Capacity mismatch</a:t>
            </a:r>
            <a:endParaRPr lang="en-US" sz="2000" dirty="0"/>
          </a:p>
        </p:txBody>
      </p:sp>
      <p:sp>
        <p:nvSpPr>
          <p:cNvPr id="10" name="Text 7"/>
          <p:cNvSpPr/>
          <p:nvPr/>
        </p:nvSpPr>
        <p:spPr>
          <a:xfrm>
            <a:off x="7589520" y="2286000"/>
            <a:ext cx="3520440" cy="2743200"/>
          </a:xfrm>
          <a:prstGeom prst="rect">
            <a:avLst/>
          </a:prstGeom>
          <a:solidFill>
            <a:srgbClr val="FFFFFF"/>
          </a:solidFill>
          <a:ln w="12700">
            <a:solidFill>
              <a:srgbClr val="B9D8F2"/>
            </a:solidFill>
          </a:ln>
        </p:spPr>
        <p:txBody>
          <a:bodyPr wrap="square" lIns="635" tIns="635" rIns="635" bIns="635" rtlCol="0" anchor="ctr">
            <a:normAutofit lnSpcReduction="10000"/>
          </a:bodyPr>
          <a:lstStyle/>
          <a:p>
            <a:pPr marL="0" indent="0" algn="ctr">
              <a:buNone/>
            </a:pPr>
            <a:r>
              <a:rPr lang="en-US" sz="2200" b="1" dirty="0">
                <a:solidFill>
                  <a:srgbClr val="073B73"/>
                </a:solidFill>
                <a:latin typeface="Arial" pitchFamily="34" charset="0"/>
                <a:ea typeface="Arial" pitchFamily="34" charset="-122"/>
                <a:cs typeface="Arial" pitchFamily="34" charset="-120"/>
              </a:rPr>
              <a:t>Too little capacity</a:t>
            </a:r>
            <a:endParaRPr lang="en-US" sz="2200" dirty="0"/>
          </a:p>
          <a:p>
            <a:pPr marL="0" indent="0" algn="ctr">
              <a:buNone/>
            </a:pPr>
            <a:r>
              <a:rPr lang="en-US" sz="2200" b="1" dirty="0">
                <a:solidFill>
                  <a:srgbClr val="073B73"/>
                </a:solidFill>
                <a:latin typeface="Arial" pitchFamily="34" charset="0"/>
                <a:ea typeface="Arial" pitchFamily="34" charset="-122"/>
                <a:cs typeface="Arial" pitchFamily="34" charset="-120"/>
              </a:rPr>
              <a:t>→ slow or failed service</a:t>
            </a:r>
            <a:endParaRPr lang="en-US" sz="2200" dirty="0"/>
          </a:p>
          <a:p>
            <a:pPr marL="0" indent="0" algn="ctr">
              <a:buNone/>
            </a:pPr>
            <a:endParaRPr lang="en-US" sz="2200" dirty="0"/>
          </a:p>
          <a:p>
            <a:pPr marL="0" indent="0" algn="ctr">
              <a:buNone/>
            </a:pPr>
            <a:r>
              <a:rPr lang="en-US" sz="2200" b="1" dirty="0">
                <a:solidFill>
                  <a:srgbClr val="073B73"/>
                </a:solidFill>
                <a:latin typeface="Arial" pitchFamily="34" charset="0"/>
                <a:ea typeface="Arial" pitchFamily="34" charset="-122"/>
                <a:cs typeface="Arial" pitchFamily="34" charset="-120"/>
              </a:rPr>
              <a:t>Too much capacity</a:t>
            </a:r>
            <a:endParaRPr lang="en-US" sz="2200" dirty="0"/>
          </a:p>
          <a:p>
            <a:pPr marL="0" indent="0" algn="ctr">
              <a:buNone/>
            </a:pPr>
            <a:r>
              <a:rPr lang="en-US" sz="2200" b="1" dirty="0">
                <a:solidFill>
                  <a:srgbClr val="073B73"/>
                </a:solidFill>
                <a:latin typeface="Arial" pitchFamily="34" charset="0"/>
                <a:ea typeface="Arial" pitchFamily="34" charset="-122"/>
                <a:cs typeface="Arial" pitchFamily="34" charset="-120"/>
              </a:rPr>
              <a:t>→ wasted budget</a:t>
            </a:r>
            <a:endParaRPr lang="en-US" sz="2200" dirty="0"/>
          </a:p>
          <a:p>
            <a:pPr marL="0" indent="0" algn="ctr">
              <a:buNone/>
            </a:pPr>
            <a:endParaRPr lang="en-US" sz="2200" dirty="0"/>
          </a:p>
          <a:p>
            <a:pPr marL="0" indent="0" algn="ctr">
              <a:buNone/>
            </a:pPr>
            <a:r>
              <a:rPr lang="en-US" sz="2200" b="1" dirty="0">
                <a:solidFill>
                  <a:srgbClr val="073B73"/>
                </a:solidFill>
                <a:latin typeface="Arial" pitchFamily="34" charset="0"/>
                <a:ea typeface="Arial" pitchFamily="34" charset="-122"/>
                <a:cs typeface="Arial" pitchFamily="34" charset="-120"/>
              </a:rPr>
              <a:t>Cloud goal</a:t>
            </a:r>
            <a:endParaRPr lang="en-US" sz="2200" dirty="0"/>
          </a:p>
          <a:p>
            <a:pPr marL="0" indent="0" algn="ctr">
              <a:buNone/>
            </a:pPr>
            <a:r>
              <a:rPr lang="en-US" sz="2200" b="1" dirty="0">
                <a:solidFill>
                  <a:srgbClr val="073B73"/>
                </a:solidFill>
                <a:latin typeface="Arial" pitchFamily="34" charset="0"/>
                <a:ea typeface="Arial" pitchFamily="34" charset="-122"/>
                <a:cs typeface="Arial" pitchFamily="34" charset="-120"/>
              </a:rPr>
              <a:t>→ match resources to demand</a:t>
            </a:r>
            <a:endParaRPr lang="en-US" sz="2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9">
    <p:bg>
      <p:bgPr>
        <a:solidFill>
          <a:srgbClr val="F7FBFF"/>
        </a:solidFill>
        <a:effectLst/>
      </p:bgPr>
    </p:bg>
    <p:spTree>
      <p:nvGrpSpPr>
        <p:cNvPr id="1" name=""/>
        <p:cNvGrpSpPr/>
        <p:nvPr/>
      </p:nvGrpSpPr>
      <p:grpSpPr>
        <a:xfrm>
          <a:off x="0" y="0"/>
          <a:ext cx="0" cy="0"/>
          <a:chOff x="0" y="0"/>
          <a:chExt cx="0" cy="0"/>
        </a:xfrm>
      </p:grpSpPr>
      <p:sp>
        <p:nvSpPr>
          <p:cNvPr id="2" name="Text 0"/>
          <p:cNvSpPr/>
          <p:nvPr/>
        </p:nvSpPr>
        <p:spPr>
          <a:xfrm>
            <a:off x="502920" y="182880"/>
            <a:ext cx="2011680" cy="201168"/>
          </a:xfrm>
          <a:prstGeom prst="rect">
            <a:avLst/>
          </a:prstGeom>
          <a:noFill/>
          <a:ln/>
        </p:spPr>
        <p:txBody>
          <a:bodyPr wrap="square" lIns="0" tIns="0" rIns="0" bIns="0" rtlCol="0" anchor="ctr"/>
          <a:lstStyle/>
          <a:p>
            <a:pPr marL="0" indent="0">
              <a:buNone/>
            </a:pPr>
            <a:r>
              <a:rPr lang="en-US" sz="900" b="1" dirty="0">
                <a:solidFill>
                  <a:srgbClr val="1E9E66"/>
                </a:solidFill>
                <a:latin typeface="Arial" pitchFamily="34" charset="0"/>
                <a:ea typeface="Arial" pitchFamily="34" charset="-122"/>
                <a:cs typeface="Arial" pitchFamily="34" charset="-120"/>
              </a:rPr>
              <a:t>LECTURE 1</a:t>
            </a:r>
            <a:endParaRPr lang="en-US" sz="900" dirty="0"/>
          </a:p>
        </p:txBody>
      </p:sp>
      <p:sp>
        <p:nvSpPr>
          <p:cNvPr id="3" name="Text 1"/>
          <p:cNvSpPr/>
          <p:nvPr/>
        </p:nvSpPr>
        <p:spPr>
          <a:xfrm>
            <a:off x="502920" y="438912"/>
            <a:ext cx="10881360" cy="530352"/>
          </a:xfrm>
          <a:prstGeom prst="rect">
            <a:avLst/>
          </a:prstGeom>
          <a:noFill/>
          <a:ln/>
        </p:spPr>
        <p:txBody>
          <a:bodyPr wrap="square" lIns="0" tIns="0" rIns="0" bIns="0" rtlCol="0" anchor="ctr">
            <a:normAutofit/>
          </a:bodyPr>
          <a:lstStyle/>
          <a:p>
            <a:pPr marL="0" indent="0">
              <a:buNone/>
            </a:pPr>
            <a:r>
              <a:rPr lang="en-US" sz="2800" b="1" dirty="0">
                <a:solidFill>
                  <a:srgbClr val="073B73"/>
                </a:solidFill>
                <a:latin typeface="Arial" pitchFamily="34" charset="0"/>
                <a:ea typeface="Arial" pitchFamily="34" charset="-122"/>
                <a:cs typeface="Arial" pitchFamily="34" charset="-120"/>
              </a:rPr>
              <a:t>Technology enablers that made cloud possible</a:t>
            </a:r>
            <a:endParaRPr lang="en-US" sz="2800" dirty="0"/>
          </a:p>
        </p:txBody>
      </p:sp>
      <p:sp>
        <p:nvSpPr>
          <p:cNvPr id="4" name="Shape 2"/>
          <p:cNvSpPr/>
          <p:nvPr/>
        </p:nvSpPr>
        <p:spPr>
          <a:xfrm>
            <a:off x="411480" y="6327648"/>
            <a:ext cx="11247120" cy="0"/>
          </a:xfrm>
          <a:prstGeom prst="line">
            <a:avLst/>
          </a:prstGeom>
          <a:noFill/>
          <a:ln w="8890">
            <a:solidFill>
              <a:srgbClr val="B9D8F2"/>
            </a:solidFill>
            <a:prstDash val="solid"/>
          </a:ln>
        </p:spPr>
      </p:sp>
      <p:sp>
        <p:nvSpPr>
          <p:cNvPr id="5" name="Text 3"/>
          <p:cNvSpPr/>
          <p:nvPr/>
        </p:nvSpPr>
        <p:spPr>
          <a:xfrm>
            <a:off x="502920" y="6382512"/>
            <a:ext cx="7132320" cy="201168"/>
          </a:xfrm>
          <a:prstGeom prst="rect">
            <a:avLst/>
          </a:prstGeom>
          <a:noFill/>
          <a:ln/>
        </p:spPr>
        <p:txBody>
          <a:bodyPr wrap="square" lIns="0" tIns="0" rIns="0" bIns="0" rtlCol="0" anchor="ctr"/>
          <a:lstStyle/>
          <a:p>
            <a:pPr marL="0" indent="0">
              <a:buNone/>
            </a:pPr>
            <a:r>
              <a:rPr lang="en-US" sz="850" dirty="0">
                <a:solidFill>
                  <a:srgbClr val="697386"/>
                </a:solidFill>
                <a:latin typeface="Arial" pitchFamily="34" charset="0"/>
                <a:ea typeface="Arial" pitchFamily="34" charset="-122"/>
                <a:cs typeface="Arial" pitchFamily="34" charset="-120"/>
              </a:rPr>
              <a:t>ICT411 Cloud Computing • Unit 1 • Foundations &amp; Context</a:t>
            </a:r>
            <a:endParaRPr lang="en-US" sz="850" dirty="0"/>
          </a:p>
        </p:txBody>
      </p:sp>
      <p:sp>
        <p:nvSpPr>
          <p:cNvPr id="6" name="Text 4"/>
          <p:cNvSpPr/>
          <p:nvPr/>
        </p:nvSpPr>
        <p:spPr>
          <a:xfrm>
            <a:off x="10835640" y="6364224"/>
            <a:ext cx="320040" cy="228600"/>
          </a:xfrm>
          <a:prstGeom prst="rect">
            <a:avLst/>
          </a:prstGeom>
          <a:noFill/>
          <a:ln/>
        </p:spPr>
        <p:txBody>
          <a:bodyPr wrap="square" lIns="0" tIns="0" rIns="0" bIns="0" rtlCol="0" anchor="ctr"/>
          <a:lstStyle/>
          <a:p>
            <a:pPr marL="0" indent="0" algn="r">
              <a:buNone/>
            </a:pPr>
            <a:r>
              <a:rPr lang="en-US" sz="900" b="1" dirty="0">
                <a:solidFill>
                  <a:srgbClr val="697386"/>
                </a:solidFill>
                <a:latin typeface="Arial" pitchFamily="34" charset="0"/>
                <a:ea typeface="Arial" pitchFamily="34" charset="-122"/>
                <a:cs typeface="Arial" pitchFamily="34" charset="-120"/>
              </a:rPr>
              <a:t>9</a:t>
            </a:r>
            <a:endParaRPr lang="en-US" sz="900" dirty="0"/>
          </a:p>
        </p:txBody>
      </p:sp>
      <p:pic>
        <p:nvPicPr>
          <p:cNvPr id="7" name="Image 0" descr="/mnt/data/mulungushi_logo_crop2.png"/>
          <p:cNvPicPr>
            <a:picLocks noChangeAspect="1"/>
          </p:cNvPicPr>
          <p:nvPr/>
        </p:nvPicPr>
        <p:blipFill>
          <a:blip r:embed="rId3"/>
          <a:stretch>
            <a:fillRect/>
          </a:stretch>
        </p:blipFill>
        <p:spPr>
          <a:xfrm>
            <a:off x="11201400" y="6199632"/>
            <a:ext cx="502920" cy="502920"/>
          </a:xfrm>
          <a:prstGeom prst="rect">
            <a:avLst/>
          </a:prstGeom>
        </p:spPr>
      </p:pic>
      <p:sp>
        <p:nvSpPr>
          <p:cNvPr id="8" name="Text 5"/>
          <p:cNvSpPr/>
          <p:nvPr/>
        </p:nvSpPr>
        <p:spPr>
          <a:xfrm>
            <a:off x="594360" y="1126078"/>
            <a:ext cx="5486400" cy="4434840"/>
          </a:xfrm>
          <a:prstGeom prst="rect">
            <a:avLst/>
          </a:prstGeom>
          <a:noFill/>
          <a:ln/>
        </p:spPr>
        <p:txBody>
          <a:bodyPr wrap="square" lIns="635" tIns="635" rIns="635" bIns="635" rtlCol="0" anchor="t">
            <a:normAutofit/>
          </a:bodyPr>
          <a:lstStyle/>
          <a:p>
            <a:pPr marL="0" indent="0">
              <a:lnSpc>
                <a:spcPct val="97000"/>
              </a:lnSpc>
              <a:buNone/>
            </a:pPr>
            <a:r>
              <a:rPr lang="en-US" sz="1950" dirty="0">
                <a:solidFill>
                  <a:srgbClr val="3F4A55"/>
                </a:solidFill>
                <a:latin typeface="Arial" pitchFamily="34" charset="0"/>
                <a:ea typeface="Arial" pitchFamily="34" charset="-122"/>
                <a:cs typeface="Arial" pitchFamily="34" charset="-120"/>
              </a:rPr>
              <a:t>• Virtualization allows one physical server to safely run many isolated virtual machines or environments.</a:t>
            </a:r>
            <a:endParaRPr lang="en-US" sz="1950" dirty="0"/>
          </a:p>
          <a:p>
            <a:pPr marL="0" indent="0">
              <a:lnSpc>
                <a:spcPct val="97000"/>
              </a:lnSpc>
              <a:buNone/>
            </a:pPr>
            <a:r>
              <a:rPr lang="en-US" sz="1950" dirty="0">
                <a:solidFill>
                  <a:srgbClr val="3F4A55"/>
                </a:solidFill>
                <a:latin typeface="Arial" pitchFamily="34" charset="0"/>
                <a:ea typeface="Arial" pitchFamily="34" charset="-122"/>
                <a:cs typeface="Arial" pitchFamily="34" charset="-120"/>
              </a:rPr>
              <a:t>• Fast internet and standard web protocols allow remote access from many devices and locations.</a:t>
            </a:r>
            <a:endParaRPr lang="en-US" sz="1950" dirty="0"/>
          </a:p>
          <a:p>
            <a:pPr marL="0" indent="0">
              <a:lnSpc>
                <a:spcPct val="97000"/>
              </a:lnSpc>
              <a:buNone/>
            </a:pPr>
            <a:r>
              <a:rPr lang="en-US" sz="1950" dirty="0">
                <a:solidFill>
                  <a:srgbClr val="3F4A55"/>
                </a:solidFill>
                <a:latin typeface="Arial" pitchFamily="34" charset="0"/>
                <a:ea typeface="Arial" pitchFamily="34" charset="-122"/>
                <a:cs typeface="Arial" pitchFamily="34" charset="-120"/>
              </a:rPr>
              <a:t>• Automation tools make it possible to create, monitor, scale, and remove resources quickly.</a:t>
            </a:r>
            <a:endParaRPr lang="en-US" sz="1950" dirty="0"/>
          </a:p>
          <a:p>
            <a:pPr marL="0" indent="0">
              <a:lnSpc>
                <a:spcPct val="97000"/>
              </a:lnSpc>
              <a:buNone/>
            </a:pPr>
            <a:r>
              <a:rPr lang="en-US" sz="1950" dirty="0">
                <a:solidFill>
                  <a:srgbClr val="3F4A55"/>
                </a:solidFill>
                <a:latin typeface="Arial" pitchFamily="34" charset="0"/>
                <a:ea typeface="Arial" pitchFamily="34" charset="-122"/>
                <a:cs typeface="Arial" pitchFamily="34" charset="-120"/>
              </a:rPr>
              <a:t>• Large data centers pool compute, storage, network, cooling, power, and physical security.</a:t>
            </a:r>
            <a:endParaRPr lang="en-US" sz="1950" dirty="0"/>
          </a:p>
          <a:p>
            <a:pPr marL="0" indent="0">
              <a:lnSpc>
                <a:spcPct val="97000"/>
              </a:lnSpc>
              <a:buNone/>
            </a:pPr>
            <a:r>
              <a:rPr lang="en-US" sz="1950" dirty="0">
                <a:solidFill>
                  <a:srgbClr val="3F4A55"/>
                </a:solidFill>
                <a:latin typeface="Arial" pitchFamily="34" charset="0"/>
                <a:ea typeface="Arial" pitchFamily="34" charset="-122"/>
                <a:cs typeface="Arial" pitchFamily="34" charset="-120"/>
              </a:rPr>
              <a:t>• APIs expose infrastructure capabilities to developers and operations teams.</a:t>
            </a:r>
            <a:endParaRPr lang="en-US" sz="1950" dirty="0"/>
          </a:p>
        </p:txBody>
      </p:sp>
      <p:pic>
        <p:nvPicPr>
          <p:cNvPr id="9" name="Image 1" descr="/mnt/data/virtualization_do_more_with_less.png"/>
          <p:cNvPicPr>
            <a:picLocks noChangeAspect="1"/>
          </p:cNvPicPr>
          <p:nvPr/>
        </p:nvPicPr>
        <p:blipFill>
          <a:blip r:embed="rId4"/>
          <a:srcRect l="22000" t="7000" r="21163" b="11000"/>
          <a:stretch/>
        </p:blipFill>
        <p:spPr>
          <a:xfrm>
            <a:off x="6442840" y="1133856"/>
            <a:ext cx="5170039" cy="4416552"/>
          </a:xfrm>
          <a:prstGeom prst="rect">
            <a:avLst/>
          </a:prstGeom>
        </p:spPr>
      </p:pic>
      <p:sp>
        <p:nvSpPr>
          <p:cNvPr id="10" name="Text 6"/>
          <p:cNvSpPr/>
          <p:nvPr/>
        </p:nvSpPr>
        <p:spPr>
          <a:xfrm>
            <a:off x="731520" y="5532120"/>
            <a:ext cx="10744200" cy="502920"/>
          </a:xfrm>
          <a:prstGeom prst="rect">
            <a:avLst/>
          </a:prstGeom>
          <a:solidFill>
            <a:srgbClr val="E6F8F0"/>
          </a:solidFill>
          <a:ln w="12700">
            <a:solidFill>
              <a:srgbClr val="B9D8F2"/>
            </a:solidFill>
          </a:ln>
        </p:spPr>
        <p:txBody>
          <a:bodyPr wrap="square" lIns="1397" tIns="1397" rIns="1397" bIns="1397" rtlCol="0" anchor="ctr">
            <a:normAutofit lnSpcReduction="10000"/>
          </a:bodyPr>
          <a:lstStyle/>
          <a:p>
            <a:pPr marL="0" indent="0" algn="ctr">
              <a:buNone/>
            </a:pPr>
            <a:r>
              <a:rPr lang="en-US" sz="1750" b="1" dirty="0">
                <a:solidFill>
                  <a:srgbClr val="1E9E66"/>
                </a:solidFill>
                <a:latin typeface="Arial" pitchFamily="34" charset="0"/>
                <a:ea typeface="Arial" pitchFamily="34" charset="-122"/>
                <a:cs typeface="Arial" pitchFamily="34" charset="-120"/>
              </a:rPr>
              <a:t>Cloud is not one technology. It combines virtualization, networking, automation, data centers, APIs, and service delivery.</a:t>
            </a:r>
            <a:endParaRPr lang="en-US" sz="17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0">
    <p:bg>
      <p:bgPr>
        <a:solidFill>
          <a:srgbClr val="F7FBFF"/>
        </a:solidFill>
        <a:effectLst/>
      </p:bgPr>
    </p:bg>
    <p:spTree>
      <p:nvGrpSpPr>
        <p:cNvPr id="1" name=""/>
        <p:cNvGrpSpPr/>
        <p:nvPr/>
      </p:nvGrpSpPr>
      <p:grpSpPr>
        <a:xfrm>
          <a:off x="0" y="0"/>
          <a:ext cx="0" cy="0"/>
          <a:chOff x="0" y="0"/>
          <a:chExt cx="0" cy="0"/>
        </a:xfrm>
      </p:grpSpPr>
      <p:sp>
        <p:nvSpPr>
          <p:cNvPr id="2" name="Text 0"/>
          <p:cNvSpPr/>
          <p:nvPr/>
        </p:nvSpPr>
        <p:spPr>
          <a:xfrm>
            <a:off x="502920" y="182880"/>
            <a:ext cx="2011680" cy="201168"/>
          </a:xfrm>
          <a:prstGeom prst="rect">
            <a:avLst/>
          </a:prstGeom>
          <a:noFill/>
          <a:ln/>
        </p:spPr>
        <p:txBody>
          <a:bodyPr wrap="square" lIns="0" tIns="0" rIns="0" bIns="0" rtlCol="0" anchor="ctr"/>
          <a:lstStyle/>
          <a:p>
            <a:pPr marL="0" indent="0">
              <a:buNone/>
            </a:pPr>
            <a:r>
              <a:rPr lang="en-US" sz="900" b="1" dirty="0">
                <a:solidFill>
                  <a:srgbClr val="1E9E66"/>
                </a:solidFill>
                <a:latin typeface="Arial" pitchFamily="34" charset="0"/>
                <a:ea typeface="Arial" pitchFamily="34" charset="-122"/>
                <a:cs typeface="Arial" pitchFamily="34" charset="-120"/>
              </a:rPr>
              <a:t>LECTURE 1</a:t>
            </a:r>
            <a:endParaRPr lang="en-US" sz="900" dirty="0"/>
          </a:p>
        </p:txBody>
      </p:sp>
      <p:sp>
        <p:nvSpPr>
          <p:cNvPr id="3" name="Text 1"/>
          <p:cNvSpPr/>
          <p:nvPr/>
        </p:nvSpPr>
        <p:spPr>
          <a:xfrm>
            <a:off x="502920" y="438912"/>
            <a:ext cx="10881360" cy="530352"/>
          </a:xfrm>
          <a:prstGeom prst="rect">
            <a:avLst/>
          </a:prstGeom>
          <a:noFill/>
          <a:ln/>
        </p:spPr>
        <p:txBody>
          <a:bodyPr wrap="square" lIns="0" tIns="0" rIns="0" bIns="0" rtlCol="0" anchor="ctr">
            <a:normAutofit/>
          </a:bodyPr>
          <a:lstStyle/>
          <a:p>
            <a:pPr marL="0" indent="0">
              <a:buNone/>
            </a:pPr>
            <a:r>
              <a:rPr lang="en-US" sz="2800" b="1" dirty="0">
                <a:solidFill>
                  <a:srgbClr val="073B73"/>
                </a:solidFill>
                <a:latin typeface="Arial" pitchFamily="34" charset="0"/>
                <a:ea typeface="Arial" pitchFamily="34" charset="-122"/>
                <a:cs typeface="Arial" pitchFamily="34" charset="-120"/>
              </a:rPr>
              <a:t>Working definition of cloud computing</a:t>
            </a:r>
            <a:endParaRPr lang="en-US" sz="2800" dirty="0"/>
          </a:p>
        </p:txBody>
      </p:sp>
      <p:sp>
        <p:nvSpPr>
          <p:cNvPr id="4" name="Shape 2"/>
          <p:cNvSpPr/>
          <p:nvPr/>
        </p:nvSpPr>
        <p:spPr>
          <a:xfrm>
            <a:off x="411480" y="6327648"/>
            <a:ext cx="11247120" cy="0"/>
          </a:xfrm>
          <a:prstGeom prst="line">
            <a:avLst/>
          </a:prstGeom>
          <a:noFill/>
          <a:ln w="8890">
            <a:solidFill>
              <a:srgbClr val="B9D8F2"/>
            </a:solidFill>
            <a:prstDash val="solid"/>
          </a:ln>
        </p:spPr>
      </p:sp>
      <p:sp>
        <p:nvSpPr>
          <p:cNvPr id="5" name="Text 3"/>
          <p:cNvSpPr/>
          <p:nvPr/>
        </p:nvSpPr>
        <p:spPr>
          <a:xfrm>
            <a:off x="502920" y="6382512"/>
            <a:ext cx="7132320" cy="201168"/>
          </a:xfrm>
          <a:prstGeom prst="rect">
            <a:avLst/>
          </a:prstGeom>
          <a:noFill/>
          <a:ln/>
        </p:spPr>
        <p:txBody>
          <a:bodyPr wrap="square" lIns="0" tIns="0" rIns="0" bIns="0" rtlCol="0" anchor="ctr"/>
          <a:lstStyle/>
          <a:p>
            <a:pPr marL="0" indent="0">
              <a:buNone/>
            </a:pPr>
            <a:r>
              <a:rPr lang="en-US" sz="850" dirty="0">
                <a:solidFill>
                  <a:srgbClr val="697386"/>
                </a:solidFill>
                <a:latin typeface="Arial" pitchFamily="34" charset="0"/>
                <a:ea typeface="Arial" pitchFamily="34" charset="-122"/>
                <a:cs typeface="Arial" pitchFamily="34" charset="-120"/>
              </a:rPr>
              <a:t>ICT411 Cloud Computing • Unit 1 • Foundations &amp; Context</a:t>
            </a:r>
            <a:endParaRPr lang="en-US" sz="850" dirty="0"/>
          </a:p>
        </p:txBody>
      </p:sp>
      <p:sp>
        <p:nvSpPr>
          <p:cNvPr id="6" name="Text 4"/>
          <p:cNvSpPr/>
          <p:nvPr/>
        </p:nvSpPr>
        <p:spPr>
          <a:xfrm>
            <a:off x="10835640" y="6364224"/>
            <a:ext cx="320040" cy="228600"/>
          </a:xfrm>
          <a:prstGeom prst="rect">
            <a:avLst/>
          </a:prstGeom>
          <a:noFill/>
          <a:ln/>
        </p:spPr>
        <p:txBody>
          <a:bodyPr wrap="square" lIns="0" tIns="0" rIns="0" bIns="0" rtlCol="0" anchor="ctr"/>
          <a:lstStyle/>
          <a:p>
            <a:pPr marL="0" indent="0" algn="r">
              <a:buNone/>
            </a:pPr>
            <a:r>
              <a:rPr lang="en-US" sz="900" b="1" dirty="0">
                <a:solidFill>
                  <a:srgbClr val="697386"/>
                </a:solidFill>
                <a:latin typeface="Arial" pitchFamily="34" charset="0"/>
                <a:ea typeface="Arial" pitchFamily="34" charset="-122"/>
                <a:cs typeface="Arial" pitchFamily="34" charset="-120"/>
              </a:rPr>
              <a:t>10</a:t>
            </a:r>
            <a:endParaRPr lang="en-US" sz="900" dirty="0"/>
          </a:p>
        </p:txBody>
      </p:sp>
      <p:pic>
        <p:nvPicPr>
          <p:cNvPr id="7" name="Image 0" descr="/mnt/data/mulungushi_logo_crop2.png"/>
          <p:cNvPicPr>
            <a:picLocks noChangeAspect="1"/>
          </p:cNvPicPr>
          <p:nvPr/>
        </p:nvPicPr>
        <p:blipFill>
          <a:blip r:embed="rId3"/>
          <a:stretch>
            <a:fillRect/>
          </a:stretch>
        </p:blipFill>
        <p:spPr>
          <a:xfrm>
            <a:off x="11201400" y="6199632"/>
            <a:ext cx="502920" cy="502920"/>
          </a:xfrm>
          <a:prstGeom prst="rect">
            <a:avLst/>
          </a:prstGeom>
        </p:spPr>
      </p:pic>
      <p:sp>
        <p:nvSpPr>
          <p:cNvPr id="8" name="Text 5"/>
          <p:cNvSpPr/>
          <p:nvPr/>
        </p:nvSpPr>
        <p:spPr>
          <a:xfrm>
            <a:off x="749808" y="1143000"/>
            <a:ext cx="10607040" cy="960120"/>
          </a:xfrm>
          <a:prstGeom prst="rect">
            <a:avLst/>
          </a:prstGeom>
          <a:noFill/>
          <a:ln/>
        </p:spPr>
        <p:txBody>
          <a:bodyPr wrap="square" lIns="635" tIns="635" rIns="635" bIns="635" rtlCol="0" anchor="ctr">
            <a:normAutofit fontScale="92500"/>
          </a:bodyPr>
          <a:lstStyle/>
          <a:p>
            <a:pPr marL="0" indent="0" algn="ctr">
              <a:buNone/>
            </a:pPr>
            <a:r>
              <a:rPr lang="en-US" sz="2500" b="1" dirty="0">
                <a:solidFill>
                  <a:srgbClr val="073B73"/>
                </a:solidFill>
                <a:latin typeface="Arial" pitchFamily="34" charset="0"/>
                <a:ea typeface="Arial" pitchFamily="34" charset="-122"/>
                <a:cs typeface="Arial" pitchFamily="34" charset="-120"/>
              </a:rPr>
              <a:t>Cloud computing is the delivery of computing services over the internet, including storage, processing power, networking, and software applications.</a:t>
            </a:r>
            <a:endParaRPr lang="en-US" sz="2500" dirty="0"/>
          </a:p>
        </p:txBody>
      </p:sp>
      <p:sp>
        <p:nvSpPr>
          <p:cNvPr id="9" name="Text 6"/>
          <p:cNvSpPr/>
          <p:nvPr/>
        </p:nvSpPr>
        <p:spPr>
          <a:xfrm>
            <a:off x="960120" y="2514600"/>
            <a:ext cx="10012680" cy="2743200"/>
          </a:xfrm>
          <a:prstGeom prst="rect">
            <a:avLst/>
          </a:prstGeom>
          <a:noFill/>
          <a:ln/>
        </p:spPr>
        <p:txBody>
          <a:bodyPr wrap="square" lIns="635" tIns="635" rIns="635" bIns="635" rtlCol="0" anchor="t">
            <a:normAutofit/>
          </a:bodyPr>
          <a:lstStyle/>
          <a:p>
            <a:pPr marL="0" indent="0">
              <a:lnSpc>
                <a:spcPct val="97000"/>
              </a:lnSpc>
              <a:buNone/>
            </a:pPr>
            <a:r>
              <a:rPr lang="en-US" sz="2100" dirty="0">
                <a:solidFill>
                  <a:srgbClr val="3F4A55"/>
                </a:solidFill>
                <a:latin typeface="Arial" pitchFamily="34" charset="0"/>
                <a:ea typeface="Arial" pitchFamily="34" charset="-122"/>
                <a:cs typeface="Arial" pitchFamily="34" charset="-120"/>
              </a:rPr>
              <a:t>• Users access resources when needed instead of owning and maintaining every physical server locally.</a:t>
            </a:r>
            <a:endParaRPr lang="en-US" sz="2100" dirty="0"/>
          </a:p>
          <a:p>
            <a:pPr marL="0" indent="0">
              <a:lnSpc>
                <a:spcPct val="97000"/>
              </a:lnSpc>
              <a:buNone/>
            </a:pPr>
            <a:r>
              <a:rPr lang="en-US" sz="2100" dirty="0">
                <a:solidFill>
                  <a:srgbClr val="3F4A55"/>
                </a:solidFill>
                <a:latin typeface="Arial" pitchFamily="34" charset="0"/>
                <a:ea typeface="Arial" pitchFamily="34" charset="-122"/>
                <a:cs typeface="Arial" pitchFamily="34" charset="-120"/>
              </a:rPr>
              <a:t>• Providers operate data centers and expose services through portals, dashboards, command-line tools, and APIs.</a:t>
            </a:r>
            <a:endParaRPr lang="en-US" sz="2100" dirty="0"/>
          </a:p>
          <a:p>
            <a:pPr marL="0" indent="0">
              <a:lnSpc>
                <a:spcPct val="97000"/>
              </a:lnSpc>
              <a:buNone/>
            </a:pPr>
            <a:r>
              <a:rPr lang="en-US" sz="2100" dirty="0">
                <a:solidFill>
                  <a:srgbClr val="3F4A55"/>
                </a:solidFill>
                <a:latin typeface="Arial" pitchFamily="34" charset="0"/>
                <a:ea typeface="Arial" pitchFamily="34" charset="-122"/>
                <a:cs typeface="Arial" pitchFamily="34" charset="-120"/>
              </a:rPr>
              <a:t>• Consumers usually pay based on subscription, allocation, or actual measured usage.</a:t>
            </a:r>
            <a:endParaRPr lang="en-US" sz="2100" dirty="0"/>
          </a:p>
          <a:p>
            <a:pPr marL="0" indent="0">
              <a:lnSpc>
                <a:spcPct val="97000"/>
              </a:lnSpc>
              <a:buNone/>
            </a:pPr>
            <a:r>
              <a:rPr lang="en-US" sz="2100" dirty="0">
                <a:solidFill>
                  <a:srgbClr val="3F4A55"/>
                </a:solidFill>
                <a:latin typeface="Arial" pitchFamily="34" charset="0"/>
                <a:ea typeface="Arial" pitchFamily="34" charset="-122"/>
                <a:cs typeface="Arial" pitchFamily="34" charset="-120"/>
              </a:rPr>
              <a:t>• The definition includes both technology and the service model used to deliver that technology.</a:t>
            </a:r>
            <a:endParaRPr lang="en-US" sz="2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11">
    <p:bg>
      <p:bgPr>
        <a:solidFill>
          <a:srgbClr val="F7FBFF"/>
        </a:solidFill>
        <a:effectLst/>
      </p:bgPr>
    </p:bg>
    <p:spTree>
      <p:nvGrpSpPr>
        <p:cNvPr id="1" name=""/>
        <p:cNvGrpSpPr/>
        <p:nvPr/>
      </p:nvGrpSpPr>
      <p:grpSpPr>
        <a:xfrm>
          <a:off x="0" y="0"/>
          <a:ext cx="0" cy="0"/>
          <a:chOff x="0" y="0"/>
          <a:chExt cx="0" cy="0"/>
        </a:xfrm>
      </p:grpSpPr>
      <p:sp>
        <p:nvSpPr>
          <p:cNvPr id="2" name="Text 0"/>
          <p:cNvSpPr/>
          <p:nvPr/>
        </p:nvSpPr>
        <p:spPr>
          <a:xfrm>
            <a:off x="502920" y="182880"/>
            <a:ext cx="2011680" cy="201168"/>
          </a:xfrm>
          <a:prstGeom prst="rect">
            <a:avLst/>
          </a:prstGeom>
          <a:noFill/>
          <a:ln/>
        </p:spPr>
        <p:txBody>
          <a:bodyPr wrap="square" lIns="0" tIns="0" rIns="0" bIns="0" rtlCol="0" anchor="ctr"/>
          <a:lstStyle/>
          <a:p>
            <a:pPr marL="0" indent="0">
              <a:buNone/>
            </a:pPr>
            <a:r>
              <a:rPr lang="en-US" sz="900" b="1" dirty="0">
                <a:solidFill>
                  <a:srgbClr val="1E9E66"/>
                </a:solidFill>
                <a:latin typeface="Arial" pitchFamily="34" charset="0"/>
                <a:ea typeface="Arial" pitchFamily="34" charset="-122"/>
                <a:cs typeface="Arial" pitchFamily="34" charset="-120"/>
              </a:rPr>
              <a:t>LECTURE 1</a:t>
            </a:r>
            <a:endParaRPr lang="en-US" sz="900" dirty="0"/>
          </a:p>
        </p:txBody>
      </p:sp>
      <p:sp>
        <p:nvSpPr>
          <p:cNvPr id="3" name="Text 1"/>
          <p:cNvSpPr/>
          <p:nvPr/>
        </p:nvSpPr>
        <p:spPr>
          <a:xfrm>
            <a:off x="502920" y="438912"/>
            <a:ext cx="10881360" cy="530352"/>
          </a:xfrm>
          <a:prstGeom prst="rect">
            <a:avLst/>
          </a:prstGeom>
          <a:noFill/>
          <a:ln/>
        </p:spPr>
        <p:txBody>
          <a:bodyPr wrap="square" lIns="0" tIns="0" rIns="0" bIns="0" rtlCol="0" anchor="ctr">
            <a:normAutofit/>
          </a:bodyPr>
          <a:lstStyle/>
          <a:p>
            <a:pPr marL="0" indent="0">
              <a:buNone/>
            </a:pPr>
            <a:r>
              <a:rPr lang="en-US" sz="2800" b="1" dirty="0">
                <a:solidFill>
                  <a:srgbClr val="073B73"/>
                </a:solidFill>
                <a:latin typeface="Arial" pitchFamily="34" charset="0"/>
                <a:ea typeface="Arial" pitchFamily="34" charset="-122"/>
                <a:cs typeface="Arial" pitchFamily="34" charset="-120"/>
              </a:rPr>
              <a:t>Cloud delivery: what is actually being delivered?</a:t>
            </a:r>
            <a:endParaRPr lang="en-US" sz="2800" dirty="0"/>
          </a:p>
        </p:txBody>
      </p:sp>
      <p:sp>
        <p:nvSpPr>
          <p:cNvPr id="4" name="Shape 2"/>
          <p:cNvSpPr/>
          <p:nvPr/>
        </p:nvSpPr>
        <p:spPr>
          <a:xfrm>
            <a:off x="411480" y="6327648"/>
            <a:ext cx="11247120" cy="0"/>
          </a:xfrm>
          <a:prstGeom prst="line">
            <a:avLst/>
          </a:prstGeom>
          <a:noFill/>
          <a:ln w="8890">
            <a:solidFill>
              <a:srgbClr val="B9D8F2"/>
            </a:solidFill>
            <a:prstDash val="solid"/>
          </a:ln>
        </p:spPr>
      </p:sp>
      <p:sp>
        <p:nvSpPr>
          <p:cNvPr id="5" name="Text 3"/>
          <p:cNvSpPr/>
          <p:nvPr/>
        </p:nvSpPr>
        <p:spPr>
          <a:xfrm>
            <a:off x="502920" y="6382512"/>
            <a:ext cx="7132320" cy="201168"/>
          </a:xfrm>
          <a:prstGeom prst="rect">
            <a:avLst/>
          </a:prstGeom>
          <a:noFill/>
          <a:ln/>
        </p:spPr>
        <p:txBody>
          <a:bodyPr wrap="square" lIns="0" tIns="0" rIns="0" bIns="0" rtlCol="0" anchor="ctr"/>
          <a:lstStyle/>
          <a:p>
            <a:pPr marL="0" indent="0">
              <a:buNone/>
            </a:pPr>
            <a:r>
              <a:rPr lang="en-US" sz="850" dirty="0">
                <a:solidFill>
                  <a:srgbClr val="697386"/>
                </a:solidFill>
                <a:latin typeface="Arial" pitchFamily="34" charset="0"/>
                <a:ea typeface="Arial" pitchFamily="34" charset="-122"/>
                <a:cs typeface="Arial" pitchFamily="34" charset="-120"/>
              </a:rPr>
              <a:t>ICT411 Cloud Computing • Unit 1 • Foundations &amp; Context</a:t>
            </a:r>
            <a:endParaRPr lang="en-US" sz="850" dirty="0"/>
          </a:p>
        </p:txBody>
      </p:sp>
      <p:sp>
        <p:nvSpPr>
          <p:cNvPr id="6" name="Text 4"/>
          <p:cNvSpPr/>
          <p:nvPr/>
        </p:nvSpPr>
        <p:spPr>
          <a:xfrm>
            <a:off x="10835640" y="6364224"/>
            <a:ext cx="320040" cy="228600"/>
          </a:xfrm>
          <a:prstGeom prst="rect">
            <a:avLst/>
          </a:prstGeom>
          <a:noFill/>
          <a:ln/>
        </p:spPr>
        <p:txBody>
          <a:bodyPr wrap="square" lIns="0" tIns="0" rIns="0" bIns="0" rtlCol="0" anchor="ctr"/>
          <a:lstStyle/>
          <a:p>
            <a:pPr marL="0" indent="0" algn="r">
              <a:buNone/>
            </a:pPr>
            <a:r>
              <a:rPr lang="en-US" sz="900" b="1" dirty="0">
                <a:solidFill>
                  <a:srgbClr val="697386"/>
                </a:solidFill>
                <a:latin typeface="Arial" pitchFamily="34" charset="0"/>
                <a:ea typeface="Arial" pitchFamily="34" charset="-122"/>
                <a:cs typeface="Arial" pitchFamily="34" charset="-120"/>
              </a:rPr>
              <a:t>11</a:t>
            </a:r>
            <a:endParaRPr lang="en-US" sz="900" dirty="0"/>
          </a:p>
        </p:txBody>
      </p:sp>
      <p:pic>
        <p:nvPicPr>
          <p:cNvPr id="7" name="Image 0" descr="/mnt/data/mulungushi_logo_crop2.png"/>
          <p:cNvPicPr>
            <a:picLocks noChangeAspect="1"/>
          </p:cNvPicPr>
          <p:nvPr/>
        </p:nvPicPr>
        <p:blipFill>
          <a:blip r:embed="rId3"/>
          <a:stretch>
            <a:fillRect/>
          </a:stretch>
        </p:blipFill>
        <p:spPr>
          <a:xfrm>
            <a:off x="11201400" y="6199632"/>
            <a:ext cx="502920" cy="502920"/>
          </a:xfrm>
          <a:prstGeom prst="rect">
            <a:avLst/>
          </a:prstGeom>
        </p:spPr>
      </p:pic>
      <p:sp>
        <p:nvSpPr>
          <p:cNvPr id="8" name="Text 5"/>
          <p:cNvSpPr/>
          <p:nvPr/>
        </p:nvSpPr>
        <p:spPr>
          <a:xfrm>
            <a:off x="685800" y="1115568"/>
            <a:ext cx="10378440" cy="4389120"/>
          </a:xfrm>
          <a:prstGeom prst="rect">
            <a:avLst/>
          </a:prstGeom>
          <a:noFill/>
          <a:ln/>
        </p:spPr>
        <p:txBody>
          <a:bodyPr wrap="square" lIns="635" tIns="635" rIns="635" bIns="635" rtlCol="0" anchor="t">
            <a:normAutofit/>
          </a:bodyPr>
          <a:lstStyle/>
          <a:p>
            <a:pPr marL="0" indent="0">
              <a:lnSpc>
                <a:spcPct val="97000"/>
              </a:lnSpc>
              <a:buNone/>
            </a:pPr>
            <a:r>
              <a:rPr lang="en-US" sz="2020" dirty="0">
                <a:solidFill>
                  <a:srgbClr val="3F4A55"/>
                </a:solidFill>
                <a:latin typeface="Arial" pitchFamily="34" charset="0"/>
                <a:ea typeface="Arial" pitchFamily="34" charset="-122"/>
                <a:cs typeface="Arial" pitchFamily="34" charset="-120"/>
              </a:rPr>
              <a:t>• Compute: virtual machines, containers, serverless functions, and processing power for applications.</a:t>
            </a:r>
            <a:endParaRPr lang="en-US" sz="2020" dirty="0"/>
          </a:p>
          <a:p>
            <a:pPr marL="0" indent="0">
              <a:lnSpc>
                <a:spcPct val="97000"/>
              </a:lnSpc>
              <a:buNone/>
            </a:pPr>
            <a:r>
              <a:rPr lang="en-US" sz="2020" dirty="0">
                <a:solidFill>
                  <a:srgbClr val="3F4A55"/>
                </a:solidFill>
                <a:latin typeface="Arial" pitchFamily="34" charset="0"/>
                <a:ea typeface="Arial" pitchFamily="34" charset="-122"/>
                <a:cs typeface="Arial" pitchFamily="34" charset="-120"/>
              </a:rPr>
              <a:t>• Storage: files, databases, object storage, backup repositories, and archives.</a:t>
            </a:r>
            <a:endParaRPr lang="en-US" sz="2020" dirty="0"/>
          </a:p>
          <a:p>
            <a:pPr marL="0" indent="0">
              <a:lnSpc>
                <a:spcPct val="97000"/>
              </a:lnSpc>
              <a:buNone/>
            </a:pPr>
            <a:r>
              <a:rPr lang="en-US" sz="2020" dirty="0">
                <a:solidFill>
                  <a:srgbClr val="3F4A55"/>
                </a:solidFill>
                <a:latin typeface="Arial" pitchFamily="34" charset="0"/>
                <a:ea typeface="Arial" pitchFamily="34" charset="-122"/>
                <a:cs typeface="Arial" pitchFamily="34" charset="-120"/>
              </a:rPr>
              <a:t>• Networking: virtual networks, firewalls, load balancers, DNS, and private connectivity options.</a:t>
            </a:r>
            <a:endParaRPr lang="en-US" sz="2020" dirty="0"/>
          </a:p>
          <a:p>
            <a:pPr marL="0" indent="0">
              <a:lnSpc>
                <a:spcPct val="97000"/>
              </a:lnSpc>
              <a:buNone/>
            </a:pPr>
            <a:r>
              <a:rPr lang="en-US" sz="2020" dirty="0">
                <a:solidFill>
                  <a:srgbClr val="3F4A55"/>
                </a:solidFill>
                <a:latin typeface="Arial" pitchFamily="34" charset="0"/>
                <a:ea typeface="Arial" pitchFamily="34" charset="-122"/>
                <a:cs typeface="Arial" pitchFamily="34" charset="-120"/>
              </a:rPr>
              <a:t>• Software: complete applications such as email, collaboration tools, customer systems, and analytics platforms.</a:t>
            </a:r>
            <a:endParaRPr lang="en-US" sz="2020" dirty="0"/>
          </a:p>
          <a:p>
            <a:pPr marL="0" indent="0">
              <a:lnSpc>
                <a:spcPct val="97000"/>
              </a:lnSpc>
              <a:buNone/>
            </a:pPr>
            <a:r>
              <a:rPr lang="en-US" sz="2020" dirty="0">
                <a:solidFill>
                  <a:srgbClr val="3F4A55"/>
                </a:solidFill>
                <a:latin typeface="Arial" pitchFamily="34" charset="0"/>
                <a:ea typeface="Arial" pitchFamily="34" charset="-122"/>
                <a:cs typeface="Arial" pitchFamily="34" charset="-120"/>
              </a:rPr>
              <a:t>• Management services: monitoring, identity, logging, automation, security scanning, and cost reporting.</a:t>
            </a:r>
            <a:endParaRPr lang="en-US" sz="2020" dirty="0"/>
          </a:p>
        </p:txBody>
      </p:sp>
      <p:sp>
        <p:nvSpPr>
          <p:cNvPr id="9" name="Text 6"/>
          <p:cNvSpPr/>
          <p:nvPr/>
        </p:nvSpPr>
        <p:spPr>
          <a:xfrm>
            <a:off x="1188720" y="5504688"/>
            <a:ext cx="9601200" cy="502920"/>
          </a:xfrm>
          <a:prstGeom prst="rect">
            <a:avLst/>
          </a:prstGeom>
          <a:solidFill>
            <a:srgbClr val="E6F8F0"/>
          </a:solidFill>
          <a:ln w="12700">
            <a:solidFill>
              <a:srgbClr val="B9D8F2"/>
            </a:solidFill>
          </a:ln>
        </p:spPr>
        <p:txBody>
          <a:bodyPr wrap="square" lIns="1397" tIns="1397" rIns="1397" bIns="1397" rtlCol="0" anchor="ctr">
            <a:normAutofit/>
          </a:bodyPr>
          <a:lstStyle/>
          <a:p>
            <a:pPr marL="0" indent="0" algn="ctr">
              <a:buNone/>
            </a:pPr>
            <a:r>
              <a:rPr lang="en-US" sz="1900" b="1" dirty="0">
                <a:solidFill>
                  <a:srgbClr val="1E9E66"/>
                </a:solidFill>
                <a:latin typeface="Arial" pitchFamily="34" charset="0"/>
                <a:ea typeface="Arial" pitchFamily="34" charset="-122"/>
                <a:cs typeface="Arial" pitchFamily="34" charset="-120"/>
              </a:rPr>
              <a:t>Important point: cloud is a portfolio of services, not only rented servers.</a:t>
            </a:r>
            <a:endParaRPr lang="en-US" sz="1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12">
    <p:bg>
      <p:bgPr>
        <a:solidFill>
          <a:srgbClr val="F7FBFF"/>
        </a:solidFill>
        <a:effectLst/>
      </p:bgPr>
    </p:bg>
    <p:spTree>
      <p:nvGrpSpPr>
        <p:cNvPr id="1" name=""/>
        <p:cNvGrpSpPr/>
        <p:nvPr/>
      </p:nvGrpSpPr>
      <p:grpSpPr>
        <a:xfrm>
          <a:off x="0" y="0"/>
          <a:ext cx="0" cy="0"/>
          <a:chOff x="0" y="0"/>
          <a:chExt cx="0" cy="0"/>
        </a:xfrm>
      </p:grpSpPr>
      <p:sp>
        <p:nvSpPr>
          <p:cNvPr id="2" name="Text 0"/>
          <p:cNvSpPr/>
          <p:nvPr/>
        </p:nvSpPr>
        <p:spPr>
          <a:xfrm>
            <a:off x="502920" y="182880"/>
            <a:ext cx="2011680" cy="201168"/>
          </a:xfrm>
          <a:prstGeom prst="rect">
            <a:avLst/>
          </a:prstGeom>
          <a:noFill/>
          <a:ln/>
        </p:spPr>
        <p:txBody>
          <a:bodyPr wrap="square" lIns="0" tIns="0" rIns="0" bIns="0" rtlCol="0" anchor="ctr"/>
          <a:lstStyle/>
          <a:p>
            <a:pPr marL="0" indent="0">
              <a:buNone/>
            </a:pPr>
            <a:r>
              <a:rPr lang="en-US" sz="900" b="1" dirty="0">
                <a:solidFill>
                  <a:srgbClr val="1E9E66"/>
                </a:solidFill>
                <a:latin typeface="Arial" pitchFamily="34" charset="0"/>
                <a:ea typeface="Arial" pitchFamily="34" charset="-122"/>
                <a:cs typeface="Arial" pitchFamily="34" charset="-120"/>
              </a:rPr>
              <a:t>LECTURE 1</a:t>
            </a:r>
            <a:endParaRPr lang="en-US" sz="900" dirty="0"/>
          </a:p>
        </p:txBody>
      </p:sp>
      <p:sp>
        <p:nvSpPr>
          <p:cNvPr id="3" name="Text 1"/>
          <p:cNvSpPr/>
          <p:nvPr/>
        </p:nvSpPr>
        <p:spPr>
          <a:xfrm>
            <a:off x="502920" y="438912"/>
            <a:ext cx="10881360" cy="530352"/>
          </a:xfrm>
          <a:prstGeom prst="rect">
            <a:avLst/>
          </a:prstGeom>
          <a:noFill/>
          <a:ln/>
        </p:spPr>
        <p:txBody>
          <a:bodyPr wrap="square" lIns="0" tIns="0" rIns="0" bIns="0" rtlCol="0" anchor="ctr">
            <a:normAutofit/>
          </a:bodyPr>
          <a:lstStyle/>
          <a:p>
            <a:pPr marL="0" indent="0">
              <a:buNone/>
            </a:pPr>
            <a:r>
              <a:rPr lang="en-US" sz="2800" b="1" dirty="0">
                <a:solidFill>
                  <a:srgbClr val="073B73"/>
                </a:solidFill>
                <a:latin typeface="Arial" pitchFamily="34" charset="0"/>
                <a:ea typeface="Arial" pitchFamily="34" charset="-122"/>
                <a:cs typeface="Arial" pitchFamily="34" charset="-120"/>
              </a:rPr>
              <a:t>The five essential cloud characteristics</a:t>
            </a:r>
            <a:endParaRPr lang="en-US" sz="2800" dirty="0"/>
          </a:p>
        </p:txBody>
      </p:sp>
      <p:sp>
        <p:nvSpPr>
          <p:cNvPr id="4" name="Shape 2"/>
          <p:cNvSpPr/>
          <p:nvPr/>
        </p:nvSpPr>
        <p:spPr>
          <a:xfrm>
            <a:off x="411480" y="6327648"/>
            <a:ext cx="11247120" cy="0"/>
          </a:xfrm>
          <a:prstGeom prst="line">
            <a:avLst/>
          </a:prstGeom>
          <a:noFill/>
          <a:ln w="8890">
            <a:solidFill>
              <a:srgbClr val="B9D8F2"/>
            </a:solidFill>
            <a:prstDash val="solid"/>
          </a:ln>
        </p:spPr>
      </p:sp>
      <p:sp>
        <p:nvSpPr>
          <p:cNvPr id="5" name="Text 3"/>
          <p:cNvSpPr/>
          <p:nvPr/>
        </p:nvSpPr>
        <p:spPr>
          <a:xfrm>
            <a:off x="502920" y="6382512"/>
            <a:ext cx="7132320" cy="201168"/>
          </a:xfrm>
          <a:prstGeom prst="rect">
            <a:avLst/>
          </a:prstGeom>
          <a:noFill/>
          <a:ln/>
        </p:spPr>
        <p:txBody>
          <a:bodyPr wrap="square" lIns="0" tIns="0" rIns="0" bIns="0" rtlCol="0" anchor="ctr"/>
          <a:lstStyle/>
          <a:p>
            <a:pPr marL="0" indent="0">
              <a:buNone/>
            </a:pPr>
            <a:r>
              <a:rPr lang="en-US" sz="850" dirty="0">
                <a:solidFill>
                  <a:srgbClr val="697386"/>
                </a:solidFill>
                <a:latin typeface="Arial" pitchFamily="34" charset="0"/>
                <a:ea typeface="Arial" pitchFamily="34" charset="-122"/>
                <a:cs typeface="Arial" pitchFamily="34" charset="-120"/>
              </a:rPr>
              <a:t>ICT411 Cloud Computing • Unit 1 • Foundations &amp; Context</a:t>
            </a:r>
            <a:endParaRPr lang="en-US" sz="850" dirty="0"/>
          </a:p>
        </p:txBody>
      </p:sp>
      <p:sp>
        <p:nvSpPr>
          <p:cNvPr id="6" name="Text 4"/>
          <p:cNvSpPr/>
          <p:nvPr/>
        </p:nvSpPr>
        <p:spPr>
          <a:xfrm>
            <a:off x="10835640" y="6364224"/>
            <a:ext cx="320040" cy="228600"/>
          </a:xfrm>
          <a:prstGeom prst="rect">
            <a:avLst/>
          </a:prstGeom>
          <a:noFill/>
          <a:ln/>
        </p:spPr>
        <p:txBody>
          <a:bodyPr wrap="square" lIns="0" tIns="0" rIns="0" bIns="0" rtlCol="0" anchor="ctr"/>
          <a:lstStyle/>
          <a:p>
            <a:pPr marL="0" indent="0" algn="r">
              <a:buNone/>
            </a:pPr>
            <a:r>
              <a:rPr lang="en-US" sz="900" b="1" dirty="0">
                <a:solidFill>
                  <a:srgbClr val="697386"/>
                </a:solidFill>
                <a:latin typeface="Arial" pitchFamily="34" charset="0"/>
                <a:ea typeface="Arial" pitchFamily="34" charset="-122"/>
                <a:cs typeface="Arial" pitchFamily="34" charset="-120"/>
              </a:rPr>
              <a:t>12</a:t>
            </a:r>
            <a:endParaRPr lang="en-US" sz="900" dirty="0"/>
          </a:p>
        </p:txBody>
      </p:sp>
      <p:pic>
        <p:nvPicPr>
          <p:cNvPr id="7" name="Image 0" descr="/mnt/data/mulungushi_logo_crop2.png"/>
          <p:cNvPicPr>
            <a:picLocks noChangeAspect="1"/>
          </p:cNvPicPr>
          <p:nvPr/>
        </p:nvPicPr>
        <p:blipFill>
          <a:blip r:embed="rId3"/>
          <a:stretch>
            <a:fillRect/>
          </a:stretch>
        </p:blipFill>
        <p:spPr>
          <a:xfrm>
            <a:off x="11201400" y="6199632"/>
            <a:ext cx="502920" cy="502920"/>
          </a:xfrm>
          <a:prstGeom prst="rect">
            <a:avLst/>
          </a:prstGeom>
        </p:spPr>
      </p:pic>
      <p:pic>
        <p:nvPicPr>
          <p:cNvPr id="8" name="Image 1" descr="/mnt/data/cloud_computing_from_infrastructure_to_innovation.png"/>
          <p:cNvPicPr>
            <a:picLocks noChangeAspect="1"/>
          </p:cNvPicPr>
          <p:nvPr/>
        </p:nvPicPr>
        <p:blipFill>
          <a:blip r:embed="rId4"/>
          <a:srcRect t="8000" r="105" b="10000"/>
          <a:stretch/>
        </p:blipFill>
        <p:spPr>
          <a:xfrm>
            <a:off x="502920" y="1033272"/>
            <a:ext cx="11183112" cy="516636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3">
    <p:bg>
      <p:bgPr>
        <a:solidFill>
          <a:srgbClr val="F7FBFF"/>
        </a:solidFill>
        <a:effectLst/>
      </p:bgPr>
    </p:bg>
    <p:spTree>
      <p:nvGrpSpPr>
        <p:cNvPr id="1" name=""/>
        <p:cNvGrpSpPr/>
        <p:nvPr/>
      </p:nvGrpSpPr>
      <p:grpSpPr>
        <a:xfrm>
          <a:off x="0" y="0"/>
          <a:ext cx="0" cy="0"/>
          <a:chOff x="0" y="0"/>
          <a:chExt cx="0" cy="0"/>
        </a:xfrm>
      </p:grpSpPr>
      <p:sp>
        <p:nvSpPr>
          <p:cNvPr id="2" name="Text 0"/>
          <p:cNvSpPr/>
          <p:nvPr/>
        </p:nvSpPr>
        <p:spPr>
          <a:xfrm>
            <a:off x="502920" y="182880"/>
            <a:ext cx="2011680" cy="201168"/>
          </a:xfrm>
          <a:prstGeom prst="rect">
            <a:avLst/>
          </a:prstGeom>
          <a:noFill/>
          <a:ln/>
        </p:spPr>
        <p:txBody>
          <a:bodyPr wrap="square" lIns="0" tIns="0" rIns="0" bIns="0" rtlCol="0" anchor="ctr"/>
          <a:lstStyle/>
          <a:p>
            <a:pPr marL="0" indent="0">
              <a:buNone/>
            </a:pPr>
            <a:r>
              <a:rPr lang="en-US" sz="900" b="1" dirty="0">
                <a:solidFill>
                  <a:srgbClr val="1E9E66"/>
                </a:solidFill>
                <a:latin typeface="Arial" pitchFamily="34" charset="0"/>
                <a:ea typeface="Arial" pitchFamily="34" charset="-122"/>
                <a:cs typeface="Arial" pitchFamily="34" charset="-120"/>
              </a:rPr>
              <a:t>LECTURE 1</a:t>
            </a:r>
            <a:endParaRPr lang="en-US" sz="900" dirty="0"/>
          </a:p>
        </p:txBody>
      </p:sp>
      <p:sp>
        <p:nvSpPr>
          <p:cNvPr id="3" name="Text 1"/>
          <p:cNvSpPr/>
          <p:nvPr/>
        </p:nvSpPr>
        <p:spPr>
          <a:xfrm>
            <a:off x="502920" y="438912"/>
            <a:ext cx="10881360" cy="530352"/>
          </a:xfrm>
          <a:prstGeom prst="rect">
            <a:avLst/>
          </a:prstGeom>
          <a:noFill/>
          <a:ln/>
        </p:spPr>
        <p:txBody>
          <a:bodyPr wrap="square" lIns="0" tIns="0" rIns="0" bIns="0" rtlCol="0" anchor="ctr">
            <a:normAutofit/>
          </a:bodyPr>
          <a:lstStyle/>
          <a:p>
            <a:pPr marL="0" indent="0">
              <a:buNone/>
            </a:pPr>
            <a:r>
              <a:rPr lang="en-US" sz="2800" b="1" dirty="0">
                <a:solidFill>
                  <a:srgbClr val="073B73"/>
                </a:solidFill>
                <a:latin typeface="Arial" pitchFamily="34" charset="0"/>
                <a:ea typeface="Arial" pitchFamily="34" charset="-122"/>
                <a:cs typeface="Arial" pitchFamily="34" charset="-120"/>
              </a:rPr>
              <a:t>Characteristic 1: on-demand self-service</a:t>
            </a:r>
            <a:endParaRPr lang="en-US" sz="2800" dirty="0"/>
          </a:p>
        </p:txBody>
      </p:sp>
      <p:sp>
        <p:nvSpPr>
          <p:cNvPr id="4" name="Shape 2"/>
          <p:cNvSpPr/>
          <p:nvPr/>
        </p:nvSpPr>
        <p:spPr>
          <a:xfrm>
            <a:off x="411480" y="6327648"/>
            <a:ext cx="11247120" cy="0"/>
          </a:xfrm>
          <a:prstGeom prst="line">
            <a:avLst/>
          </a:prstGeom>
          <a:noFill/>
          <a:ln w="8890">
            <a:solidFill>
              <a:srgbClr val="B9D8F2"/>
            </a:solidFill>
            <a:prstDash val="solid"/>
          </a:ln>
        </p:spPr>
      </p:sp>
      <p:sp>
        <p:nvSpPr>
          <p:cNvPr id="5" name="Text 3"/>
          <p:cNvSpPr/>
          <p:nvPr/>
        </p:nvSpPr>
        <p:spPr>
          <a:xfrm>
            <a:off x="502920" y="6382512"/>
            <a:ext cx="7132320" cy="201168"/>
          </a:xfrm>
          <a:prstGeom prst="rect">
            <a:avLst/>
          </a:prstGeom>
          <a:noFill/>
          <a:ln/>
        </p:spPr>
        <p:txBody>
          <a:bodyPr wrap="square" lIns="0" tIns="0" rIns="0" bIns="0" rtlCol="0" anchor="ctr"/>
          <a:lstStyle/>
          <a:p>
            <a:pPr marL="0" indent="0">
              <a:buNone/>
            </a:pPr>
            <a:r>
              <a:rPr lang="en-US" sz="850" dirty="0">
                <a:solidFill>
                  <a:srgbClr val="697386"/>
                </a:solidFill>
                <a:latin typeface="Arial" pitchFamily="34" charset="0"/>
                <a:ea typeface="Arial" pitchFamily="34" charset="-122"/>
                <a:cs typeface="Arial" pitchFamily="34" charset="-120"/>
              </a:rPr>
              <a:t>ICT411 Cloud Computing • Unit 1 • Foundations &amp; Context</a:t>
            </a:r>
            <a:endParaRPr lang="en-US" sz="850" dirty="0"/>
          </a:p>
        </p:txBody>
      </p:sp>
      <p:sp>
        <p:nvSpPr>
          <p:cNvPr id="6" name="Text 4"/>
          <p:cNvSpPr/>
          <p:nvPr/>
        </p:nvSpPr>
        <p:spPr>
          <a:xfrm>
            <a:off x="10835640" y="6364224"/>
            <a:ext cx="320040" cy="228600"/>
          </a:xfrm>
          <a:prstGeom prst="rect">
            <a:avLst/>
          </a:prstGeom>
          <a:noFill/>
          <a:ln/>
        </p:spPr>
        <p:txBody>
          <a:bodyPr wrap="square" lIns="0" tIns="0" rIns="0" bIns="0" rtlCol="0" anchor="ctr"/>
          <a:lstStyle/>
          <a:p>
            <a:pPr marL="0" indent="0" algn="r">
              <a:buNone/>
            </a:pPr>
            <a:r>
              <a:rPr lang="en-US" sz="900" b="1" dirty="0">
                <a:solidFill>
                  <a:srgbClr val="697386"/>
                </a:solidFill>
                <a:latin typeface="Arial" pitchFamily="34" charset="0"/>
                <a:ea typeface="Arial" pitchFamily="34" charset="-122"/>
                <a:cs typeface="Arial" pitchFamily="34" charset="-120"/>
              </a:rPr>
              <a:t>13</a:t>
            </a:r>
            <a:endParaRPr lang="en-US" sz="900" dirty="0"/>
          </a:p>
        </p:txBody>
      </p:sp>
      <p:pic>
        <p:nvPicPr>
          <p:cNvPr id="7" name="Image 0" descr="/mnt/data/mulungushi_logo_crop2.png"/>
          <p:cNvPicPr>
            <a:picLocks noChangeAspect="1"/>
          </p:cNvPicPr>
          <p:nvPr/>
        </p:nvPicPr>
        <p:blipFill>
          <a:blip r:embed="rId3"/>
          <a:stretch>
            <a:fillRect/>
          </a:stretch>
        </p:blipFill>
        <p:spPr>
          <a:xfrm>
            <a:off x="11201400" y="6199632"/>
            <a:ext cx="502920" cy="502920"/>
          </a:xfrm>
          <a:prstGeom prst="rect">
            <a:avLst/>
          </a:prstGeom>
        </p:spPr>
      </p:pic>
      <p:sp>
        <p:nvSpPr>
          <p:cNvPr id="8" name="Text 5"/>
          <p:cNvSpPr/>
          <p:nvPr/>
        </p:nvSpPr>
        <p:spPr>
          <a:xfrm>
            <a:off x="685800" y="1143000"/>
            <a:ext cx="6629400" cy="4297680"/>
          </a:xfrm>
          <a:prstGeom prst="rect">
            <a:avLst/>
          </a:prstGeom>
          <a:noFill/>
          <a:ln/>
        </p:spPr>
        <p:txBody>
          <a:bodyPr wrap="square" lIns="635" tIns="635" rIns="635" bIns="635" rtlCol="0" anchor="t">
            <a:normAutofit/>
          </a:bodyPr>
          <a:lstStyle/>
          <a:p>
            <a:pPr marL="0" indent="0">
              <a:lnSpc>
                <a:spcPct val="97000"/>
              </a:lnSpc>
              <a:buNone/>
            </a:pPr>
            <a:r>
              <a:rPr lang="en-US" sz="2050" dirty="0">
                <a:solidFill>
                  <a:srgbClr val="3F4A55"/>
                </a:solidFill>
                <a:latin typeface="Arial" pitchFamily="34" charset="0"/>
                <a:ea typeface="Arial" pitchFamily="34" charset="-122"/>
                <a:cs typeface="Arial" pitchFamily="34" charset="-120"/>
              </a:rPr>
              <a:t>• A developer or authorised user can provision services through a web portal, command line, template, or API.</a:t>
            </a:r>
            <a:endParaRPr lang="en-US" sz="2050" dirty="0"/>
          </a:p>
          <a:p>
            <a:pPr marL="0" indent="0">
              <a:lnSpc>
                <a:spcPct val="97000"/>
              </a:lnSpc>
              <a:buNone/>
            </a:pPr>
            <a:r>
              <a:rPr lang="en-US" sz="2050" dirty="0">
                <a:solidFill>
                  <a:srgbClr val="3F4A55"/>
                </a:solidFill>
                <a:latin typeface="Arial" pitchFamily="34" charset="0"/>
                <a:ea typeface="Arial" pitchFamily="34" charset="-122"/>
                <a:cs typeface="Arial" pitchFamily="34" charset="-120"/>
              </a:rPr>
              <a:t>• Common actions include creating a VM, allocating storage, deploying a web app, starting a database, or enabling monitoring.</a:t>
            </a:r>
            <a:endParaRPr lang="en-US" sz="2050" dirty="0"/>
          </a:p>
          <a:p>
            <a:pPr marL="0" indent="0">
              <a:lnSpc>
                <a:spcPct val="97000"/>
              </a:lnSpc>
              <a:buNone/>
            </a:pPr>
            <a:r>
              <a:rPr lang="en-US" sz="2050" dirty="0">
                <a:solidFill>
                  <a:srgbClr val="3F4A55"/>
                </a:solidFill>
                <a:latin typeface="Arial" pitchFamily="34" charset="0"/>
                <a:ea typeface="Arial" pitchFamily="34" charset="-122"/>
                <a:cs typeface="Arial" pitchFamily="34" charset="-120"/>
              </a:rPr>
              <a:t>• Self-service reduces waiting time and supports rapid experimentation in development and testing.</a:t>
            </a:r>
            <a:endParaRPr lang="en-US" sz="2050" dirty="0"/>
          </a:p>
          <a:p>
            <a:pPr marL="0" indent="0">
              <a:lnSpc>
                <a:spcPct val="97000"/>
              </a:lnSpc>
              <a:buNone/>
            </a:pPr>
            <a:r>
              <a:rPr lang="en-US" sz="2050" dirty="0">
                <a:solidFill>
                  <a:srgbClr val="3F4A55"/>
                </a:solidFill>
                <a:latin typeface="Arial" pitchFamily="34" charset="0"/>
                <a:ea typeface="Arial" pitchFamily="34" charset="-122"/>
                <a:cs typeface="Arial" pitchFamily="34" charset="-120"/>
              </a:rPr>
              <a:t>• It must be controlled using identity, role-based access, quotas, approvals, budgets, and naming standards.</a:t>
            </a:r>
            <a:endParaRPr lang="en-US" sz="2050" dirty="0"/>
          </a:p>
        </p:txBody>
      </p:sp>
      <p:sp>
        <p:nvSpPr>
          <p:cNvPr id="9" name="Text 6"/>
          <p:cNvSpPr/>
          <p:nvPr/>
        </p:nvSpPr>
        <p:spPr>
          <a:xfrm>
            <a:off x="7589520" y="1600200"/>
            <a:ext cx="3520440" cy="2514600"/>
          </a:xfrm>
          <a:prstGeom prst="rect">
            <a:avLst/>
          </a:prstGeom>
          <a:solidFill>
            <a:srgbClr val="EAF5FF"/>
          </a:solidFill>
          <a:ln w="12700">
            <a:solidFill>
              <a:srgbClr val="B9D8F2"/>
            </a:solidFill>
          </a:ln>
        </p:spPr>
        <p:txBody>
          <a:bodyPr wrap="square" lIns="635" tIns="635" rIns="635" bIns="635" rtlCol="0" anchor="ctr">
            <a:normAutofit/>
          </a:bodyPr>
          <a:lstStyle/>
          <a:p>
            <a:pPr marL="0" indent="0" algn="ctr">
              <a:buNone/>
            </a:pPr>
            <a:r>
              <a:rPr lang="en-US" sz="2300" b="1" dirty="0">
                <a:solidFill>
                  <a:srgbClr val="073B73"/>
                </a:solidFill>
                <a:latin typeface="Arial" pitchFamily="34" charset="0"/>
                <a:ea typeface="Arial" pitchFamily="34" charset="-122"/>
                <a:cs typeface="Arial" pitchFamily="34" charset="-120"/>
              </a:rPr>
              <a:t>Self-service does not mean “no rules”.</a:t>
            </a:r>
            <a:endParaRPr lang="en-US" sz="2300" dirty="0"/>
          </a:p>
          <a:p>
            <a:pPr marL="0" indent="0" algn="ctr">
              <a:buNone/>
            </a:pPr>
            <a:endParaRPr lang="en-US" sz="2300" dirty="0"/>
          </a:p>
          <a:p>
            <a:pPr marL="0" indent="0" algn="ctr">
              <a:buNone/>
            </a:pPr>
            <a:r>
              <a:rPr lang="en-US" sz="2300" b="1" dirty="0">
                <a:solidFill>
                  <a:srgbClr val="073B73"/>
                </a:solidFill>
                <a:latin typeface="Arial" pitchFamily="34" charset="0"/>
                <a:ea typeface="Arial" pitchFamily="34" charset="-122"/>
                <a:cs typeface="Arial" pitchFamily="34" charset="-120"/>
              </a:rPr>
              <a:t>It means authorised users act within approved technical and governance limits.</a:t>
            </a:r>
            <a:endParaRPr lang="en-US" sz="23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4">
    <p:bg>
      <p:bgPr>
        <a:solidFill>
          <a:srgbClr val="F7FBFF"/>
        </a:solidFill>
        <a:effectLst/>
      </p:bgPr>
    </p:bg>
    <p:spTree>
      <p:nvGrpSpPr>
        <p:cNvPr id="1" name=""/>
        <p:cNvGrpSpPr/>
        <p:nvPr/>
      </p:nvGrpSpPr>
      <p:grpSpPr>
        <a:xfrm>
          <a:off x="0" y="0"/>
          <a:ext cx="0" cy="0"/>
          <a:chOff x="0" y="0"/>
          <a:chExt cx="0" cy="0"/>
        </a:xfrm>
      </p:grpSpPr>
      <p:sp>
        <p:nvSpPr>
          <p:cNvPr id="2" name="Text 0"/>
          <p:cNvSpPr/>
          <p:nvPr/>
        </p:nvSpPr>
        <p:spPr>
          <a:xfrm>
            <a:off x="502920" y="182880"/>
            <a:ext cx="2011680" cy="201168"/>
          </a:xfrm>
          <a:prstGeom prst="rect">
            <a:avLst/>
          </a:prstGeom>
          <a:noFill/>
          <a:ln/>
        </p:spPr>
        <p:txBody>
          <a:bodyPr wrap="square" lIns="0" tIns="0" rIns="0" bIns="0" rtlCol="0" anchor="ctr"/>
          <a:lstStyle/>
          <a:p>
            <a:pPr marL="0" indent="0">
              <a:buNone/>
            </a:pPr>
            <a:r>
              <a:rPr lang="en-US" sz="900" b="1" dirty="0">
                <a:solidFill>
                  <a:srgbClr val="1E9E66"/>
                </a:solidFill>
                <a:latin typeface="Arial" pitchFamily="34" charset="0"/>
                <a:ea typeface="Arial" pitchFamily="34" charset="-122"/>
                <a:cs typeface="Arial" pitchFamily="34" charset="-120"/>
              </a:rPr>
              <a:t>LECTURE 1</a:t>
            </a:r>
            <a:endParaRPr lang="en-US" sz="900" dirty="0"/>
          </a:p>
        </p:txBody>
      </p:sp>
      <p:sp>
        <p:nvSpPr>
          <p:cNvPr id="3" name="Text 1"/>
          <p:cNvSpPr/>
          <p:nvPr/>
        </p:nvSpPr>
        <p:spPr>
          <a:xfrm>
            <a:off x="502920" y="438912"/>
            <a:ext cx="10881360" cy="530352"/>
          </a:xfrm>
          <a:prstGeom prst="rect">
            <a:avLst/>
          </a:prstGeom>
          <a:noFill/>
          <a:ln/>
        </p:spPr>
        <p:txBody>
          <a:bodyPr wrap="square" lIns="0" tIns="0" rIns="0" bIns="0" rtlCol="0" anchor="ctr">
            <a:normAutofit/>
          </a:bodyPr>
          <a:lstStyle/>
          <a:p>
            <a:pPr marL="0" indent="0">
              <a:buNone/>
            </a:pPr>
            <a:r>
              <a:rPr lang="en-US" sz="2800" b="1" dirty="0">
                <a:solidFill>
                  <a:srgbClr val="073B73"/>
                </a:solidFill>
                <a:latin typeface="Arial" pitchFamily="34" charset="0"/>
                <a:ea typeface="Arial" pitchFamily="34" charset="-122"/>
                <a:cs typeface="Arial" pitchFamily="34" charset="-120"/>
              </a:rPr>
              <a:t>Characteristic 2: broad network access</a:t>
            </a:r>
            <a:endParaRPr lang="en-US" sz="2800" dirty="0"/>
          </a:p>
        </p:txBody>
      </p:sp>
      <p:sp>
        <p:nvSpPr>
          <p:cNvPr id="4" name="Shape 2"/>
          <p:cNvSpPr/>
          <p:nvPr/>
        </p:nvSpPr>
        <p:spPr>
          <a:xfrm>
            <a:off x="411480" y="6327648"/>
            <a:ext cx="11247120" cy="0"/>
          </a:xfrm>
          <a:prstGeom prst="line">
            <a:avLst/>
          </a:prstGeom>
          <a:noFill/>
          <a:ln w="8890">
            <a:solidFill>
              <a:srgbClr val="B9D8F2"/>
            </a:solidFill>
            <a:prstDash val="solid"/>
          </a:ln>
        </p:spPr>
      </p:sp>
      <p:sp>
        <p:nvSpPr>
          <p:cNvPr id="5" name="Text 3"/>
          <p:cNvSpPr/>
          <p:nvPr/>
        </p:nvSpPr>
        <p:spPr>
          <a:xfrm>
            <a:off x="502920" y="6382512"/>
            <a:ext cx="7132320" cy="201168"/>
          </a:xfrm>
          <a:prstGeom prst="rect">
            <a:avLst/>
          </a:prstGeom>
          <a:noFill/>
          <a:ln/>
        </p:spPr>
        <p:txBody>
          <a:bodyPr wrap="square" lIns="0" tIns="0" rIns="0" bIns="0" rtlCol="0" anchor="ctr"/>
          <a:lstStyle/>
          <a:p>
            <a:pPr marL="0" indent="0">
              <a:buNone/>
            </a:pPr>
            <a:r>
              <a:rPr lang="en-US" sz="850" dirty="0">
                <a:solidFill>
                  <a:srgbClr val="697386"/>
                </a:solidFill>
                <a:latin typeface="Arial" pitchFamily="34" charset="0"/>
                <a:ea typeface="Arial" pitchFamily="34" charset="-122"/>
                <a:cs typeface="Arial" pitchFamily="34" charset="-120"/>
              </a:rPr>
              <a:t>ICT411 Cloud Computing • Unit 1 • Foundations &amp; Context</a:t>
            </a:r>
            <a:endParaRPr lang="en-US" sz="850" dirty="0"/>
          </a:p>
        </p:txBody>
      </p:sp>
      <p:sp>
        <p:nvSpPr>
          <p:cNvPr id="6" name="Text 4"/>
          <p:cNvSpPr/>
          <p:nvPr/>
        </p:nvSpPr>
        <p:spPr>
          <a:xfrm>
            <a:off x="10835640" y="6364224"/>
            <a:ext cx="320040" cy="228600"/>
          </a:xfrm>
          <a:prstGeom prst="rect">
            <a:avLst/>
          </a:prstGeom>
          <a:noFill/>
          <a:ln/>
        </p:spPr>
        <p:txBody>
          <a:bodyPr wrap="square" lIns="0" tIns="0" rIns="0" bIns="0" rtlCol="0" anchor="ctr"/>
          <a:lstStyle/>
          <a:p>
            <a:pPr marL="0" indent="0" algn="r">
              <a:buNone/>
            </a:pPr>
            <a:r>
              <a:rPr lang="en-US" sz="900" b="1" dirty="0">
                <a:solidFill>
                  <a:srgbClr val="697386"/>
                </a:solidFill>
                <a:latin typeface="Arial" pitchFamily="34" charset="0"/>
                <a:ea typeface="Arial" pitchFamily="34" charset="-122"/>
                <a:cs typeface="Arial" pitchFamily="34" charset="-120"/>
              </a:rPr>
              <a:t>14</a:t>
            </a:r>
            <a:endParaRPr lang="en-US" sz="900" dirty="0"/>
          </a:p>
        </p:txBody>
      </p:sp>
      <p:pic>
        <p:nvPicPr>
          <p:cNvPr id="7" name="Image 0" descr="/mnt/data/mulungushi_logo_crop2.png"/>
          <p:cNvPicPr>
            <a:picLocks noChangeAspect="1"/>
          </p:cNvPicPr>
          <p:nvPr/>
        </p:nvPicPr>
        <p:blipFill>
          <a:blip r:embed="rId3"/>
          <a:stretch>
            <a:fillRect/>
          </a:stretch>
        </p:blipFill>
        <p:spPr>
          <a:xfrm>
            <a:off x="11201400" y="6199632"/>
            <a:ext cx="502920" cy="502920"/>
          </a:xfrm>
          <a:prstGeom prst="rect">
            <a:avLst/>
          </a:prstGeom>
        </p:spPr>
      </p:pic>
      <p:sp>
        <p:nvSpPr>
          <p:cNvPr id="8" name="Text 5"/>
          <p:cNvSpPr/>
          <p:nvPr/>
        </p:nvSpPr>
        <p:spPr>
          <a:xfrm>
            <a:off x="685800" y="1143000"/>
            <a:ext cx="6309360" cy="4434840"/>
          </a:xfrm>
          <a:prstGeom prst="rect">
            <a:avLst/>
          </a:prstGeom>
          <a:noFill/>
          <a:ln/>
        </p:spPr>
        <p:txBody>
          <a:bodyPr wrap="square" lIns="635" tIns="635" rIns="635" bIns="635" rtlCol="0" anchor="t">
            <a:normAutofit/>
          </a:bodyPr>
          <a:lstStyle/>
          <a:p>
            <a:pPr marL="0" indent="0">
              <a:lnSpc>
                <a:spcPct val="97000"/>
              </a:lnSpc>
              <a:buNone/>
            </a:pPr>
            <a:r>
              <a:rPr lang="en-US" sz="2020" dirty="0">
                <a:solidFill>
                  <a:srgbClr val="3F4A55"/>
                </a:solidFill>
                <a:latin typeface="Arial" pitchFamily="34" charset="0"/>
                <a:ea typeface="Arial" pitchFamily="34" charset="-122"/>
                <a:cs typeface="Arial" pitchFamily="34" charset="-120"/>
              </a:rPr>
              <a:t>• Cloud services are accessed over networks using standard protocols and interfaces.</a:t>
            </a:r>
            <a:endParaRPr lang="en-US" sz="2020" dirty="0"/>
          </a:p>
          <a:p>
            <a:pPr marL="0" indent="0">
              <a:lnSpc>
                <a:spcPct val="97000"/>
              </a:lnSpc>
              <a:buNone/>
            </a:pPr>
            <a:r>
              <a:rPr lang="en-US" sz="2020" dirty="0">
                <a:solidFill>
                  <a:srgbClr val="3F4A55"/>
                </a:solidFill>
                <a:latin typeface="Arial" pitchFamily="34" charset="0"/>
                <a:ea typeface="Arial" pitchFamily="34" charset="-122"/>
                <a:cs typeface="Arial" pitchFamily="34" charset="-120"/>
              </a:rPr>
              <a:t>• Users may connect from laptops, smartphones, tablets, lab machines, branch offices, or backend systems.</a:t>
            </a:r>
            <a:endParaRPr lang="en-US" sz="2020" dirty="0"/>
          </a:p>
          <a:p>
            <a:pPr marL="0" indent="0">
              <a:lnSpc>
                <a:spcPct val="97000"/>
              </a:lnSpc>
              <a:buNone/>
            </a:pPr>
            <a:r>
              <a:rPr lang="en-US" sz="2020" dirty="0">
                <a:solidFill>
                  <a:srgbClr val="3F4A55"/>
                </a:solidFill>
                <a:latin typeface="Arial" pitchFamily="34" charset="0"/>
                <a:ea typeface="Arial" pitchFamily="34" charset="-122"/>
                <a:cs typeface="Arial" pitchFamily="34" charset="-120"/>
              </a:rPr>
              <a:t>• This supports remote work, mobile applications, collaboration platforms, and system integration.</a:t>
            </a:r>
            <a:endParaRPr lang="en-US" sz="2020" dirty="0"/>
          </a:p>
          <a:p>
            <a:pPr marL="0" indent="0">
              <a:lnSpc>
                <a:spcPct val="97000"/>
              </a:lnSpc>
              <a:buNone/>
            </a:pPr>
            <a:r>
              <a:rPr lang="en-US" sz="2020" dirty="0">
                <a:solidFill>
                  <a:srgbClr val="3F4A55"/>
                </a:solidFill>
                <a:latin typeface="Arial" pitchFamily="34" charset="0"/>
                <a:ea typeface="Arial" pitchFamily="34" charset="-122"/>
                <a:cs typeface="Arial" pitchFamily="34" charset="-120"/>
              </a:rPr>
              <a:t>• Design implication: performance, bandwidth, device security, authentication, and network reliability matter.</a:t>
            </a:r>
            <a:endParaRPr lang="en-US" sz="2020" dirty="0"/>
          </a:p>
          <a:p>
            <a:pPr marL="0" indent="0">
              <a:lnSpc>
                <a:spcPct val="97000"/>
              </a:lnSpc>
              <a:buNone/>
            </a:pPr>
            <a:r>
              <a:rPr lang="en-US" sz="2020" dirty="0">
                <a:solidFill>
                  <a:srgbClr val="3F4A55"/>
                </a:solidFill>
                <a:latin typeface="Arial" pitchFamily="34" charset="0"/>
                <a:ea typeface="Arial" pitchFamily="34" charset="-122"/>
                <a:cs typeface="Arial" pitchFamily="34" charset="-120"/>
              </a:rPr>
              <a:t>• A service can be available in the cloud but still feel unusable if the last-mile network is poor.</a:t>
            </a:r>
            <a:endParaRPr lang="en-US" sz="2020" dirty="0"/>
          </a:p>
        </p:txBody>
      </p:sp>
      <p:pic>
        <p:nvPicPr>
          <p:cNvPr id="9" name="Image 1" descr="/mnt/data/a_wide_cinematic_high_resolution_digital_illustr.png"/>
          <p:cNvPicPr>
            <a:picLocks noChangeAspect="1"/>
          </p:cNvPicPr>
          <p:nvPr/>
        </p:nvPicPr>
        <p:blipFill>
          <a:blip r:embed="rId4"/>
          <a:srcRect l="45000" r="333" b="5000"/>
          <a:stretch/>
        </p:blipFill>
        <p:spPr>
          <a:xfrm>
            <a:off x="7178040" y="1207008"/>
            <a:ext cx="4160520" cy="406908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5">
    <p:bg>
      <p:bgPr>
        <a:solidFill>
          <a:srgbClr val="F7FBFF"/>
        </a:solidFill>
        <a:effectLst/>
      </p:bgPr>
    </p:bg>
    <p:spTree>
      <p:nvGrpSpPr>
        <p:cNvPr id="1" name=""/>
        <p:cNvGrpSpPr/>
        <p:nvPr/>
      </p:nvGrpSpPr>
      <p:grpSpPr>
        <a:xfrm>
          <a:off x="0" y="0"/>
          <a:ext cx="0" cy="0"/>
          <a:chOff x="0" y="0"/>
          <a:chExt cx="0" cy="0"/>
        </a:xfrm>
      </p:grpSpPr>
      <p:sp>
        <p:nvSpPr>
          <p:cNvPr id="2" name="Text 0"/>
          <p:cNvSpPr/>
          <p:nvPr/>
        </p:nvSpPr>
        <p:spPr>
          <a:xfrm>
            <a:off x="502920" y="182880"/>
            <a:ext cx="2011680" cy="201168"/>
          </a:xfrm>
          <a:prstGeom prst="rect">
            <a:avLst/>
          </a:prstGeom>
          <a:noFill/>
          <a:ln/>
        </p:spPr>
        <p:txBody>
          <a:bodyPr wrap="square" lIns="0" tIns="0" rIns="0" bIns="0" rtlCol="0" anchor="ctr"/>
          <a:lstStyle/>
          <a:p>
            <a:pPr marL="0" indent="0">
              <a:buNone/>
            </a:pPr>
            <a:r>
              <a:rPr lang="en-US" sz="900" b="1" dirty="0">
                <a:solidFill>
                  <a:srgbClr val="1E9E66"/>
                </a:solidFill>
                <a:latin typeface="Arial" pitchFamily="34" charset="0"/>
                <a:ea typeface="Arial" pitchFamily="34" charset="-122"/>
                <a:cs typeface="Arial" pitchFamily="34" charset="-120"/>
              </a:rPr>
              <a:t>LECTURE 1</a:t>
            </a:r>
            <a:endParaRPr lang="en-US" sz="900" dirty="0"/>
          </a:p>
        </p:txBody>
      </p:sp>
      <p:sp>
        <p:nvSpPr>
          <p:cNvPr id="3" name="Text 1"/>
          <p:cNvSpPr/>
          <p:nvPr/>
        </p:nvSpPr>
        <p:spPr>
          <a:xfrm>
            <a:off x="502920" y="438912"/>
            <a:ext cx="10881360" cy="530352"/>
          </a:xfrm>
          <a:prstGeom prst="rect">
            <a:avLst/>
          </a:prstGeom>
          <a:noFill/>
          <a:ln/>
        </p:spPr>
        <p:txBody>
          <a:bodyPr wrap="square" lIns="0" tIns="0" rIns="0" bIns="0" rtlCol="0" anchor="ctr">
            <a:normAutofit/>
          </a:bodyPr>
          <a:lstStyle/>
          <a:p>
            <a:pPr marL="0" indent="0">
              <a:buNone/>
            </a:pPr>
            <a:r>
              <a:rPr lang="en-US" sz="2800" b="1" dirty="0">
                <a:solidFill>
                  <a:srgbClr val="073B73"/>
                </a:solidFill>
                <a:latin typeface="Arial" pitchFamily="34" charset="0"/>
                <a:ea typeface="Arial" pitchFamily="34" charset="-122"/>
                <a:cs typeface="Arial" pitchFamily="34" charset="-120"/>
              </a:rPr>
              <a:t>Characteristic 3: resource pooling</a:t>
            </a:r>
            <a:endParaRPr lang="en-US" sz="2800" dirty="0"/>
          </a:p>
        </p:txBody>
      </p:sp>
      <p:sp>
        <p:nvSpPr>
          <p:cNvPr id="4" name="Shape 2"/>
          <p:cNvSpPr/>
          <p:nvPr/>
        </p:nvSpPr>
        <p:spPr>
          <a:xfrm>
            <a:off x="411480" y="6327648"/>
            <a:ext cx="11247120" cy="0"/>
          </a:xfrm>
          <a:prstGeom prst="line">
            <a:avLst/>
          </a:prstGeom>
          <a:noFill/>
          <a:ln w="8890">
            <a:solidFill>
              <a:srgbClr val="B9D8F2"/>
            </a:solidFill>
            <a:prstDash val="solid"/>
          </a:ln>
        </p:spPr>
      </p:sp>
      <p:sp>
        <p:nvSpPr>
          <p:cNvPr id="5" name="Text 3"/>
          <p:cNvSpPr/>
          <p:nvPr/>
        </p:nvSpPr>
        <p:spPr>
          <a:xfrm>
            <a:off x="502920" y="6382512"/>
            <a:ext cx="7132320" cy="201168"/>
          </a:xfrm>
          <a:prstGeom prst="rect">
            <a:avLst/>
          </a:prstGeom>
          <a:noFill/>
          <a:ln/>
        </p:spPr>
        <p:txBody>
          <a:bodyPr wrap="square" lIns="0" tIns="0" rIns="0" bIns="0" rtlCol="0" anchor="ctr"/>
          <a:lstStyle/>
          <a:p>
            <a:pPr marL="0" indent="0">
              <a:buNone/>
            </a:pPr>
            <a:r>
              <a:rPr lang="en-US" sz="850" dirty="0">
                <a:solidFill>
                  <a:srgbClr val="697386"/>
                </a:solidFill>
                <a:latin typeface="Arial" pitchFamily="34" charset="0"/>
                <a:ea typeface="Arial" pitchFamily="34" charset="-122"/>
                <a:cs typeface="Arial" pitchFamily="34" charset="-120"/>
              </a:rPr>
              <a:t>ICT411 Cloud Computing • Unit 1 • Foundations &amp; Context</a:t>
            </a:r>
            <a:endParaRPr lang="en-US" sz="850" dirty="0"/>
          </a:p>
        </p:txBody>
      </p:sp>
      <p:sp>
        <p:nvSpPr>
          <p:cNvPr id="6" name="Text 4"/>
          <p:cNvSpPr/>
          <p:nvPr/>
        </p:nvSpPr>
        <p:spPr>
          <a:xfrm>
            <a:off x="10835640" y="6364224"/>
            <a:ext cx="320040" cy="228600"/>
          </a:xfrm>
          <a:prstGeom prst="rect">
            <a:avLst/>
          </a:prstGeom>
          <a:noFill/>
          <a:ln/>
        </p:spPr>
        <p:txBody>
          <a:bodyPr wrap="square" lIns="0" tIns="0" rIns="0" bIns="0" rtlCol="0" anchor="ctr"/>
          <a:lstStyle/>
          <a:p>
            <a:pPr marL="0" indent="0" algn="r">
              <a:buNone/>
            </a:pPr>
            <a:r>
              <a:rPr lang="en-US" sz="900" b="1" dirty="0">
                <a:solidFill>
                  <a:srgbClr val="697386"/>
                </a:solidFill>
                <a:latin typeface="Arial" pitchFamily="34" charset="0"/>
                <a:ea typeface="Arial" pitchFamily="34" charset="-122"/>
                <a:cs typeface="Arial" pitchFamily="34" charset="-120"/>
              </a:rPr>
              <a:t>15</a:t>
            </a:r>
            <a:endParaRPr lang="en-US" sz="900" dirty="0"/>
          </a:p>
        </p:txBody>
      </p:sp>
      <p:pic>
        <p:nvPicPr>
          <p:cNvPr id="7" name="Image 0" descr="/mnt/data/mulungushi_logo_crop2.png"/>
          <p:cNvPicPr>
            <a:picLocks noChangeAspect="1"/>
          </p:cNvPicPr>
          <p:nvPr/>
        </p:nvPicPr>
        <p:blipFill>
          <a:blip r:embed="rId3"/>
          <a:stretch>
            <a:fillRect/>
          </a:stretch>
        </p:blipFill>
        <p:spPr>
          <a:xfrm>
            <a:off x="11201400" y="6199632"/>
            <a:ext cx="502920" cy="502920"/>
          </a:xfrm>
          <a:prstGeom prst="rect">
            <a:avLst/>
          </a:prstGeom>
        </p:spPr>
      </p:pic>
      <p:sp>
        <p:nvSpPr>
          <p:cNvPr id="8" name="Text 5"/>
          <p:cNvSpPr/>
          <p:nvPr/>
        </p:nvSpPr>
        <p:spPr>
          <a:xfrm>
            <a:off x="713232" y="1051560"/>
            <a:ext cx="10789920" cy="502920"/>
          </a:xfrm>
          <a:prstGeom prst="rect">
            <a:avLst/>
          </a:prstGeom>
          <a:noFill/>
          <a:ln/>
        </p:spPr>
        <p:txBody>
          <a:bodyPr wrap="square" lIns="635" tIns="635" rIns="635" bIns="635" rtlCol="0" anchor="t">
            <a:normAutofit fontScale="92500" lnSpcReduction="20000"/>
          </a:bodyPr>
          <a:lstStyle/>
          <a:p>
            <a:pPr marL="0" indent="0" algn="ctr">
              <a:buNone/>
            </a:pPr>
            <a:r>
              <a:rPr lang="en-US" sz="2150" b="1" dirty="0">
                <a:solidFill>
                  <a:srgbClr val="073B73"/>
                </a:solidFill>
                <a:latin typeface="Arial" pitchFamily="34" charset="0"/>
                <a:ea typeface="Arial" pitchFamily="34" charset="-122"/>
                <a:cs typeface="Arial" pitchFamily="34" charset="-120"/>
              </a:rPr>
              <a:t>Resource pooling means a provider groups compute, storage, and network capacity, then dynamically assigns those resources to many consumers.</a:t>
            </a:r>
            <a:endParaRPr lang="en-US" sz="2150" dirty="0"/>
          </a:p>
        </p:txBody>
      </p:sp>
      <p:sp>
        <p:nvSpPr>
          <p:cNvPr id="9" name="Text 6"/>
          <p:cNvSpPr/>
          <p:nvPr/>
        </p:nvSpPr>
        <p:spPr>
          <a:xfrm>
            <a:off x="777240" y="2423160"/>
            <a:ext cx="3108960" cy="1051560"/>
          </a:xfrm>
          <a:prstGeom prst="rect">
            <a:avLst/>
          </a:prstGeom>
          <a:solidFill>
            <a:srgbClr val="EAF5FF"/>
          </a:solidFill>
          <a:ln w="12700">
            <a:solidFill>
              <a:srgbClr val="B9D8F2"/>
            </a:solidFill>
          </a:ln>
        </p:spPr>
        <p:txBody>
          <a:bodyPr wrap="square" lIns="1397" tIns="1397" rIns="1397" bIns="1397" rtlCol="0" anchor="ctr">
            <a:normAutofit/>
          </a:bodyPr>
          <a:lstStyle/>
          <a:p>
            <a:pPr marL="0" indent="0" algn="ctr">
              <a:buNone/>
            </a:pPr>
            <a:r>
              <a:rPr lang="en-US" sz="1800" b="1" dirty="0">
                <a:solidFill>
                  <a:srgbClr val="073B73"/>
                </a:solidFill>
                <a:latin typeface="Arial" pitchFamily="34" charset="0"/>
                <a:ea typeface="Arial" pitchFamily="34" charset="-122"/>
                <a:cs typeface="Arial" pitchFamily="34" charset="-120"/>
              </a:rPr>
              <a:t>Provider resource pool</a:t>
            </a:r>
            <a:endParaRPr lang="en-US" sz="1800" dirty="0"/>
          </a:p>
          <a:p>
            <a:pPr marL="0" indent="0" algn="ctr">
              <a:buNone/>
            </a:pPr>
            <a:r>
              <a:rPr lang="en-US" sz="1800" b="1" dirty="0">
                <a:solidFill>
                  <a:srgbClr val="073B73"/>
                </a:solidFill>
                <a:latin typeface="Arial" pitchFamily="34" charset="0"/>
                <a:ea typeface="Arial" pitchFamily="34" charset="-122"/>
                <a:cs typeface="Arial" pitchFamily="34" charset="-120"/>
              </a:rPr>
              <a:t>servers • storage • network</a:t>
            </a:r>
            <a:endParaRPr lang="en-US" sz="1800" dirty="0"/>
          </a:p>
        </p:txBody>
      </p:sp>
      <p:sp>
        <p:nvSpPr>
          <p:cNvPr id="10" name="Text 7"/>
          <p:cNvSpPr/>
          <p:nvPr/>
        </p:nvSpPr>
        <p:spPr>
          <a:xfrm>
            <a:off x="4389120" y="2148840"/>
            <a:ext cx="2148840" cy="822960"/>
          </a:xfrm>
          <a:prstGeom prst="rect">
            <a:avLst/>
          </a:prstGeom>
          <a:solidFill>
            <a:srgbClr val="FFFFFF"/>
          </a:solidFill>
          <a:ln w="12700">
            <a:solidFill>
              <a:srgbClr val="B9D8F2"/>
            </a:solidFill>
          </a:ln>
        </p:spPr>
        <p:txBody>
          <a:bodyPr wrap="square" lIns="1397" tIns="1397" rIns="1397" bIns="1397" rtlCol="0" anchor="ctr">
            <a:normAutofit/>
          </a:bodyPr>
          <a:lstStyle/>
          <a:p>
            <a:pPr marL="0" indent="0" algn="ctr">
              <a:buNone/>
            </a:pPr>
            <a:r>
              <a:rPr lang="en-US" sz="1800" b="1" dirty="0">
                <a:solidFill>
                  <a:srgbClr val="3F4A55"/>
                </a:solidFill>
                <a:latin typeface="Arial" pitchFamily="34" charset="0"/>
                <a:ea typeface="Arial" pitchFamily="34" charset="-122"/>
                <a:cs typeface="Arial" pitchFamily="34" charset="-120"/>
              </a:rPr>
              <a:t>Tenant A</a:t>
            </a:r>
            <a:endParaRPr lang="en-US" sz="1800" dirty="0"/>
          </a:p>
          <a:p>
            <a:pPr marL="0" indent="0" algn="ctr">
              <a:buNone/>
            </a:pPr>
            <a:r>
              <a:rPr lang="en-US" sz="1800" b="1" dirty="0">
                <a:solidFill>
                  <a:srgbClr val="3F4A55"/>
                </a:solidFill>
                <a:latin typeface="Arial" pitchFamily="34" charset="0"/>
                <a:ea typeface="Arial" pitchFamily="34" charset="-122"/>
                <a:cs typeface="Arial" pitchFamily="34" charset="-120"/>
              </a:rPr>
              <a:t>student portal</a:t>
            </a:r>
            <a:endParaRPr lang="en-US" sz="1800" dirty="0"/>
          </a:p>
        </p:txBody>
      </p:sp>
      <p:sp>
        <p:nvSpPr>
          <p:cNvPr id="11" name="Text 8"/>
          <p:cNvSpPr/>
          <p:nvPr/>
        </p:nvSpPr>
        <p:spPr>
          <a:xfrm>
            <a:off x="4389120" y="3200400"/>
            <a:ext cx="2148840" cy="822960"/>
          </a:xfrm>
          <a:prstGeom prst="rect">
            <a:avLst/>
          </a:prstGeom>
          <a:solidFill>
            <a:srgbClr val="FFFFFF"/>
          </a:solidFill>
          <a:ln w="12700">
            <a:solidFill>
              <a:srgbClr val="B9D8F2"/>
            </a:solidFill>
          </a:ln>
        </p:spPr>
        <p:txBody>
          <a:bodyPr wrap="square" lIns="1397" tIns="1397" rIns="1397" bIns="1397" rtlCol="0" anchor="ctr">
            <a:normAutofit/>
          </a:bodyPr>
          <a:lstStyle/>
          <a:p>
            <a:pPr marL="0" indent="0" algn="ctr">
              <a:buNone/>
            </a:pPr>
            <a:r>
              <a:rPr lang="en-US" sz="1800" b="1" dirty="0">
                <a:solidFill>
                  <a:srgbClr val="3F4A55"/>
                </a:solidFill>
                <a:latin typeface="Arial" pitchFamily="34" charset="0"/>
                <a:ea typeface="Arial" pitchFamily="34" charset="-122"/>
                <a:cs typeface="Arial" pitchFamily="34" charset="-120"/>
              </a:rPr>
              <a:t>Tenant B</a:t>
            </a:r>
            <a:endParaRPr lang="en-US" sz="1800" dirty="0"/>
          </a:p>
          <a:p>
            <a:pPr marL="0" indent="0" algn="ctr">
              <a:buNone/>
            </a:pPr>
            <a:r>
              <a:rPr lang="en-US" sz="1800" b="1" dirty="0">
                <a:solidFill>
                  <a:srgbClr val="3F4A55"/>
                </a:solidFill>
                <a:latin typeface="Arial" pitchFamily="34" charset="0"/>
                <a:ea typeface="Arial" pitchFamily="34" charset="-122"/>
                <a:cs typeface="Arial" pitchFamily="34" charset="-120"/>
              </a:rPr>
              <a:t>clinic system</a:t>
            </a:r>
            <a:endParaRPr lang="en-US" sz="1800" dirty="0"/>
          </a:p>
        </p:txBody>
      </p:sp>
      <p:sp>
        <p:nvSpPr>
          <p:cNvPr id="12" name="Text 9"/>
          <p:cNvSpPr/>
          <p:nvPr/>
        </p:nvSpPr>
        <p:spPr>
          <a:xfrm>
            <a:off x="4389120" y="4251960"/>
            <a:ext cx="2148840" cy="822960"/>
          </a:xfrm>
          <a:prstGeom prst="rect">
            <a:avLst/>
          </a:prstGeom>
          <a:solidFill>
            <a:srgbClr val="FFFFFF"/>
          </a:solidFill>
          <a:ln w="12700">
            <a:solidFill>
              <a:srgbClr val="B9D8F2"/>
            </a:solidFill>
          </a:ln>
        </p:spPr>
        <p:txBody>
          <a:bodyPr wrap="square" lIns="1397" tIns="1397" rIns="1397" bIns="1397" rtlCol="0" anchor="ctr">
            <a:normAutofit/>
          </a:bodyPr>
          <a:lstStyle/>
          <a:p>
            <a:pPr marL="0" indent="0" algn="ctr">
              <a:buNone/>
            </a:pPr>
            <a:r>
              <a:rPr lang="en-US" sz="1800" b="1" dirty="0">
                <a:solidFill>
                  <a:srgbClr val="3F4A55"/>
                </a:solidFill>
                <a:latin typeface="Arial" pitchFamily="34" charset="0"/>
                <a:ea typeface="Arial" pitchFamily="34" charset="-122"/>
                <a:cs typeface="Arial" pitchFamily="34" charset="-120"/>
              </a:rPr>
              <a:t>Tenant C</a:t>
            </a:r>
            <a:endParaRPr lang="en-US" sz="1800" dirty="0"/>
          </a:p>
          <a:p>
            <a:pPr marL="0" indent="0" algn="ctr">
              <a:buNone/>
            </a:pPr>
            <a:r>
              <a:rPr lang="en-US" sz="1800" b="1" dirty="0">
                <a:solidFill>
                  <a:srgbClr val="3F4A55"/>
                </a:solidFill>
                <a:latin typeface="Arial" pitchFamily="34" charset="0"/>
                <a:ea typeface="Arial" pitchFamily="34" charset="-122"/>
                <a:cs typeface="Arial" pitchFamily="34" charset="-120"/>
              </a:rPr>
              <a:t>small business app</a:t>
            </a:r>
            <a:endParaRPr lang="en-US" sz="1800" dirty="0"/>
          </a:p>
        </p:txBody>
      </p:sp>
      <p:sp>
        <p:nvSpPr>
          <p:cNvPr id="13" name="Text 10"/>
          <p:cNvSpPr/>
          <p:nvPr/>
        </p:nvSpPr>
        <p:spPr>
          <a:xfrm>
            <a:off x="7178040" y="2423160"/>
            <a:ext cx="3840480" cy="2057400"/>
          </a:xfrm>
          <a:prstGeom prst="rect">
            <a:avLst/>
          </a:prstGeom>
          <a:solidFill>
            <a:srgbClr val="E6F8F0"/>
          </a:solidFill>
          <a:ln w="12700">
            <a:solidFill>
              <a:srgbClr val="B9D8F2"/>
            </a:solidFill>
          </a:ln>
        </p:spPr>
        <p:txBody>
          <a:bodyPr wrap="square" lIns="635" tIns="635" rIns="635" bIns="635" rtlCol="0" anchor="ctr">
            <a:normAutofit fontScale="92500"/>
          </a:bodyPr>
          <a:lstStyle/>
          <a:p>
            <a:pPr marL="0" indent="0" algn="ctr">
              <a:buNone/>
            </a:pPr>
            <a:r>
              <a:rPr lang="en-US" sz="2200" b="1" dirty="0">
                <a:solidFill>
                  <a:srgbClr val="073B73"/>
                </a:solidFill>
                <a:latin typeface="Arial" pitchFamily="34" charset="0"/>
                <a:ea typeface="Arial" pitchFamily="34" charset="-122"/>
                <a:cs typeface="Arial" pitchFamily="34" charset="-120"/>
              </a:rPr>
              <a:t>Pooling improves utilisation because unused capacity from one workload can support another workload. The provider manages assignment behind the scenes.</a:t>
            </a: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6">
    <p:bg>
      <p:bgPr>
        <a:solidFill>
          <a:srgbClr val="F7FBFF"/>
        </a:solidFill>
        <a:effectLst/>
      </p:bgPr>
    </p:bg>
    <p:spTree>
      <p:nvGrpSpPr>
        <p:cNvPr id="1" name=""/>
        <p:cNvGrpSpPr/>
        <p:nvPr/>
      </p:nvGrpSpPr>
      <p:grpSpPr>
        <a:xfrm>
          <a:off x="0" y="0"/>
          <a:ext cx="0" cy="0"/>
          <a:chOff x="0" y="0"/>
          <a:chExt cx="0" cy="0"/>
        </a:xfrm>
      </p:grpSpPr>
      <p:sp>
        <p:nvSpPr>
          <p:cNvPr id="2" name="Text 0"/>
          <p:cNvSpPr/>
          <p:nvPr/>
        </p:nvSpPr>
        <p:spPr>
          <a:xfrm>
            <a:off x="502920" y="182880"/>
            <a:ext cx="2011680" cy="201168"/>
          </a:xfrm>
          <a:prstGeom prst="rect">
            <a:avLst/>
          </a:prstGeom>
          <a:noFill/>
          <a:ln/>
        </p:spPr>
        <p:txBody>
          <a:bodyPr wrap="square" lIns="0" tIns="0" rIns="0" bIns="0" rtlCol="0" anchor="ctr"/>
          <a:lstStyle/>
          <a:p>
            <a:pPr marL="0" indent="0">
              <a:buNone/>
            </a:pPr>
            <a:r>
              <a:rPr lang="en-US" sz="900" b="1" dirty="0">
                <a:solidFill>
                  <a:srgbClr val="1E9E66"/>
                </a:solidFill>
                <a:latin typeface="Arial" pitchFamily="34" charset="0"/>
                <a:ea typeface="Arial" pitchFamily="34" charset="-122"/>
                <a:cs typeface="Arial" pitchFamily="34" charset="-120"/>
              </a:rPr>
              <a:t>LECTURE 1</a:t>
            </a:r>
            <a:endParaRPr lang="en-US" sz="900" dirty="0"/>
          </a:p>
        </p:txBody>
      </p:sp>
      <p:sp>
        <p:nvSpPr>
          <p:cNvPr id="3" name="Text 1"/>
          <p:cNvSpPr/>
          <p:nvPr/>
        </p:nvSpPr>
        <p:spPr>
          <a:xfrm>
            <a:off x="502920" y="438912"/>
            <a:ext cx="10881360" cy="530352"/>
          </a:xfrm>
          <a:prstGeom prst="rect">
            <a:avLst/>
          </a:prstGeom>
          <a:noFill/>
          <a:ln/>
        </p:spPr>
        <p:txBody>
          <a:bodyPr wrap="square" lIns="0" tIns="0" rIns="0" bIns="0" rtlCol="0" anchor="ctr">
            <a:normAutofit/>
          </a:bodyPr>
          <a:lstStyle/>
          <a:p>
            <a:pPr marL="0" indent="0">
              <a:buNone/>
            </a:pPr>
            <a:r>
              <a:rPr lang="en-US" sz="2800" b="1" dirty="0">
                <a:solidFill>
                  <a:srgbClr val="073B73"/>
                </a:solidFill>
                <a:latin typeface="Arial" pitchFamily="34" charset="0"/>
                <a:ea typeface="Arial" pitchFamily="34" charset="-122"/>
                <a:cs typeface="Arial" pitchFamily="34" charset="-120"/>
              </a:rPr>
              <a:t>Multi-tenancy and isolation: the hidden challenge</a:t>
            </a:r>
            <a:endParaRPr lang="en-US" sz="2800" dirty="0"/>
          </a:p>
        </p:txBody>
      </p:sp>
      <p:sp>
        <p:nvSpPr>
          <p:cNvPr id="4" name="Shape 2"/>
          <p:cNvSpPr/>
          <p:nvPr/>
        </p:nvSpPr>
        <p:spPr>
          <a:xfrm>
            <a:off x="411480" y="6327648"/>
            <a:ext cx="11247120" cy="0"/>
          </a:xfrm>
          <a:prstGeom prst="line">
            <a:avLst/>
          </a:prstGeom>
          <a:noFill/>
          <a:ln w="8890">
            <a:solidFill>
              <a:srgbClr val="B9D8F2"/>
            </a:solidFill>
            <a:prstDash val="solid"/>
          </a:ln>
        </p:spPr>
      </p:sp>
      <p:sp>
        <p:nvSpPr>
          <p:cNvPr id="5" name="Text 3"/>
          <p:cNvSpPr/>
          <p:nvPr/>
        </p:nvSpPr>
        <p:spPr>
          <a:xfrm>
            <a:off x="502920" y="6382512"/>
            <a:ext cx="7132320" cy="201168"/>
          </a:xfrm>
          <a:prstGeom prst="rect">
            <a:avLst/>
          </a:prstGeom>
          <a:noFill/>
          <a:ln/>
        </p:spPr>
        <p:txBody>
          <a:bodyPr wrap="square" lIns="0" tIns="0" rIns="0" bIns="0" rtlCol="0" anchor="ctr"/>
          <a:lstStyle/>
          <a:p>
            <a:pPr marL="0" indent="0">
              <a:buNone/>
            </a:pPr>
            <a:r>
              <a:rPr lang="en-US" sz="850" dirty="0">
                <a:solidFill>
                  <a:srgbClr val="697386"/>
                </a:solidFill>
                <a:latin typeface="Arial" pitchFamily="34" charset="0"/>
                <a:ea typeface="Arial" pitchFamily="34" charset="-122"/>
                <a:cs typeface="Arial" pitchFamily="34" charset="-120"/>
              </a:rPr>
              <a:t>ICT411 Cloud Computing • Unit 1 • Foundations &amp; Context</a:t>
            </a:r>
            <a:endParaRPr lang="en-US" sz="850" dirty="0"/>
          </a:p>
        </p:txBody>
      </p:sp>
      <p:sp>
        <p:nvSpPr>
          <p:cNvPr id="6" name="Text 4"/>
          <p:cNvSpPr/>
          <p:nvPr/>
        </p:nvSpPr>
        <p:spPr>
          <a:xfrm>
            <a:off x="10835640" y="6364224"/>
            <a:ext cx="320040" cy="228600"/>
          </a:xfrm>
          <a:prstGeom prst="rect">
            <a:avLst/>
          </a:prstGeom>
          <a:noFill/>
          <a:ln/>
        </p:spPr>
        <p:txBody>
          <a:bodyPr wrap="square" lIns="0" tIns="0" rIns="0" bIns="0" rtlCol="0" anchor="ctr"/>
          <a:lstStyle/>
          <a:p>
            <a:pPr marL="0" indent="0" algn="r">
              <a:buNone/>
            </a:pPr>
            <a:r>
              <a:rPr lang="en-US" sz="900" b="1" dirty="0">
                <a:solidFill>
                  <a:srgbClr val="697386"/>
                </a:solidFill>
                <a:latin typeface="Arial" pitchFamily="34" charset="0"/>
                <a:ea typeface="Arial" pitchFamily="34" charset="-122"/>
                <a:cs typeface="Arial" pitchFamily="34" charset="-120"/>
              </a:rPr>
              <a:t>16</a:t>
            </a:r>
            <a:endParaRPr lang="en-US" sz="900" dirty="0"/>
          </a:p>
        </p:txBody>
      </p:sp>
      <p:pic>
        <p:nvPicPr>
          <p:cNvPr id="7" name="Image 0" descr="/mnt/data/mulungushi_logo_crop2.png"/>
          <p:cNvPicPr>
            <a:picLocks noChangeAspect="1"/>
          </p:cNvPicPr>
          <p:nvPr/>
        </p:nvPicPr>
        <p:blipFill>
          <a:blip r:embed="rId3"/>
          <a:stretch>
            <a:fillRect/>
          </a:stretch>
        </p:blipFill>
        <p:spPr>
          <a:xfrm>
            <a:off x="11201400" y="6199632"/>
            <a:ext cx="502920" cy="502920"/>
          </a:xfrm>
          <a:prstGeom prst="rect">
            <a:avLst/>
          </a:prstGeom>
        </p:spPr>
      </p:pic>
      <p:sp>
        <p:nvSpPr>
          <p:cNvPr id="8" name="Text 5"/>
          <p:cNvSpPr/>
          <p:nvPr/>
        </p:nvSpPr>
        <p:spPr>
          <a:xfrm>
            <a:off x="685800" y="1115568"/>
            <a:ext cx="6766560" cy="4526280"/>
          </a:xfrm>
          <a:prstGeom prst="rect">
            <a:avLst/>
          </a:prstGeom>
          <a:noFill/>
          <a:ln/>
        </p:spPr>
        <p:txBody>
          <a:bodyPr wrap="square" lIns="635" tIns="635" rIns="635" bIns="635" rtlCol="0" anchor="t">
            <a:normAutofit/>
          </a:bodyPr>
          <a:lstStyle/>
          <a:p>
            <a:pPr marL="0" indent="0">
              <a:lnSpc>
                <a:spcPct val="97000"/>
              </a:lnSpc>
              <a:buNone/>
            </a:pPr>
            <a:r>
              <a:rPr lang="en-US" sz="2010" dirty="0">
                <a:solidFill>
                  <a:srgbClr val="3F4A55"/>
                </a:solidFill>
                <a:latin typeface="Arial" pitchFamily="34" charset="0"/>
                <a:ea typeface="Arial" pitchFamily="34" charset="-122"/>
                <a:cs typeface="Arial" pitchFamily="34" charset="-120"/>
              </a:rPr>
              <a:t>• Multi-tenancy means multiple customers, departments, or applications share underlying provider resources.</a:t>
            </a:r>
            <a:endParaRPr lang="en-US" sz="2010" dirty="0"/>
          </a:p>
          <a:p>
            <a:pPr marL="0" indent="0">
              <a:lnSpc>
                <a:spcPct val="97000"/>
              </a:lnSpc>
              <a:buNone/>
            </a:pPr>
            <a:r>
              <a:rPr lang="en-US" sz="2010" dirty="0">
                <a:solidFill>
                  <a:srgbClr val="3F4A55"/>
                </a:solidFill>
                <a:latin typeface="Arial" pitchFamily="34" charset="0"/>
                <a:ea typeface="Arial" pitchFamily="34" charset="-122"/>
                <a:cs typeface="Arial" pitchFamily="34" charset="-120"/>
              </a:rPr>
              <a:t>• Sharing is efficient, but it creates a strong need for isolation between tenants.</a:t>
            </a:r>
            <a:endParaRPr lang="en-US" sz="2010" dirty="0"/>
          </a:p>
          <a:p>
            <a:pPr marL="0" indent="0">
              <a:lnSpc>
                <a:spcPct val="97000"/>
              </a:lnSpc>
              <a:buNone/>
            </a:pPr>
            <a:r>
              <a:rPr lang="en-US" sz="2010" dirty="0">
                <a:solidFill>
                  <a:srgbClr val="3F4A55"/>
                </a:solidFill>
                <a:latin typeface="Arial" pitchFamily="34" charset="0"/>
                <a:ea typeface="Arial" pitchFamily="34" charset="-122"/>
                <a:cs typeface="Arial" pitchFamily="34" charset="-120"/>
              </a:rPr>
              <a:t>• Isolation must protect data, memory, storage, network traffic, identities, logs, and management actions.</a:t>
            </a:r>
            <a:endParaRPr lang="en-US" sz="2010" dirty="0"/>
          </a:p>
          <a:p>
            <a:pPr marL="0" indent="0">
              <a:lnSpc>
                <a:spcPct val="97000"/>
              </a:lnSpc>
              <a:buNone/>
            </a:pPr>
            <a:r>
              <a:rPr lang="en-US" sz="2010" dirty="0">
                <a:solidFill>
                  <a:srgbClr val="3F4A55"/>
                </a:solidFill>
                <a:latin typeface="Arial" pitchFamily="34" charset="0"/>
                <a:ea typeface="Arial" pitchFamily="34" charset="-122"/>
                <a:cs typeface="Arial" pitchFamily="34" charset="-120"/>
              </a:rPr>
              <a:t>• A failure or misconfiguration in one tenant should not expose another tenant’s data or disrupt their service.</a:t>
            </a:r>
            <a:endParaRPr lang="en-US" sz="2010" dirty="0"/>
          </a:p>
          <a:p>
            <a:pPr marL="0" indent="0">
              <a:lnSpc>
                <a:spcPct val="97000"/>
              </a:lnSpc>
              <a:buNone/>
            </a:pPr>
            <a:r>
              <a:rPr lang="en-US" sz="2010" dirty="0">
                <a:solidFill>
                  <a:srgbClr val="3F4A55"/>
                </a:solidFill>
                <a:latin typeface="Arial" pitchFamily="34" charset="0"/>
                <a:ea typeface="Arial" pitchFamily="34" charset="-122"/>
                <a:cs typeface="Arial" pitchFamily="34" charset="-120"/>
              </a:rPr>
              <a:t>• This is why virtualization, access control, encryption, monitoring, and provider security practices are important.</a:t>
            </a:r>
            <a:endParaRPr lang="en-US" sz="2010" dirty="0"/>
          </a:p>
        </p:txBody>
      </p:sp>
      <p:pic>
        <p:nvPicPr>
          <p:cNvPr id="9" name="Image 1" descr="/mnt/data/wide_high_resolution_vector_3d_rendered_infographi.png"/>
          <p:cNvPicPr>
            <a:picLocks noChangeAspect="1"/>
          </p:cNvPicPr>
          <p:nvPr/>
        </p:nvPicPr>
        <p:blipFill>
          <a:blip r:embed="rId4"/>
          <a:srcRect l="8000" t="12000" r="55007" b="10000"/>
          <a:stretch/>
        </p:blipFill>
        <p:spPr>
          <a:xfrm>
            <a:off x="7635240" y="1261872"/>
            <a:ext cx="3429000" cy="406908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7">
    <p:bg>
      <p:bgPr>
        <a:solidFill>
          <a:srgbClr val="F7FBFF"/>
        </a:solidFill>
        <a:effectLst/>
      </p:bgPr>
    </p:bg>
    <p:spTree>
      <p:nvGrpSpPr>
        <p:cNvPr id="1" name=""/>
        <p:cNvGrpSpPr/>
        <p:nvPr/>
      </p:nvGrpSpPr>
      <p:grpSpPr>
        <a:xfrm>
          <a:off x="0" y="0"/>
          <a:ext cx="0" cy="0"/>
          <a:chOff x="0" y="0"/>
          <a:chExt cx="0" cy="0"/>
        </a:xfrm>
      </p:grpSpPr>
      <p:sp>
        <p:nvSpPr>
          <p:cNvPr id="2" name="Text 0"/>
          <p:cNvSpPr/>
          <p:nvPr/>
        </p:nvSpPr>
        <p:spPr>
          <a:xfrm>
            <a:off x="502920" y="182880"/>
            <a:ext cx="2011680" cy="201168"/>
          </a:xfrm>
          <a:prstGeom prst="rect">
            <a:avLst/>
          </a:prstGeom>
          <a:noFill/>
          <a:ln/>
        </p:spPr>
        <p:txBody>
          <a:bodyPr wrap="square" lIns="0" tIns="0" rIns="0" bIns="0" rtlCol="0" anchor="ctr"/>
          <a:lstStyle/>
          <a:p>
            <a:pPr marL="0" indent="0">
              <a:buNone/>
            </a:pPr>
            <a:r>
              <a:rPr lang="en-US" sz="900" b="1" dirty="0">
                <a:solidFill>
                  <a:srgbClr val="1E9E66"/>
                </a:solidFill>
                <a:latin typeface="Arial" pitchFamily="34" charset="0"/>
                <a:ea typeface="Arial" pitchFamily="34" charset="-122"/>
                <a:cs typeface="Arial" pitchFamily="34" charset="-120"/>
              </a:rPr>
              <a:t>LECTURE 1</a:t>
            </a:r>
            <a:endParaRPr lang="en-US" sz="900" dirty="0"/>
          </a:p>
        </p:txBody>
      </p:sp>
      <p:sp>
        <p:nvSpPr>
          <p:cNvPr id="3" name="Text 1"/>
          <p:cNvSpPr/>
          <p:nvPr/>
        </p:nvSpPr>
        <p:spPr>
          <a:xfrm>
            <a:off x="502920" y="438912"/>
            <a:ext cx="10881360" cy="530352"/>
          </a:xfrm>
          <a:prstGeom prst="rect">
            <a:avLst/>
          </a:prstGeom>
          <a:noFill/>
          <a:ln/>
        </p:spPr>
        <p:txBody>
          <a:bodyPr wrap="square" lIns="0" tIns="0" rIns="0" bIns="0" rtlCol="0" anchor="ctr">
            <a:normAutofit/>
          </a:bodyPr>
          <a:lstStyle/>
          <a:p>
            <a:pPr marL="0" indent="0">
              <a:buNone/>
            </a:pPr>
            <a:r>
              <a:rPr lang="en-US" sz="2800" b="1" dirty="0">
                <a:solidFill>
                  <a:srgbClr val="073B73"/>
                </a:solidFill>
                <a:latin typeface="Arial" pitchFamily="34" charset="0"/>
                <a:ea typeface="Arial" pitchFamily="34" charset="-122"/>
                <a:cs typeface="Arial" pitchFamily="34" charset="-120"/>
              </a:rPr>
              <a:t>Characteristic 4: rapid elasticity</a:t>
            </a:r>
            <a:endParaRPr lang="en-US" sz="2800" dirty="0"/>
          </a:p>
        </p:txBody>
      </p:sp>
      <p:sp>
        <p:nvSpPr>
          <p:cNvPr id="4" name="Shape 2"/>
          <p:cNvSpPr/>
          <p:nvPr/>
        </p:nvSpPr>
        <p:spPr>
          <a:xfrm>
            <a:off x="411480" y="6327648"/>
            <a:ext cx="11247120" cy="0"/>
          </a:xfrm>
          <a:prstGeom prst="line">
            <a:avLst/>
          </a:prstGeom>
          <a:noFill/>
          <a:ln w="8890">
            <a:solidFill>
              <a:srgbClr val="B9D8F2"/>
            </a:solidFill>
            <a:prstDash val="solid"/>
          </a:ln>
        </p:spPr>
      </p:sp>
      <p:sp>
        <p:nvSpPr>
          <p:cNvPr id="5" name="Text 3"/>
          <p:cNvSpPr/>
          <p:nvPr/>
        </p:nvSpPr>
        <p:spPr>
          <a:xfrm>
            <a:off x="502920" y="6382512"/>
            <a:ext cx="7132320" cy="201168"/>
          </a:xfrm>
          <a:prstGeom prst="rect">
            <a:avLst/>
          </a:prstGeom>
          <a:noFill/>
          <a:ln/>
        </p:spPr>
        <p:txBody>
          <a:bodyPr wrap="square" lIns="0" tIns="0" rIns="0" bIns="0" rtlCol="0" anchor="ctr"/>
          <a:lstStyle/>
          <a:p>
            <a:pPr marL="0" indent="0">
              <a:buNone/>
            </a:pPr>
            <a:r>
              <a:rPr lang="en-US" sz="850" dirty="0">
                <a:solidFill>
                  <a:srgbClr val="697386"/>
                </a:solidFill>
                <a:latin typeface="Arial" pitchFamily="34" charset="0"/>
                <a:ea typeface="Arial" pitchFamily="34" charset="-122"/>
                <a:cs typeface="Arial" pitchFamily="34" charset="-120"/>
              </a:rPr>
              <a:t>ICT411 Cloud Computing • Unit 1 • Foundations &amp; Context</a:t>
            </a:r>
            <a:endParaRPr lang="en-US" sz="850" dirty="0"/>
          </a:p>
        </p:txBody>
      </p:sp>
      <p:sp>
        <p:nvSpPr>
          <p:cNvPr id="6" name="Text 4"/>
          <p:cNvSpPr/>
          <p:nvPr/>
        </p:nvSpPr>
        <p:spPr>
          <a:xfrm>
            <a:off x="10835640" y="6364224"/>
            <a:ext cx="320040" cy="228600"/>
          </a:xfrm>
          <a:prstGeom prst="rect">
            <a:avLst/>
          </a:prstGeom>
          <a:noFill/>
          <a:ln/>
        </p:spPr>
        <p:txBody>
          <a:bodyPr wrap="square" lIns="0" tIns="0" rIns="0" bIns="0" rtlCol="0" anchor="ctr"/>
          <a:lstStyle/>
          <a:p>
            <a:pPr marL="0" indent="0" algn="r">
              <a:buNone/>
            </a:pPr>
            <a:r>
              <a:rPr lang="en-US" sz="900" b="1" dirty="0">
                <a:solidFill>
                  <a:srgbClr val="697386"/>
                </a:solidFill>
                <a:latin typeface="Arial" pitchFamily="34" charset="0"/>
                <a:ea typeface="Arial" pitchFamily="34" charset="-122"/>
                <a:cs typeface="Arial" pitchFamily="34" charset="-120"/>
              </a:rPr>
              <a:t>17</a:t>
            </a:r>
            <a:endParaRPr lang="en-US" sz="900" dirty="0"/>
          </a:p>
        </p:txBody>
      </p:sp>
      <p:pic>
        <p:nvPicPr>
          <p:cNvPr id="7" name="Image 0" descr="/mnt/data/mulungushi_logo_crop2.png"/>
          <p:cNvPicPr>
            <a:picLocks noChangeAspect="1"/>
          </p:cNvPicPr>
          <p:nvPr/>
        </p:nvPicPr>
        <p:blipFill>
          <a:blip r:embed="rId3"/>
          <a:stretch>
            <a:fillRect/>
          </a:stretch>
        </p:blipFill>
        <p:spPr>
          <a:xfrm>
            <a:off x="11201400" y="6199632"/>
            <a:ext cx="502920" cy="502920"/>
          </a:xfrm>
          <a:prstGeom prst="rect">
            <a:avLst/>
          </a:prstGeom>
        </p:spPr>
      </p:pic>
      <p:sp>
        <p:nvSpPr>
          <p:cNvPr id="8" name="Text 5"/>
          <p:cNvSpPr/>
          <p:nvPr/>
        </p:nvSpPr>
        <p:spPr>
          <a:xfrm>
            <a:off x="685800" y="1115568"/>
            <a:ext cx="6766560" cy="4526280"/>
          </a:xfrm>
          <a:prstGeom prst="rect">
            <a:avLst/>
          </a:prstGeom>
          <a:noFill/>
          <a:ln/>
        </p:spPr>
        <p:txBody>
          <a:bodyPr wrap="square" lIns="635" tIns="635" rIns="635" bIns="635" rtlCol="0" anchor="t">
            <a:normAutofit/>
          </a:bodyPr>
          <a:lstStyle/>
          <a:p>
            <a:pPr marL="0" indent="0">
              <a:lnSpc>
                <a:spcPct val="97000"/>
              </a:lnSpc>
              <a:buNone/>
            </a:pPr>
            <a:r>
              <a:rPr lang="en-US" sz="2010" dirty="0">
                <a:solidFill>
                  <a:srgbClr val="3F4A55"/>
                </a:solidFill>
                <a:latin typeface="Arial" pitchFamily="34" charset="0"/>
                <a:ea typeface="Arial" pitchFamily="34" charset="-122"/>
                <a:cs typeface="Arial" pitchFamily="34" charset="-120"/>
              </a:rPr>
              <a:t>• Elasticity allows resources to expand or reduce quickly according to workload demand.</a:t>
            </a:r>
            <a:endParaRPr lang="en-US" sz="2010" dirty="0"/>
          </a:p>
          <a:p>
            <a:pPr marL="0" indent="0">
              <a:lnSpc>
                <a:spcPct val="97000"/>
              </a:lnSpc>
              <a:buNone/>
            </a:pPr>
            <a:r>
              <a:rPr lang="en-US" sz="2010" dirty="0">
                <a:solidFill>
                  <a:srgbClr val="3F4A55"/>
                </a:solidFill>
                <a:latin typeface="Arial" pitchFamily="34" charset="0"/>
                <a:ea typeface="Arial" pitchFamily="34" charset="-122"/>
                <a:cs typeface="Arial" pitchFamily="34" charset="-120"/>
              </a:rPr>
              <a:t>• Scaling out adds more instances; scaling up gives one instance more CPU, memory, or capacity.</a:t>
            </a:r>
            <a:endParaRPr lang="en-US" sz="2010" dirty="0"/>
          </a:p>
          <a:p>
            <a:pPr marL="0" indent="0">
              <a:lnSpc>
                <a:spcPct val="97000"/>
              </a:lnSpc>
              <a:buNone/>
            </a:pPr>
            <a:r>
              <a:rPr lang="en-US" sz="2010" dirty="0">
                <a:solidFill>
                  <a:srgbClr val="3F4A55"/>
                </a:solidFill>
                <a:latin typeface="Arial" pitchFamily="34" charset="0"/>
                <a:ea typeface="Arial" pitchFamily="34" charset="-122"/>
                <a:cs typeface="Arial" pitchFamily="34" charset="-120"/>
              </a:rPr>
              <a:t>• Scaling in or down removes unused resources so the organisation does not continue paying for idle capacity.</a:t>
            </a:r>
            <a:endParaRPr lang="en-US" sz="2010" dirty="0"/>
          </a:p>
          <a:p>
            <a:pPr marL="0" indent="0">
              <a:lnSpc>
                <a:spcPct val="97000"/>
              </a:lnSpc>
              <a:buNone/>
            </a:pPr>
            <a:r>
              <a:rPr lang="en-US" sz="2010" dirty="0">
                <a:solidFill>
                  <a:srgbClr val="3F4A55"/>
                </a:solidFill>
                <a:latin typeface="Arial" pitchFamily="34" charset="0"/>
                <a:ea typeface="Arial" pitchFamily="34" charset="-122"/>
                <a:cs typeface="Arial" pitchFamily="34" charset="-120"/>
              </a:rPr>
              <a:t>• Example: a student registration portal scales during registration week and reduces after traffic falls.</a:t>
            </a:r>
            <a:endParaRPr lang="en-US" sz="2010" dirty="0"/>
          </a:p>
          <a:p>
            <a:pPr marL="0" indent="0">
              <a:lnSpc>
                <a:spcPct val="97000"/>
              </a:lnSpc>
              <a:buNone/>
            </a:pPr>
            <a:r>
              <a:rPr lang="en-US" sz="2010" dirty="0">
                <a:solidFill>
                  <a:srgbClr val="3F4A55"/>
                </a:solidFill>
                <a:latin typeface="Arial" pitchFamily="34" charset="0"/>
                <a:ea typeface="Arial" pitchFamily="34" charset="-122"/>
                <a:cs typeface="Arial" pitchFamily="34" charset="-120"/>
              </a:rPr>
              <a:t>• Elasticity must be monitored because automatic scaling can also increase cost if the design is poor.</a:t>
            </a:r>
            <a:endParaRPr lang="en-US" sz="2010" dirty="0"/>
          </a:p>
        </p:txBody>
      </p:sp>
      <p:sp>
        <p:nvSpPr>
          <p:cNvPr id="9" name="Text 6"/>
          <p:cNvSpPr/>
          <p:nvPr/>
        </p:nvSpPr>
        <p:spPr>
          <a:xfrm>
            <a:off x="7726680" y="1298448"/>
            <a:ext cx="3154680" cy="3886200"/>
          </a:xfrm>
          <a:prstGeom prst="rect">
            <a:avLst/>
          </a:prstGeom>
          <a:solidFill>
            <a:srgbClr val="F7FFF9"/>
          </a:solidFill>
          <a:ln w="12700">
            <a:solidFill>
              <a:srgbClr val="A8DCC5"/>
            </a:solidFill>
          </a:ln>
        </p:spPr>
        <p:txBody>
          <a:bodyPr wrap="square" lIns="635" tIns="635" rIns="635" bIns="635" rtlCol="0" anchor="ctr">
            <a:normAutofit/>
          </a:bodyPr>
          <a:lstStyle/>
          <a:p>
            <a:pPr marL="0" indent="0" algn="ctr">
              <a:buNone/>
            </a:pPr>
            <a:r>
              <a:rPr lang="en-US" sz="2600" b="1" dirty="0">
                <a:solidFill>
                  <a:srgbClr val="1E9E66"/>
                </a:solidFill>
                <a:latin typeface="Arial" pitchFamily="34" charset="0"/>
                <a:ea typeface="Arial" pitchFamily="34" charset="-122"/>
                <a:cs typeface="Arial" pitchFamily="34" charset="-120"/>
              </a:rPr>
              <a:t>Peak demand</a:t>
            </a:r>
            <a:endParaRPr lang="en-US" sz="2600" dirty="0"/>
          </a:p>
          <a:p>
            <a:pPr marL="0" indent="0" algn="ctr">
              <a:buNone/>
            </a:pPr>
            <a:r>
              <a:rPr lang="en-US" sz="2600" b="1" dirty="0">
                <a:solidFill>
                  <a:srgbClr val="1E9E66"/>
                </a:solidFill>
                <a:latin typeface="Arial" pitchFamily="34" charset="0"/>
                <a:ea typeface="Arial" pitchFamily="34" charset="-122"/>
                <a:cs typeface="Arial" pitchFamily="34" charset="-120"/>
              </a:rPr>
              <a:t>↑ users</a:t>
            </a:r>
            <a:endParaRPr lang="en-US" sz="2600" dirty="0"/>
          </a:p>
          <a:p>
            <a:pPr marL="0" indent="0" algn="ctr">
              <a:buNone/>
            </a:pPr>
            <a:r>
              <a:rPr lang="en-US" sz="2600" b="1" dirty="0">
                <a:solidFill>
                  <a:srgbClr val="1E9E66"/>
                </a:solidFill>
                <a:latin typeface="Arial" pitchFamily="34" charset="0"/>
                <a:ea typeface="Arial" pitchFamily="34" charset="-122"/>
                <a:cs typeface="Arial" pitchFamily="34" charset="-120"/>
              </a:rPr>
              <a:t>↑ compute</a:t>
            </a:r>
            <a:endParaRPr lang="en-US" sz="2600" dirty="0"/>
          </a:p>
          <a:p>
            <a:pPr marL="0" indent="0" algn="ctr">
              <a:buNone/>
            </a:pPr>
            <a:r>
              <a:rPr lang="en-US" sz="2600" b="1" dirty="0">
                <a:solidFill>
                  <a:srgbClr val="1E9E66"/>
                </a:solidFill>
                <a:latin typeface="Arial" pitchFamily="34" charset="0"/>
                <a:ea typeface="Arial" pitchFamily="34" charset="-122"/>
                <a:cs typeface="Arial" pitchFamily="34" charset="-120"/>
              </a:rPr>
              <a:t>↑ bandwidth</a:t>
            </a:r>
            <a:endParaRPr lang="en-US" sz="2600" dirty="0"/>
          </a:p>
          <a:p>
            <a:pPr marL="0" indent="0" algn="ctr">
              <a:buNone/>
            </a:pPr>
            <a:endParaRPr lang="en-US" sz="2600" dirty="0"/>
          </a:p>
          <a:p>
            <a:pPr marL="0" indent="0" algn="ctr">
              <a:buNone/>
            </a:pPr>
            <a:r>
              <a:rPr lang="en-US" sz="2600" b="1" dirty="0">
                <a:solidFill>
                  <a:srgbClr val="1E9E66"/>
                </a:solidFill>
                <a:latin typeface="Arial" pitchFamily="34" charset="0"/>
                <a:ea typeface="Arial" pitchFamily="34" charset="-122"/>
                <a:cs typeface="Arial" pitchFamily="34" charset="-120"/>
              </a:rPr>
              <a:t>After peak</a:t>
            </a:r>
            <a:endParaRPr lang="en-US" sz="2600" dirty="0"/>
          </a:p>
          <a:p>
            <a:pPr marL="0" indent="0" algn="ctr">
              <a:buNone/>
            </a:pPr>
            <a:r>
              <a:rPr lang="en-US" sz="2600" b="1" dirty="0">
                <a:solidFill>
                  <a:srgbClr val="1E9E66"/>
                </a:solidFill>
                <a:latin typeface="Arial" pitchFamily="34" charset="0"/>
                <a:ea typeface="Arial" pitchFamily="34" charset="-122"/>
                <a:cs typeface="Arial" pitchFamily="34" charset="-120"/>
              </a:rPr>
              <a:t>↓ unused resources</a:t>
            </a:r>
            <a:endParaRPr lang="en-US" sz="2600" dirty="0"/>
          </a:p>
          <a:p>
            <a:pPr marL="0" indent="0" algn="ctr">
              <a:buNone/>
            </a:pPr>
            <a:r>
              <a:rPr lang="en-US" sz="2600" b="1" dirty="0">
                <a:solidFill>
                  <a:srgbClr val="1E9E66"/>
                </a:solidFill>
                <a:latin typeface="Arial" pitchFamily="34" charset="0"/>
                <a:ea typeface="Arial" pitchFamily="34" charset="-122"/>
                <a:cs typeface="Arial" pitchFamily="34" charset="-120"/>
              </a:rPr>
              <a:t>↓ cost</a:t>
            </a:r>
            <a:endParaRPr lang="en-US" sz="2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8">
    <p:bg>
      <p:bgPr>
        <a:solidFill>
          <a:srgbClr val="F7FBFF"/>
        </a:solidFill>
        <a:effectLst/>
      </p:bgPr>
    </p:bg>
    <p:spTree>
      <p:nvGrpSpPr>
        <p:cNvPr id="1" name=""/>
        <p:cNvGrpSpPr/>
        <p:nvPr/>
      </p:nvGrpSpPr>
      <p:grpSpPr>
        <a:xfrm>
          <a:off x="0" y="0"/>
          <a:ext cx="0" cy="0"/>
          <a:chOff x="0" y="0"/>
          <a:chExt cx="0" cy="0"/>
        </a:xfrm>
      </p:grpSpPr>
      <p:sp>
        <p:nvSpPr>
          <p:cNvPr id="2" name="Text 0"/>
          <p:cNvSpPr/>
          <p:nvPr/>
        </p:nvSpPr>
        <p:spPr>
          <a:xfrm>
            <a:off x="502920" y="182880"/>
            <a:ext cx="2011680" cy="201168"/>
          </a:xfrm>
          <a:prstGeom prst="rect">
            <a:avLst/>
          </a:prstGeom>
          <a:noFill/>
          <a:ln/>
        </p:spPr>
        <p:txBody>
          <a:bodyPr wrap="square" lIns="0" tIns="0" rIns="0" bIns="0" rtlCol="0" anchor="ctr"/>
          <a:lstStyle/>
          <a:p>
            <a:pPr marL="0" indent="0">
              <a:buNone/>
            </a:pPr>
            <a:r>
              <a:rPr lang="en-US" sz="900" b="1" dirty="0">
                <a:solidFill>
                  <a:srgbClr val="1E9E66"/>
                </a:solidFill>
                <a:latin typeface="Arial" pitchFamily="34" charset="0"/>
                <a:ea typeface="Arial" pitchFamily="34" charset="-122"/>
                <a:cs typeface="Arial" pitchFamily="34" charset="-120"/>
              </a:rPr>
              <a:t>LECTURE 1</a:t>
            </a:r>
            <a:endParaRPr lang="en-US" sz="900" dirty="0"/>
          </a:p>
        </p:txBody>
      </p:sp>
      <p:sp>
        <p:nvSpPr>
          <p:cNvPr id="3" name="Text 1"/>
          <p:cNvSpPr/>
          <p:nvPr/>
        </p:nvSpPr>
        <p:spPr>
          <a:xfrm>
            <a:off x="502920" y="438912"/>
            <a:ext cx="10881360" cy="530352"/>
          </a:xfrm>
          <a:prstGeom prst="rect">
            <a:avLst/>
          </a:prstGeom>
          <a:noFill/>
          <a:ln/>
        </p:spPr>
        <p:txBody>
          <a:bodyPr wrap="square" lIns="0" tIns="0" rIns="0" bIns="0" rtlCol="0" anchor="ctr">
            <a:normAutofit/>
          </a:bodyPr>
          <a:lstStyle/>
          <a:p>
            <a:pPr marL="0" indent="0">
              <a:buNone/>
            </a:pPr>
            <a:r>
              <a:rPr lang="en-US" sz="2800" b="1" dirty="0">
                <a:solidFill>
                  <a:srgbClr val="073B73"/>
                </a:solidFill>
                <a:latin typeface="Arial" pitchFamily="34" charset="0"/>
                <a:ea typeface="Arial" pitchFamily="34" charset="-122"/>
                <a:cs typeface="Arial" pitchFamily="34" charset="-120"/>
              </a:rPr>
              <a:t>Characteristic 5: measured service</a:t>
            </a:r>
            <a:endParaRPr lang="en-US" sz="2800" dirty="0"/>
          </a:p>
        </p:txBody>
      </p:sp>
      <p:sp>
        <p:nvSpPr>
          <p:cNvPr id="4" name="Shape 2"/>
          <p:cNvSpPr/>
          <p:nvPr/>
        </p:nvSpPr>
        <p:spPr>
          <a:xfrm>
            <a:off x="411480" y="6327648"/>
            <a:ext cx="11247120" cy="0"/>
          </a:xfrm>
          <a:prstGeom prst="line">
            <a:avLst/>
          </a:prstGeom>
          <a:noFill/>
          <a:ln w="8890">
            <a:solidFill>
              <a:srgbClr val="B9D8F2"/>
            </a:solidFill>
            <a:prstDash val="solid"/>
          </a:ln>
        </p:spPr>
      </p:sp>
      <p:sp>
        <p:nvSpPr>
          <p:cNvPr id="5" name="Text 3"/>
          <p:cNvSpPr/>
          <p:nvPr/>
        </p:nvSpPr>
        <p:spPr>
          <a:xfrm>
            <a:off x="502920" y="6382512"/>
            <a:ext cx="7132320" cy="201168"/>
          </a:xfrm>
          <a:prstGeom prst="rect">
            <a:avLst/>
          </a:prstGeom>
          <a:noFill/>
          <a:ln/>
        </p:spPr>
        <p:txBody>
          <a:bodyPr wrap="square" lIns="0" tIns="0" rIns="0" bIns="0" rtlCol="0" anchor="ctr"/>
          <a:lstStyle/>
          <a:p>
            <a:pPr marL="0" indent="0">
              <a:buNone/>
            </a:pPr>
            <a:r>
              <a:rPr lang="en-US" sz="850" dirty="0">
                <a:solidFill>
                  <a:srgbClr val="697386"/>
                </a:solidFill>
                <a:latin typeface="Arial" pitchFamily="34" charset="0"/>
                <a:ea typeface="Arial" pitchFamily="34" charset="-122"/>
                <a:cs typeface="Arial" pitchFamily="34" charset="-120"/>
              </a:rPr>
              <a:t>ICT411 Cloud Computing • Unit 1 • Foundations &amp; Context</a:t>
            </a:r>
            <a:endParaRPr lang="en-US" sz="850" dirty="0"/>
          </a:p>
        </p:txBody>
      </p:sp>
      <p:sp>
        <p:nvSpPr>
          <p:cNvPr id="6" name="Text 4"/>
          <p:cNvSpPr/>
          <p:nvPr/>
        </p:nvSpPr>
        <p:spPr>
          <a:xfrm>
            <a:off x="10835640" y="6364224"/>
            <a:ext cx="320040" cy="228600"/>
          </a:xfrm>
          <a:prstGeom prst="rect">
            <a:avLst/>
          </a:prstGeom>
          <a:noFill/>
          <a:ln/>
        </p:spPr>
        <p:txBody>
          <a:bodyPr wrap="square" lIns="0" tIns="0" rIns="0" bIns="0" rtlCol="0" anchor="ctr"/>
          <a:lstStyle/>
          <a:p>
            <a:pPr marL="0" indent="0" algn="r">
              <a:buNone/>
            </a:pPr>
            <a:r>
              <a:rPr lang="en-US" sz="900" b="1" dirty="0">
                <a:solidFill>
                  <a:srgbClr val="697386"/>
                </a:solidFill>
                <a:latin typeface="Arial" pitchFamily="34" charset="0"/>
                <a:ea typeface="Arial" pitchFamily="34" charset="-122"/>
                <a:cs typeface="Arial" pitchFamily="34" charset="-120"/>
              </a:rPr>
              <a:t>18</a:t>
            </a:r>
            <a:endParaRPr lang="en-US" sz="900" dirty="0"/>
          </a:p>
        </p:txBody>
      </p:sp>
      <p:pic>
        <p:nvPicPr>
          <p:cNvPr id="7" name="Image 0" descr="/mnt/data/mulungushi_logo_crop2.png"/>
          <p:cNvPicPr>
            <a:picLocks noChangeAspect="1"/>
          </p:cNvPicPr>
          <p:nvPr/>
        </p:nvPicPr>
        <p:blipFill>
          <a:blip r:embed="rId3"/>
          <a:stretch>
            <a:fillRect/>
          </a:stretch>
        </p:blipFill>
        <p:spPr>
          <a:xfrm>
            <a:off x="11201400" y="6199632"/>
            <a:ext cx="502920" cy="502920"/>
          </a:xfrm>
          <a:prstGeom prst="rect">
            <a:avLst/>
          </a:prstGeom>
        </p:spPr>
      </p:pic>
      <p:sp>
        <p:nvSpPr>
          <p:cNvPr id="8" name="Text 5"/>
          <p:cNvSpPr/>
          <p:nvPr/>
        </p:nvSpPr>
        <p:spPr>
          <a:xfrm>
            <a:off x="685800" y="1115568"/>
            <a:ext cx="6675120" cy="4526280"/>
          </a:xfrm>
          <a:prstGeom prst="rect">
            <a:avLst/>
          </a:prstGeom>
          <a:noFill/>
          <a:ln/>
        </p:spPr>
        <p:txBody>
          <a:bodyPr wrap="square" lIns="635" tIns="635" rIns="635" bIns="635" rtlCol="0" anchor="t">
            <a:normAutofit/>
          </a:bodyPr>
          <a:lstStyle/>
          <a:p>
            <a:pPr marL="0" indent="0">
              <a:lnSpc>
                <a:spcPct val="97000"/>
              </a:lnSpc>
              <a:buNone/>
            </a:pPr>
            <a:r>
              <a:rPr lang="en-US" sz="2010" dirty="0">
                <a:solidFill>
                  <a:srgbClr val="3F4A55"/>
                </a:solidFill>
                <a:latin typeface="Arial" pitchFamily="34" charset="0"/>
                <a:ea typeface="Arial" pitchFamily="34" charset="-122"/>
                <a:cs typeface="Arial" pitchFamily="34" charset="-120"/>
              </a:rPr>
              <a:t>• Cloud platforms measure usage such as CPU time, storage space, network transfer, database operations, API requests, and active users.</a:t>
            </a:r>
            <a:endParaRPr lang="en-US" sz="2010" dirty="0"/>
          </a:p>
          <a:p>
            <a:pPr marL="0" indent="0">
              <a:lnSpc>
                <a:spcPct val="97000"/>
              </a:lnSpc>
              <a:buNone/>
            </a:pPr>
            <a:r>
              <a:rPr lang="en-US" sz="2010" dirty="0">
                <a:solidFill>
                  <a:srgbClr val="3F4A55"/>
                </a:solidFill>
                <a:latin typeface="Arial" pitchFamily="34" charset="0"/>
                <a:ea typeface="Arial" pitchFamily="34" charset="-122"/>
                <a:cs typeface="Arial" pitchFamily="34" charset="-120"/>
              </a:rPr>
              <a:t>• Measurement supports billing, budgeting, capacity planning, performance analysis, and governance.</a:t>
            </a:r>
            <a:endParaRPr lang="en-US" sz="2010" dirty="0"/>
          </a:p>
          <a:p>
            <a:pPr marL="0" indent="0">
              <a:lnSpc>
                <a:spcPct val="97000"/>
              </a:lnSpc>
              <a:buNone/>
            </a:pPr>
            <a:r>
              <a:rPr lang="en-US" sz="2010" dirty="0">
                <a:solidFill>
                  <a:srgbClr val="3F4A55"/>
                </a:solidFill>
                <a:latin typeface="Arial" pitchFamily="34" charset="0"/>
                <a:ea typeface="Arial" pitchFamily="34" charset="-122"/>
                <a:cs typeface="Arial" pitchFamily="34" charset="-120"/>
              </a:rPr>
              <a:t>• Students should learn that easy deployment can become expensive when monitoring and budgets are ignored.</a:t>
            </a:r>
            <a:endParaRPr lang="en-US" sz="2010" dirty="0"/>
          </a:p>
          <a:p>
            <a:pPr marL="0" indent="0">
              <a:lnSpc>
                <a:spcPct val="97000"/>
              </a:lnSpc>
              <a:buNone/>
            </a:pPr>
            <a:r>
              <a:rPr lang="en-US" sz="2010" dirty="0">
                <a:solidFill>
                  <a:srgbClr val="3F4A55"/>
                </a:solidFill>
                <a:latin typeface="Arial" pitchFamily="34" charset="0"/>
                <a:ea typeface="Arial" pitchFamily="34" charset="-122"/>
                <a:cs typeface="Arial" pitchFamily="34" charset="-120"/>
              </a:rPr>
              <a:t>• A good cloud engineer watches both technical health and cost health.</a:t>
            </a:r>
            <a:endParaRPr lang="en-US" sz="2010" dirty="0"/>
          </a:p>
          <a:p>
            <a:pPr marL="0" indent="0">
              <a:lnSpc>
                <a:spcPct val="97000"/>
              </a:lnSpc>
              <a:buNone/>
            </a:pPr>
            <a:r>
              <a:rPr lang="en-US" sz="2010" dirty="0">
                <a:solidFill>
                  <a:srgbClr val="3F4A55"/>
                </a:solidFill>
                <a:latin typeface="Arial" pitchFamily="34" charset="0"/>
                <a:ea typeface="Arial" pitchFamily="34" charset="-122"/>
                <a:cs typeface="Arial" pitchFamily="34" charset="-120"/>
              </a:rPr>
              <a:t>• Professional habit: tag resources, set alerts, review usage, and remove unused resources.</a:t>
            </a:r>
            <a:endParaRPr lang="en-US" sz="2010" dirty="0"/>
          </a:p>
        </p:txBody>
      </p:sp>
      <p:sp>
        <p:nvSpPr>
          <p:cNvPr id="9" name="Text 6"/>
          <p:cNvSpPr/>
          <p:nvPr/>
        </p:nvSpPr>
        <p:spPr>
          <a:xfrm>
            <a:off x="7498080" y="1600200"/>
            <a:ext cx="3657600" cy="1828800"/>
          </a:xfrm>
          <a:prstGeom prst="rect">
            <a:avLst/>
          </a:prstGeom>
          <a:solidFill>
            <a:srgbClr val="EAF5FF"/>
          </a:solidFill>
          <a:ln w="12700">
            <a:solidFill>
              <a:srgbClr val="B9D8F2"/>
            </a:solidFill>
          </a:ln>
        </p:spPr>
        <p:txBody>
          <a:bodyPr wrap="square" lIns="1397" tIns="1397" rIns="1397" bIns="1397" rtlCol="0" anchor="ctr">
            <a:normAutofit/>
          </a:bodyPr>
          <a:lstStyle/>
          <a:p>
            <a:pPr marL="0" indent="0" algn="ctr">
              <a:buNone/>
            </a:pPr>
            <a:r>
              <a:rPr lang="en-US" sz="2100" b="1" dirty="0">
                <a:solidFill>
                  <a:srgbClr val="073B73"/>
                </a:solidFill>
                <a:latin typeface="Arial" pitchFamily="34" charset="0"/>
                <a:ea typeface="Arial" pitchFamily="34" charset="-122"/>
                <a:cs typeface="Arial" pitchFamily="34" charset="-120"/>
              </a:rPr>
              <a:t>Usage → Monitoring → Reports → Cost control → Better decisions</a:t>
            </a:r>
            <a:endParaRPr lang="en-US" sz="2100" dirty="0"/>
          </a:p>
        </p:txBody>
      </p:sp>
      <p:sp>
        <p:nvSpPr>
          <p:cNvPr id="10" name="Text 7"/>
          <p:cNvSpPr/>
          <p:nvPr/>
        </p:nvSpPr>
        <p:spPr>
          <a:xfrm>
            <a:off x="7498080" y="3886200"/>
            <a:ext cx="3657600" cy="1051560"/>
          </a:xfrm>
          <a:prstGeom prst="rect">
            <a:avLst/>
          </a:prstGeom>
          <a:solidFill>
            <a:srgbClr val="E6F8F0"/>
          </a:solidFill>
          <a:ln w="12700">
            <a:solidFill>
              <a:srgbClr val="B9D8F2"/>
            </a:solidFill>
          </a:ln>
        </p:spPr>
        <p:txBody>
          <a:bodyPr wrap="square" lIns="1397" tIns="1397" rIns="1397" bIns="1397" rtlCol="0" anchor="ctr">
            <a:normAutofit/>
          </a:bodyPr>
          <a:lstStyle/>
          <a:p>
            <a:pPr marL="0" indent="0" algn="ctr">
              <a:buNone/>
            </a:pPr>
            <a:r>
              <a:rPr lang="en-US" sz="1850" b="1" dirty="0">
                <a:solidFill>
                  <a:srgbClr val="1E9E66"/>
                </a:solidFill>
                <a:latin typeface="Arial" pitchFamily="34" charset="0"/>
                <a:ea typeface="Arial" pitchFamily="34" charset="-122"/>
                <a:cs typeface="Arial" pitchFamily="34" charset="-120"/>
              </a:rPr>
              <a:t>Always ask: “What will this consume, and how will we know?”</a:t>
            </a:r>
            <a:endParaRPr lang="en-US" sz="1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9">
    <p:bg>
      <p:bgPr>
        <a:solidFill>
          <a:srgbClr val="F7FBFF"/>
        </a:solidFill>
        <a:effectLst/>
      </p:bgPr>
    </p:bg>
    <p:spTree>
      <p:nvGrpSpPr>
        <p:cNvPr id="1" name=""/>
        <p:cNvGrpSpPr/>
        <p:nvPr/>
      </p:nvGrpSpPr>
      <p:grpSpPr>
        <a:xfrm>
          <a:off x="0" y="0"/>
          <a:ext cx="0" cy="0"/>
          <a:chOff x="0" y="0"/>
          <a:chExt cx="0" cy="0"/>
        </a:xfrm>
      </p:grpSpPr>
      <p:sp>
        <p:nvSpPr>
          <p:cNvPr id="2" name="Text 0"/>
          <p:cNvSpPr/>
          <p:nvPr/>
        </p:nvSpPr>
        <p:spPr>
          <a:xfrm>
            <a:off x="502920" y="182880"/>
            <a:ext cx="2011680" cy="201168"/>
          </a:xfrm>
          <a:prstGeom prst="rect">
            <a:avLst/>
          </a:prstGeom>
          <a:noFill/>
          <a:ln/>
        </p:spPr>
        <p:txBody>
          <a:bodyPr wrap="square" lIns="0" tIns="0" rIns="0" bIns="0" rtlCol="0" anchor="ctr"/>
          <a:lstStyle/>
          <a:p>
            <a:pPr marL="0" indent="0">
              <a:buNone/>
            </a:pPr>
            <a:r>
              <a:rPr lang="en-US" sz="900" b="1" dirty="0">
                <a:solidFill>
                  <a:srgbClr val="1E9E66"/>
                </a:solidFill>
                <a:latin typeface="Arial" pitchFamily="34" charset="0"/>
                <a:ea typeface="Arial" pitchFamily="34" charset="-122"/>
                <a:cs typeface="Arial" pitchFamily="34" charset="-120"/>
              </a:rPr>
              <a:t>LECTURE 1</a:t>
            </a:r>
            <a:endParaRPr lang="en-US" sz="900" dirty="0"/>
          </a:p>
        </p:txBody>
      </p:sp>
      <p:sp>
        <p:nvSpPr>
          <p:cNvPr id="3" name="Text 1"/>
          <p:cNvSpPr/>
          <p:nvPr/>
        </p:nvSpPr>
        <p:spPr>
          <a:xfrm>
            <a:off x="502920" y="438912"/>
            <a:ext cx="10881360" cy="530352"/>
          </a:xfrm>
          <a:prstGeom prst="rect">
            <a:avLst/>
          </a:prstGeom>
          <a:noFill/>
          <a:ln/>
        </p:spPr>
        <p:txBody>
          <a:bodyPr wrap="square" lIns="0" tIns="0" rIns="0" bIns="0" rtlCol="0" anchor="ctr">
            <a:normAutofit/>
          </a:bodyPr>
          <a:lstStyle/>
          <a:p>
            <a:pPr marL="0" indent="0">
              <a:buNone/>
            </a:pPr>
            <a:r>
              <a:rPr lang="en-US" sz="2800" b="1" dirty="0">
                <a:solidFill>
                  <a:srgbClr val="073B73"/>
                </a:solidFill>
                <a:latin typeface="Arial" pitchFamily="34" charset="0"/>
                <a:ea typeface="Arial" pitchFamily="34" charset="-122"/>
                <a:cs typeface="Arial" pitchFamily="34" charset="-120"/>
              </a:rPr>
              <a:t>Global nature of cloud services</a:t>
            </a:r>
            <a:endParaRPr lang="en-US" sz="2800" dirty="0"/>
          </a:p>
        </p:txBody>
      </p:sp>
      <p:sp>
        <p:nvSpPr>
          <p:cNvPr id="4" name="Shape 2"/>
          <p:cNvSpPr/>
          <p:nvPr/>
        </p:nvSpPr>
        <p:spPr>
          <a:xfrm>
            <a:off x="411480" y="6327648"/>
            <a:ext cx="11247120" cy="0"/>
          </a:xfrm>
          <a:prstGeom prst="line">
            <a:avLst/>
          </a:prstGeom>
          <a:noFill/>
          <a:ln w="8890">
            <a:solidFill>
              <a:srgbClr val="B9D8F2"/>
            </a:solidFill>
            <a:prstDash val="solid"/>
          </a:ln>
        </p:spPr>
      </p:sp>
      <p:sp>
        <p:nvSpPr>
          <p:cNvPr id="5" name="Text 3"/>
          <p:cNvSpPr/>
          <p:nvPr/>
        </p:nvSpPr>
        <p:spPr>
          <a:xfrm>
            <a:off x="502920" y="6382512"/>
            <a:ext cx="7132320" cy="201168"/>
          </a:xfrm>
          <a:prstGeom prst="rect">
            <a:avLst/>
          </a:prstGeom>
          <a:noFill/>
          <a:ln/>
        </p:spPr>
        <p:txBody>
          <a:bodyPr wrap="square" lIns="0" tIns="0" rIns="0" bIns="0" rtlCol="0" anchor="ctr"/>
          <a:lstStyle/>
          <a:p>
            <a:pPr marL="0" indent="0">
              <a:buNone/>
            </a:pPr>
            <a:r>
              <a:rPr lang="en-US" sz="850" dirty="0">
                <a:solidFill>
                  <a:srgbClr val="697386"/>
                </a:solidFill>
                <a:latin typeface="Arial" pitchFamily="34" charset="0"/>
                <a:ea typeface="Arial" pitchFamily="34" charset="-122"/>
                <a:cs typeface="Arial" pitchFamily="34" charset="-120"/>
              </a:rPr>
              <a:t>ICT411 Cloud Computing • Unit 1 • Foundations &amp; Context</a:t>
            </a:r>
            <a:endParaRPr lang="en-US" sz="850" dirty="0"/>
          </a:p>
        </p:txBody>
      </p:sp>
      <p:sp>
        <p:nvSpPr>
          <p:cNvPr id="6" name="Text 4"/>
          <p:cNvSpPr/>
          <p:nvPr/>
        </p:nvSpPr>
        <p:spPr>
          <a:xfrm>
            <a:off x="10835640" y="6364224"/>
            <a:ext cx="320040" cy="228600"/>
          </a:xfrm>
          <a:prstGeom prst="rect">
            <a:avLst/>
          </a:prstGeom>
          <a:noFill/>
          <a:ln/>
        </p:spPr>
        <p:txBody>
          <a:bodyPr wrap="square" lIns="0" tIns="0" rIns="0" bIns="0" rtlCol="0" anchor="ctr"/>
          <a:lstStyle/>
          <a:p>
            <a:pPr marL="0" indent="0" algn="r">
              <a:buNone/>
            </a:pPr>
            <a:r>
              <a:rPr lang="en-US" sz="900" b="1" dirty="0">
                <a:solidFill>
                  <a:srgbClr val="697386"/>
                </a:solidFill>
                <a:latin typeface="Arial" pitchFamily="34" charset="0"/>
                <a:ea typeface="Arial" pitchFamily="34" charset="-122"/>
                <a:cs typeface="Arial" pitchFamily="34" charset="-120"/>
              </a:rPr>
              <a:t>19</a:t>
            </a:r>
            <a:endParaRPr lang="en-US" sz="900" dirty="0"/>
          </a:p>
        </p:txBody>
      </p:sp>
      <p:pic>
        <p:nvPicPr>
          <p:cNvPr id="7" name="Image 0" descr="/mnt/data/mulungushi_logo_crop2.png"/>
          <p:cNvPicPr>
            <a:picLocks noChangeAspect="1"/>
          </p:cNvPicPr>
          <p:nvPr/>
        </p:nvPicPr>
        <p:blipFill>
          <a:blip r:embed="rId3"/>
          <a:stretch>
            <a:fillRect/>
          </a:stretch>
        </p:blipFill>
        <p:spPr>
          <a:xfrm>
            <a:off x="11201400" y="6199632"/>
            <a:ext cx="502920" cy="502920"/>
          </a:xfrm>
          <a:prstGeom prst="rect">
            <a:avLst/>
          </a:prstGeom>
        </p:spPr>
      </p:pic>
      <p:sp>
        <p:nvSpPr>
          <p:cNvPr id="8" name="Text 5"/>
          <p:cNvSpPr/>
          <p:nvPr/>
        </p:nvSpPr>
        <p:spPr>
          <a:xfrm>
            <a:off x="685800" y="1115568"/>
            <a:ext cx="6309360" cy="4526280"/>
          </a:xfrm>
          <a:prstGeom prst="rect">
            <a:avLst/>
          </a:prstGeom>
          <a:noFill/>
          <a:ln/>
        </p:spPr>
        <p:txBody>
          <a:bodyPr wrap="square" lIns="635" tIns="635" rIns="635" bIns="635" rtlCol="0" anchor="t">
            <a:normAutofit/>
          </a:bodyPr>
          <a:lstStyle/>
          <a:p>
            <a:pPr marL="0" indent="0">
              <a:lnSpc>
                <a:spcPct val="97000"/>
              </a:lnSpc>
              <a:buNone/>
            </a:pPr>
            <a:r>
              <a:rPr lang="en-US" sz="2010" dirty="0">
                <a:solidFill>
                  <a:srgbClr val="3F4A55"/>
                </a:solidFill>
                <a:latin typeface="Arial" pitchFamily="34" charset="0"/>
                <a:ea typeface="Arial" pitchFamily="34" charset="-122"/>
                <a:cs typeface="Arial" pitchFamily="34" charset="-120"/>
              </a:rPr>
              <a:t>• Cloud providers operate data centers in different regions and availability zones around the world.</a:t>
            </a:r>
            <a:endParaRPr lang="en-US" sz="2010" dirty="0"/>
          </a:p>
          <a:p>
            <a:pPr marL="0" indent="0">
              <a:lnSpc>
                <a:spcPct val="97000"/>
              </a:lnSpc>
              <a:buNone/>
            </a:pPr>
            <a:r>
              <a:rPr lang="en-US" sz="2010" dirty="0">
                <a:solidFill>
                  <a:srgbClr val="3F4A55"/>
                </a:solidFill>
                <a:latin typeface="Arial" pitchFamily="34" charset="0"/>
                <a:ea typeface="Arial" pitchFamily="34" charset="-122"/>
                <a:cs typeface="Arial" pitchFamily="34" charset="-120"/>
              </a:rPr>
              <a:t>• Applications can be placed closer to users to reduce latency and improve user experience.</a:t>
            </a:r>
            <a:endParaRPr lang="en-US" sz="2010" dirty="0"/>
          </a:p>
          <a:p>
            <a:pPr marL="0" indent="0">
              <a:lnSpc>
                <a:spcPct val="97000"/>
              </a:lnSpc>
              <a:buNone/>
            </a:pPr>
            <a:r>
              <a:rPr lang="en-US" sz="2010" dirty="0">
                <a:solidFill>
                  <a:srgbClr val="3F4A55"/>
                </a:solidFill>
                <a:latin typeface="Arial" pitchFamily="34" charset="0"/>
                <a:ea typeface="Arial" pitchFamily="34" charset="-122"/>
                <a:cs typeface="Arial" pitchFamily="34" charset="-120"/>
              </a:rPr>
              <a:t>• Global reach supports collaboration across campuses, branches, countries, and mobile users.</a:t>
            </a:r>
            <a:endParaRPr lang="en-US" sz="2010" dirty="0"/>
          </a:p>
          <a:p>
            <a:pPr marL="0" indent="0">
              <a:lnSpc>
                <a:spcPct val="97000"/>
              </a:lnSpc>
              <a:buNone/>
            </a:pPr>
            <a:r>
              <a:rPr lang="en-US" sz="2010" dirty="0">
                <a:solidFill>
                  <a:srgbClr val="3F4A55"/>
                </a:solidFill>
                <a:latin typeface="Arial" pitchFamily="34" charset="0"/>
                <a:ea typeface="Arial" pitchFamily="34" charset="-122"/>
                <a:cs typeface="Arial" pitchFamily="34" charset="-120"/>
              </a:rPr>
              <a:t>• Data location affects compliance, privacy, performance, backup, and disaster recovery choices.</a:t>
            </a:r>
            <a:endParaRPr lang="en-US" sz="2010" dirty="0"/>
          </a:p>
          <a:p>
            <a:pPr marL="0" indent="0">
              <a:lnSpc>
                <a:spcPct val="97000"/>
              </a:lnSpc>
              <a:buNone/>
            </a:pPr>
            <a:r>
              <a:rPr lang="en-US" sz="2010" dirty="0">
                <a:solidFill>
                  <a:srgbClr val="3F4A55"/>
                </a:solidFill>
                <a:latin typeface="Arial" pitchFamily="34" charset="0"/>
                <a:ea typeface="Arial" pitchFamily="34" charset="-122"/>
                <a:cs typeface="Arial" pitchFamily="34" charset="-120"/>
              </a:rPr>
              <a:t>• Good design asks: where are my users, where is my data, and what laws or policies apply?</a:t>
            </a:r>
            <a:endParaRPr lang="en-US" sz="2010" dirty="0"/>
          </a:p>
        </p:txBody>
      </p:sp>
      <p:pic>
        <p:nvPicPr>
          <p:cNvPr id="9" name="Image 1" descr="/mnt/data/a_wide_cinematic_high_resolution_digital_illustr.png"/>
          <p:cNvPicPr>
            <a:picLocks noChangeAspect="1"/>
          </p:cNvPicPr>
          <p:nvPr/>
        </p:nvPicPr>
        <p:blipFill>
          <a:blip r:embed="rId4"/>
          <a:srcRect l="48000" r="-340" b="5000"/>
          <a:stretch/>
        </p:blipFill>
        <p:spPr>
          <a:xfrm>
            <a:off x="7178040" y="1115568"/>
            <a:ext cx="4251960" cy="43434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20">
    <p:bg>
      <p:bgPr>
        <a:solidFill>
          <a:srgbClr val="F7FBFF"/>
        </a:solidFill>
        <a:effectLst/>
      </p:bgPr>
    </p:bg>
    <p:spTree>
      <p:nvGrpSpPr>
        <p:cNvPr id="1" name=""/>
        <p:cNvGrpSpPr/>
        <p:nvPr/>
      </p:nvGrpSpPr>
      <p:grpSpPr>
        <a:xfrm>
          <a:off x="0" y="0"/>
          <a:ext cx="0" cy="0"/>
          <a:chOff x="0" y="0"/>
          <a:chExt cx="0" cy="0"/>
        </a:xfrm>
      </p:grpSpPr>
      <p:sp>
        <p:nvSpPr>
          <p:cNvPr id="2" name="Text 0"/>
          <p:cNvSpPr/>
          <p:nvPr/>
        </p:nvSpPr>
        <p:spPr>
          <a:xfrm>
            <a:off x="502920" y="182880"/>
            <a:ext cx="2011680" cy="201168"/>
          </a:xfrm>
          <a:prstGeom prst="rect">
            <a:avLst/>
          </a:prstGeom>
          <a:noFill/>
          <a:ln/>
        </p:spPr>
        <p:txBody>
          <a:bodyPr wrap="square" lIns="0" tIns="0" rIns="0" bIns="0" rtlCol="0" anchor="ctr"/>
          <a:lstStyle/>
          <a:p>
            <a:pPr marL="0" indent="0">
              <a:buNone/>
            </a:pPr>
            <a:r>
              <a:rPr lang="en-US" sz="900" b="1" dirty="0">
                <a:solidFill>
                  <a:srgbClr val="1E9E66"/>
                </a:solidFill>
                <a:latin typeface="Arial" pitchFamily="34" charset="0"/>
                <a:ea typeface="Arial" pitchFamily="34" charset="-122"/>
                <a:cs typeface="Arial" pitchFamily="34" charset="-120"/>
              </a:rPr>
              <a:t>LECTURE 1</a:t>
            </a:r>
            <a:endParaRPr lang="en-US" sz="900" dirty="0"/>
          </a:p>
        </p:txBody>
      </p:sp>
      <p:sp>
        <p:nvSpPr>
          <p:cNvPr id="3" name="Text 1"/>
          <p:cNvSpPr/>
          <p:nvPr/>
        </p:nvSpPr>
        <p:spPr>
          <a:xfrm>
            <a:off x="502920" y="438912"/>
            <a:ext cx="10881360" cy="530352"/>
          </a:xfrm>
          <a:prstGeom prst="rect">
            <a:avLst/>
          </a:prstGeom>
          <a:noFill/>
          <a:ln/>
        </p:spPr>
        <p:txBody>
          <a:bodyPr wrap="square" lIns="0" tIns="0" rIns="0" bIns="0" rtlCol="0" anchor="ctr">
            <a:normAutofit/>
          </a:bodyPr>
          <a:lstStyle/>
          <a:p>
            <a:pPr marL="0" indent="0">
              <a:buNone/>
            </a:pPr>
            <a:r>
              <a:rPr lang="en-US" sz="2800" b="1" dirty="0">
                <a:solidFill>
                  <a:srgbClr val="073B73"/>
                </a:solidFill>
                <a:latin typeface="Arial" pitchFamily="34" charset="0"/>
                <a:ea typeface="Arial" pitchFamily="34" charset="-122"/>
                <a:cs typeface="Arial" pitchFamily="34" charset="-120"/>
              </a:rPr>
              <a:t>Reliability, availability, and fault tolerance</a:t>
            </a:r>
            <a:endParaRPr lang="en-US" sz="2800" dirty="0"/>
          </a:p>
        </p:txBody>
      </p:sp>
      <p:sp>
        <p:nvSpPr>
          <p:cNvPr id="4" name="Shape 2"/>
          <p:cNvSpPr/>
          <p:nvPr/>
        </p:nvSpPr>
        <p:spPr>
          <a:xfrm>
            <a:off x="411480" y="6327648"/>
            <a:ext cx="11247120" cy="0"/>
          </a:xfrm>
          <a:prstGeom prst="line">
            <a:avLst/>
          </a:prstGeom>
          <a:noFill/>
          <a:ln w="8890">
            <a:solidFill>
              <a:srgbClr val="B9D8F2"/>
            </a:solidFill>
            <a:prstDash val="solid"/>
          </a:ln>
        </p:spPr>
      </p:sp>
      <p:sp>
        <p:nvSpPr>
          <p:cNvPr id="5" name="Text 3"/>
          <p:cNvSpPr/>
          <p:nvPr/>
        </p:nvSpPr>
        <p:spPr>
          <a:xfrm>
            <a:off x="502920" y="6382512"/>
            <a:ext cx="7132320" cy="201168"/>
          </a:xfrm>
          <a:prstGeom prst="rect">
            <a:avLst/>
          </a:prstGeom>
          <a:noFill/>
          <a:ln/>
        </p:spPr>
        <p:txBody>
          <a:bodyPr wrap="square" lIns="0" tIns="0" rIns="0" bIns="0" rtlCol="0" anchor="ctr"/>
          <a:lstStyle/>
          <a:p>
            <a:pPr marL="0" indent="0">
              <a:buNone/>
            </a:pPr>
            <a:r>
              <a:rPr lang="en-US" sz="850" dirty="0">
                <a:solidFill>
                  <a:srgbClr val="697386"/>
                </a:solidFill>
                <a:latin typeface="Arial" pitchFamily="34" charset="0"/>
                <a:ea typeface="Arial" pitchFamily="34" charset="-122"/>
                <a:cs typeface="Arial" pitchFamily="34" charset="-120"/>
              </a:rPr>
              <a:t>ICT411 Cloud Computing • Unit 1 • Foundations &amp; Context</a:t>
            </a:r>
            <a:endParaRPr lang="en-US" sz="850" dirty="0"/>
          </a:p>
        </p:txBody>
      </p:sp>
      <p:sp>
        <p:nvSpPr>
          <p:cNvPr id="6" name="Text 4"/>
          <p:cNvSpPr/>
          <p:nvPr/>
        </p:nvSpPr>
        <p:spPr>
          <a:xfrm>
            <a:off x="10835640" y="6364224"/>
            <a:ext cx="320040" cy="228600"/>
          </a:xfrm>
          <a:prstGeom prst="rect">
            <a:avLst/>
          </a:prstGeom>
          <a:noFill/>
          <a:ln/>
        </p:spPr>
        <p:txBody>
          <a:bodyPr wrap="square" lIns="0" tIns="0" rIns="0" bIns="0" rtlCol="0" anchor="ctr"/>
          <a:lstStyle/>
          <a:p>
            <a:pPr marL="0" indent="0" algn="r">
              <a:buNone/>
            </a:pPr>
            <a:r>
              <a:rPr lang="en-US" sz="900" b="1" dirty="0">
                <a:solidFill>
                  <a:srgbClr val="697386"/>
                </a:solidFill>
                <a:latin typeface="Arial" pitchFamily="34" charset="0"/>
                <a:ea typeface="Arial" pitchFamily="34" charset="-122"/>
                <a:cs typeface="Arial" pitchFamily="34" charset="-120"/>
              </a:rPr>
              <a:t>20</a:t>
            </a:r>
            <a:endParaRPr lang="en-US" sz="900" dirty="0"/>
          </a:p>
        </p:txBody>
      </p:sp>
      <p:pic>
        <p:nvPicPr>
          <p:cNvPr id="7" name="Image 0" descr="/mnt/data/mulungushi_logo_crop2.png"/>
          <p:cNvPicPr>
            <a:picLocks noChangeAspect="1"/>
          </p:cNvPicPr>
          <p:nvPr/>
        </p:nvPicPr>
        <p:blipFill>
          <a:blip r:embed="rId3"/>
          <a:stretch>
            <a:fillRect/>
          </a:stretch>
        </p:blipFill>
        <p:spPr>
          <a:xfrm>
            <a:off x="11201400" y="6199632"/>
            <a:ext cx="502920" cy="502920"/>
          </a:xfrm>
          <a:prstGeom prst="rect">
            <a:avLst/>
          </a:prstGeom>
        </p:spPr>
      </p:pic>
      <p:sp>
        <p:nvSpPr>
          <p:cNvPr id="8" name="Text 5"/>
          <p:cNvSpPr/>
          <p:nvPr/>
        </p:nvSpPr>
        <p:spPr>
          <a:xfrm>
            <a:off x="685800" y="1115568"/>
            <a:ext cx="6629400" cy="4526280"/>
          </a:xfrm>
          <a:prstGeom prst="rect">
            <a:avLst/>
          </a:prstGeom>
          <a:noFill/>
          <a:ln/>
        </p:spPr>
        <p:txBody>
          <a:bodyPr wrap="square" lIns="635" tIns="635" rIns="635" bIns="635" rtlCol="0" anchor="t">
            <a:normAutofit/>
          </a:bodyPr>
          <a:lstStyle/>
          <a:p>
            <a:pPr marL="0" indent="0">
              <a:lnSpc>
                <a:spcPct val="97000"/>
              </a:lnSpc>
              <a:buNone/>
            </a:pPr>
            <a:r>
              <a:rPr lang="en-US" sz="2010" dirty="0">
                <a:solidFill>
                  <a:srgbClr val="3F4A55"/>
                </a:solidFill>
                <a:latin typeface="Arial" pitchFamily="34" charset="0"/>
                <a:ea typeface="Arial" pitchFamily="34" charset="-122"/>
                <a:cs typeface="Arial" pitchFamily="34" charset="-120"/>
              </a:rPr>
              <a:t>• Reliability asks whether the system performs correctly over time.</a:t>
            </a:r>
            <a:endParaRPr lang="en-US" sz="2010" dirty="0"/>
          </a:p>
          <a:p>
            <a:pPr marL="0" indent="0">
              <a:lnSpc>
                <a:spcPct val="97000"/>
              </a:lnSpc>
              <a:buNone/>
            </a:pPr>
            <a:r>
              <a:rPr lang="en-US" sz="2010" dirty="0">
                <a:solidFill>
                  <a:srgbClr val="3F4A55"/>
                </a:solidFill>
                <a:latin typeface="Arial" pitchFamily="34" charset="0"/>
                <a:ea typeface="Arial" pitchFamily="34" charset="-122"/>
                <a:cs typeface="Arial" pitchFamily="34" charset="-120"/>
              </a:rPr>
              <a:t>• Availability asks whether users can reach the system when they need it.</a:t>
            </a:r>
            <a:endParaRPr lang="en-US" sz="2010" dirty="0"/>
          </a:p>
          <a:p>
            <a:pPr marL="0" indent="0">
              <a:lnSpc>
                <a:spcPct val="97000"/>
              </a:lnSpc>
              <a:buNone/>
            </a:pPr>
            <a:r>
              <a:rPr lang="en-US" sz="2010" dirty="0">
                <a:solidFill>
                  <a:srgbClr val="3F4A55"/>
                </a:solidFill>
                <a:latin typeface="Arial" pitchFamily="34" charset="0"/>
                <a:ea typeface="Arial" pitchFamily="34" charset="-122"/>
                <a:cs typeface="Arial" pitchFamily="34" charset="-120"/>
              </a:rPr>
              <a:t>• Fault tolerance means the system continues working even when some components fail.</a:t>
            </a:r>
            <a:endParaRPr lang="en-US" sz="2010" dirty="0"/>
          </a:p>
          <a:p>
            <a:pPr marL="0" indent="0">
              <a:lnSpc>
                <a:spcPct val="97000"/>
              </a:lnSpc>
              <a:buNone/>
            </a:pPr>
            <a:r>
              <a:rPr lang="en-US" sz="2010" dirty="0">
                <a:solidFill>
                  <a:srgbClr val="3F4A55"/>
                </a:solidFill>
                <a:latin typeface="Arial" pitchFamily="34" charset="0"/>
                <a:ea typeface="Arial" pitchFamily="34" charset="-122"/>
                <a:cs typeface="Arial" pitchFamily="34" charset="-120"/>
              </a:rPr>
              <a:t>• Cloud architecture uses redundancy, health checks, load balancing, backups, monitoring, and automated recovery.</a:t>
            </a:r>
            <a:endParaRPr lang="en-US" sz="2010" dirty="0"/>
          </a:p>
          <a:p>
            <a:pPr marL="0" indent="0">
              <a:lnSpc>
                <a:spcPct val="97000"/>
              </a:lnSpc>
              <a:buNone/>
            </a:pPr>
            <a:r>
              <a:rPr lang="en-US" sz="2010" dirty="0">
                <a:solidFill>
                  <a:srgbClr val="3F4A55"/>
                </a:solidFill>
                <a:latin typeface="Arial" pitchFamily="34" charset="0"/>
                <a:ea typeface="Arial" pitchFamily="34" charset="-122"/>
                <a:cs typeface="Arial" pitchFamily="34" charset="-120"/>
              </a:rPr>
              <a:t>• No cloud design is failure-proof; good design limits the damage and recovery time.</a:t>
            </a:r>
            <a:endParaRPr lang="en-US" sz="2010" dirty="0"/>
          </a:p>
        </p:txBody>
      </p:sp>
      <p:sp>
        <p:nvSpPr>
          <p:cNvPr id="9" name="Text 6"/>
          <p:cNvSpPr/>
          <p:nvPr/>
        </p:nvSpPr>
        <p:spPr>
          <a:xfrm>
            <a:off x="7589520" y="1572768"/>
            <a:ext cx="3520440" cy="2743200"/>
          </a:xfrm>
          <a:prstGeom prst="rect">
            <a:avLst/>
          </a:prstGeom>
          <a:solidFill>
            <a:srgbClr val="FFFFFF"/>
          </a:solidFill>
          <a:ln w="12700">
            <a:solidFill>
              <a:srgbClr val="B9D8F2"/>
            </a:solidFill>
          </a:ln>
        </p:spPr>
        <p:txBody>
          <a:bodyPr wrap="square" lIns="635" tIns="635" rIns="635" bIns="635" rtlCol="0" anchor="ctr">
            <a:normAutofit/>
          </a:bodyPr>
          <a:lstStyle/>
          <a:p>
            <a:pPr marL="0" indent="0" algn="ctr">
              <a:buNone/>
            </a:pPr>
            <a:r>
              <a:rPr lang="en-US" sz="2200" b="1" dirty="0">
                <a:solidFill>
                  <a:srgbClr val="073B73"/>
                </a:solidFill>
                <a:latin typeface="Arial" pitchFamily="34" charset="0"/>
                <a:ea typeface="Arial" pitchFamily="34" charset="-122"/>
                <a:cs typeface="Arial" pitchFamily="34" charset="-120"/>
              </a:rPr>
              <a:t>Example</a:t>
            </a:r>
            <a:endParaRPr lang="en-US" sz="2200" dirty="0"/>
          </a:p>
          <a:p>
            <a:pPr marL="0" indent="0" algn="ctr">
              <a:buNone/>
            </a:pPr>
            <a:endParaRPr lang="en-US" sz="2200" dirty="0"/>
          </a:p>
          <a:p>
            <a:pPr marL="0" indent="0" algn="ctr">
              <a:buNone/>
            </a:pPr>
            <a:r>
              <a:rPr lang="en-US" sz="2200" b="1" dirty="0">
                <a:solidFill>
                  <a:srgbClr val="073B73"/>
                </a:solidFill>
                <a:latin typeface="Arial" pitchFamily="34" charset="0"/>
                <a:ea typeface="Arial" pitchFamily="34" charset="-122"/>
                <a:cs typeface="Arial" pitchFamily="34" charset="-120"/>
              </a:rPr>
              <a:t>A cloud web app may use multiple web servers and database replicas so one failed server does not stop all users.</a:t>
            </a:r>
            <a:endParaRPr lang="en-US" sz="2200" dirty="0"/>
          </a:p>
        </p:txBody>
      </p:sp>
      <p:sp>
        <p:nvSpPr>
          <p:cNvPr id="10" name="Text 7"/>
          <p:cNvSpPr/>
          <p:nvPr/>
        </p:nvSpPr>
        <p:spPr>
          <a:xfrm>
            <a:off x="7589520" y="4681728"/>
            <a:ext cx="3520440" cy="594360"/>
          </a:xfrm>
          <a:prstGeom prst="rect">
            <a:avLst/>
          </a:prstGeom>
          <a:solidFill>
            <a:srgbClr val="FCEFEA"/>
          </a:solidFill>
          <a:ln w="12700">
            <a:solidFill>
              <a:srgbClr val="B9D8F2"/>
            </a:solidFill>
          </a:ln>
        </p:spPr>
        <p:txBody>
          <a:bodyPr wrap="square" lIns="1397" tIns="1397" rIns="1397" bIns="1397" rtlCol="0" anchor="ctr">
            <a:normAutofit/>
          </a:bodyPr>
          <a:lstStyle/>
          <a:p>
            <a:pPr marL="0" indent="0" algn="ctr">
              <a:buNone/>
            </a:pPr>
            <a:r>
              <a:rPr lang="en-US" sz="1800" b="1" dirty="0">
                <a:solidFill>
                  <a:srgbClr val="B34328"/>
                </a:solidFill>
                <a:latin typeface="Arial" pitchFamily="34" charset="0"/>
                <a:ea typeface="Arial" pitchFamily="34" charset="-122"/>
                <a:cs typeface="Arial" pitchFamily="34" charset="-120"/>
              </a:rPr>
              <a:t>Design for failure before failure happens.</a:t>
            </a:r>
            <a:endParaRPr lang="en-US" sz="1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21">
    <p:bg>
      <p:bgPr>
        <a:solidFill>
          <a:srgbClr val="F7FBFF"/>
        </a:solidFill>
        <a:effectLst/>
      </p:bgPr>
    </p:bg>
    <p:spTree>
      <p:nvGrpSpPr>
        <p:cNvPr id="1" name=""/>
        <p:cNvGrpSpPr/>
        <p:nvPr/>
      </p:nvGrpSpPr>
      <p:grpSpPr>
        <a:xfrm>
          <a:off x="0" y="0"/>
          <a:ext cx="0" cy="0"/>
          <a:chOff x="0" y="0"/>
          <a:chExt cx="0" cy="0"/>
        </a:xfrm>
      </p:grpSpPr>
      <p:sp>
        <p:nvSpPr>
          <p:cNvPr id="2" name="Text 0"/>
          <p:cNvSpPr/>
          <p:nvPr/>
        </p:nvSpPr>
        <p:spPr>
          <a:xfrm>
            <a:off x="502920" y="182880"/>
            <a:ext cx="2011680" cy="201168"/>
          </a:xfrm>
          <a:prstGeom prst="rect">
            <a:avLst/>
          </a:prstGeom>
          <a:noFill/>
          <a:ln/>
        </p:spPr>
        <p:txBody>
          <a:bodyPr wrap="square" lIns="0" tIns="0" rIns="0" bIns="0" rtlCol="0" anchor="ctr"/>
          <a:lstStyle/>
          <a:p>
            <a:pPr marL="0" indent="0">
              <a:buNone/>
            </a:pPr>
            <a:r>
              <a:rPr lang="en-US" sz="900" b="1" dirty="0">
                <a:solidFill>
                  <a:srgbClr val="1E9E66"/>
                </a:solidFill>
                <a:latin typeface="Arial" pitchFamily="34" charset="0"/>
                <a:ea typeface="Arial" pitchFamily="34" charset="-122"/>
                <a:cs typeface="Arial" pitchFamily="34" charset="-120"/>
              </a:rPr>
              <a:t>LECTURE 1</a:t>
            </a:r>
            <a:endParaRPr lang="en-US" sz="900" dirty="0"/>
          </a:p>
        </p:txBody>
      </p:sp>
      <p:sp>
        <p:nvSpPr>
          <p:cNvPr id="3" name="Text 1"/>
          <p:cNvSpPr/>
          <p:nvPr/>
        </p:nvSpPr>
        <p:spPr>
          <a:xfrm>
            <a:off x="502920" y="438912"/>
            <a:ext cx="10881360" cy="530352"/>
          </a:xfrm>
          <a:prstGeom prst="rect">
            <a:avLst/>
          </a:prstGeom>
          <a:noFill/>
          <a:ln/>
        </p:spPr>
        <p:txBody>
          <a:bodyPr wrap="square" lIns="0" tIns="0" rIns="0" bIns="0" rtlCol="0" anchor="ctr">
            <a:normAutofit/>
          </a:bodyPr>
          <a:lstStyle/>
          <a:p>
            <a:pPr marL="0" indent="0">
              <a:buNone/>
            </a:pPr>
            <a:r>
              <a:rPr lang="en-US" sz="2800" b="1" dirty="0">
                <a:solidFill>
                  <a:srgbClr val="073B73"/>
                </a:solidFill>
                <a:latin typeface="Arial" pitchFamily="34" charset="0"/>
                <a:ea typeface="Arial" pitchFamily="34" charset="-122"/>
                <a:cs typeface="Arial" pitchFamily="34" charset="-120"/>
              </a:rPr>
              <a:t>Benefit 1: cost savings and financial flexibility</a:t>
            </a:r>
            <a:endParaRPr lang="en-US" sz="2800" dirty="0"/>
          </a:p>
        </p:txBody>
      </p:sp>
      <p:sp>
        <p:nvSpPr>
          <p:cNvPr id="4" name="Shape 2"/>
          <p:cNvSpPr/>
          <p:nvPr/>
        </p:nvSpPr>
        <p:spPr>
          <a:xfrm>
            <a:off x="411480" y="6327648"/>
            <a:ext cx="11247120" cy="0"/>
          </a:xfrm>
          <a:prstGeom prst="line">
            <a:avLst/>
          </a:prstGeom>
          <a:noFill/>
          <a:ln w="8890">
            <a:solidFill>
              <a:srgbClr val="B9D8F2"/>
            </a:solidFill>
            <a:prstDash val="solid"/>
          </a:ln>
        </p:spPr>
      </p:sp>
      <p:sp>
        <p:nvSpPr>
          <p:cNvPr id="5" name="Text 3"/>
          <p:cNvSpPr/>
          <p:nvPr/>
        </p:nvSpPr>
        <p:spPr>
          <a:xfrm>
            <a:off x="502920" y="6382512"/>
            <a:ext cx="7132320" cy="201168"/>
          </a:xfrm>
          <a:prstGeom prst="rect">
            <a:avLst/>
          </a:prstGeom>
          <a:noFill/>
          <a:ln/>
        </p:spPr>
        <p:txBody>
          <a:bodyPr wrap="square" lIns="0" tIns="0" rIns="0" bIns="0" rtlCol="0" anchor="ctr"/>
          <a:lstStyle/>
          <a:p>
            <a:pPr marL="0" indent="0">
              <a:buNone/>
            </a:pPr>
            <a:r>
              <a:rPr lang="en-US" sz="850" dirty="0">
                <a:solidFill>
                  <a:srgbClr val="697386"/>
                </a:solidFill>
                <a:latin typeface="Arial" pitchFamily="34" charset="0"/>
                <a:ea typeface="Arial" pitchFamily="34" charset="-122"/>
                <a:cs typeface="Arial" pitchFamily="34" charset="-120"/>
              </a:rPr>
              <a:t>ICT411 Cloud Computing • Unit 1 • Foundations &amp; Context</a:t>
            </a:r>
            <a:endParaRPr lang="en-US" sz="850" dirty="0"/>
          </a:p>
        </p:txBody>
      </p:sp>
      <p:sp>
        <p:nvSpPr>
          <p:cNvPr id="6" name="Text 4"/>
          <p:cNvSpPr/>
          <p:nvPr/>
        </p:nvSpPr>
        <p:spPr>
          <a:xfrm>
            <a:off x="10835640" y="6364224"/>
            <a:ext cx="320040" cy="228600"/>
          </a:xfrm>
          <a:prstGeom prst="rect">
            <a:avLst/>
          </a:prstGeom>
          <a:noFill/>
          <a:ln/>
        </p:spPr>
        <p:txBody>
          <a:bodyPr wrap="square" lIns="0" tIns="0" rIns="0" bIns="0" rtlCol="0" anchor="ctr"/>
          <a:lstStyle/>
          <a:p>
            <a:pPr marL="0" indent="0" algn="r">
              <a:buNone/>
            </a:pPr>
            <a:r>
              <a:rPr lang="en-US" sz="900" b="1" dirty="0">
                <a:solidFill>
                  <a:srgbClr val="697386"/>
                </a:solidFill>
                <a:latin typeface="Arial" pitchFamily="34" charset="0"/>
                <a:ea typeface="Arial" pitchFamily="34" charset="-122"/>
                <a:cs typeface="Arial" pitchFamily="34" charset="-120"/>
              </a:rPr>
              <a:t>21</a:t>
            </a:r>
            <a:endParaRPr lang="en-US" sz="900" dirty="0"/>
          </a:p>
        </p:txBody>
      </p:sp>
      <p:pic>
        <p:nvPicPr>
          <p:cNvPr id="7" name="Image 0" descr="/mnt/data/mulungushi_logo_crop2.png"/>
          <p:cNvPicPr>
            <a:picLocks noChangeAspect="1"/>
          </p:cNvPicPr>
          <p:nvPr/>
        </p:nvPicPr>
        <p:blipFill>
          <a:blip r:embed="rId3"/>
          <a:stretch>
            <a:fillRect/>
          </a:stretch>
        </p:blipFill>
        <p:spPr>
          <a:xfrm>
            <a:off x="11201400" y="6199632"/>
            <a:ext cx="502920" cy="502920"/>
          </a:xfrm>
          <a:prstGeom prst="rect">
            <a:avLst/>
          </a:prstGeom>
        </p:spPr>
      </p:pic>
      <p:sp>
        <p:nvSpPr>
          <p:cNvPr id="8" name="Text 5"/>
          <p:cNvSpPr/>
          <p:nvPr/>
        </p:nvSpPr>
        <p:spPr>
          <a:xfrm>
            <a:off x="685800" y="1115568"/>
            <a:ext cx="10424160" cy="4526280"/>
          </a:xfrm>
          <a:prstGeom prst="rect">
            <a:avLst/>
          </a:prstGeom>
          <a:noFill/>
          <a:ln/>
        </p:spPr>
        <p:txBody>
          <a:bodyPr wrap="square" lIns="635" tIns="635" rIns="635" bIns="635" rtlCol="0" anchor="t">
            <a:normAutofit/>
          </a:bodyPr>
          <a:lstStyle/>
          <a:p>
            <a:pPr marL="0" indent="0">
              <a:lnSpc>
                <a:spcPct val="97000"/>
              </a:lnSpc>
              <a:buNone/>
            </a:pPr>
            <a:r>
              <a:rPr lang="en-US" sz="2010" dirty="0">
                <a:solidFill>
                  <a:srgbClr val="3F4A55"/>
                </a:solidFill>
                <a:latin typeface="Arial" pitchFamily="34" charset="0"/>
                <a:ea typeface="Arial" pitchFamily="34" charset="-122"/>
                <a:cs typeface="Arial" pitchFamily="34" charset="-120"/>
              </a:rPr>
              <a:t>• Cloud can reduce upfront capital spending because organisations do not need to buy all infrastructure before use.</a:t>
            </a:r>
            <a:endParaRPr lang="en-US" sz="2010" dirty="0"/>
          </a:p>
          <a:p>
            <a:pPr marL="0" indent="0">
              <a:lnSpc>
                <a:spcPct val="97000"/>
              </a:lnSpc>
              <a:buNone/>
            </a:pPr>
            <a:r>
              <a:rPr lang="en-US" sz="2010" dirty="0">
                <a:solidFill>
                  <a:srgbClr val="3F4A55"/>
                </a:solidFill>
                <a:latin typeface="Arial" pitchFamily="34" charset="0"/>
                <a:ea typeface="Arial" pitchFamily="34" charset="-122"/>
                <a:cs typeface="Arial" pitchFamily="34" charset="-120"/>
              </a:rPr>
              <a:t>• Pay-as-you-use models help teams match spending to actual consumption.</a:t>
            </a:r>
            <a:endParaRPr lang="en-US" sz="2010" dirty="0"/>
          </a:p>
          <a:p>
            <a:pPr marL="0" indent="0">
              <a:lnSpc>
                <a:spcPct val="97000"/>
              </a:lnSpc>
              <a:buNone/>
            </a:pPr>
            <a:r>
              <a:rPr lang="en-US" sz="2010" dirty="0">
                <a:solidFill>
                  <a:srgbClr val="3F4A55"/>
                </a:solidFill>
                <a:latin typeface="Arial" pitchFamily="34" charset="0"/>
                <a:ea typeface="Arial" pitchFamily="34" charset="-122"/>
                <a:cs typeface="Arial" pitchFamily="34" charset="-120"/>
              </a:rPr>
              <a:t>• Managed services reduce some maintenance tasks such as hardware replacement and basic platform operations.</a:t>
            </a:r>
            <a:endParaRPr lang="en-US" sz="2010" dirty="0"/>
          </a:p>
          <a:p>
            <a:pPr marL="0" indent="0">
              <a:lnSpc>
                <a:spcPct val="97000"/>
              </a:lnSpc>
              <a:buNone/>
            </a:pPr>
            <a:r>
              <a:rPr lang="en-US" sz="2010" dirty="0">
                <a:solidFill>
                  <a:srgbClr val="3F4A55"/>
                </a:solidFill>
                <a:latin typeface="Arial" pitchFamily="34" charset="0"/>
                <a:ea typeface="Arial" pitchFamily="34" charset="-122"/>
                <a:cs typeface="Arial" pitchFamily="34" charset="-120"/>
              </a:rPr>
              <a:t>• Cost savings are not automatic: idle resources, over-provisioning, poor architecture, and uncontrolled data transfer can increase bills.</a:t>
            </a:r>
            <a:endParaRPr lang="en-US" sz="2010" dirty="0"/>
          </a:p>
          <a:p>
            <a:pPr marL="0" indent="0">
              <a:lnSpc>
                <a:spcPct val="97000"/>
              </a:lnSpc>
              <a:buNone/>
            </a:pPr>
            <a:r>
              <a:rPr lang="en-US" sz="2010" dirty="0">
                <a:solidFill>
                  <a:srgbClr val="3F4A55"/>
                </a:solidFill>
                <a:latin typeface="Arial" pitchFamily="34" charset="0"/>
                <a:ea typeface="Arial" pitchFamily="34" charset="-122"/>
                <a:cs typeface="Arial" pitchFamily="34" charset="-120"/>
              </a:rPr>
              <a:t>• A professional cloud decision includes budget alerts, usage reviews, and resource lifecycle management.</a:t>
            </a:r>
            <a:endParaRPr lang="en-US" sz="201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22">
    <p:bg>
      <p:bgPr>
        <a:solidFill>
          <a:srgbClr val="F7FBFF"/>
        </a:solidFill>
        <a:effectLst/>
      </p:bgPr>
    </p:bg>
    <p:spTree>
      <p:nvGrpSpPr>
        <p:cNvPr id="1" name=""/>
        <p:cNvGrpSpPr/>
        <p:nvPr/>
      </p:nvGrpSpPr>
      <p:grpSpPr>
        <a:xfrm>
          <a:off x="0" y="0"/>
          <a:ext cx="0" cy="0"/>
          <a:chOff x="0" y="0"/>
          <a:chExt cx="0" cy="0"/>
        </a:xfrm>
      </p:grpSpPr>
      <p:sp>
        <p:nvSpPr>
          <p:cNvPr id="2" name="Text 0"/>
          <p:cNvSpPr/>
          <p:nvPr/>
        </p:nvSpPr>
        <p:spPr>
          <a:xfrm>
            <a:off x="502920" y="182880"/>
            <a:ext cx="2011680" cy="201168"/>
          </a:xfrm>
          <a:prstGeom prst="rect">
            <a:avLst/>
          </a:prstGeom>
          <a:noFill/>
          <a:ln/>
        </p:spPr>
        <p:txBody>
          <a:bodyPr wrap="square" lIns="0" tIns="0" rIns="0" bIns="0" rtlCol="0" anchor="ctr"/>
          <a:lstStyle/>
          <a:p>
            <a:pPr marL="0" indent="0">
              <a:buNone/>
            </a:pPr>
            <a:r>
              <a:rPr lang="en-US" sz="900" b="1" dirty="0">
                <a:solidFill>
                  <a:srgbClr val="1E9E66"/>
                </a:solidFill>
                <a:latin typeface="Arial" pitchFamily="34" charset="0"/>
                <a:ea typeface="Arial" pitchFamily="34" charset="-122"/>
                <a:cs typeface="Arial" pitchFamily="34" charset="-120"/>
              </a:rPr>
              <a:t>LECTURE 1</a:t>
            </a:r>
            <a:endParaRPr lang="en-US" sz="900" dirty="0"/>
          </a:p>
        </p:txBody>
      </p:sp>
      <p:sp>
        <p:nvSpPr>
          <p:cNvPr id="3" name="Text 1"/>
          <p:cNvSpPr/>
          <p:nvPr/>
        </p:nvSpPr>
        <p:spPr>
          <a:xfrm>
            <a:off x="502920" y="438912"/>
            <a:ext cx="10881360" cy="530352"/>
          </a:xfrm>
          <a:prstGeom prst="rect">
            <a:avLst/>
          </a:prstGeom>
          <a:noFill/>
          <a:ln/>
        </p:spPr>
        <p:txBody>
          <a:bodyPr wrap="square" lIns="0" tIns="0" rIns="0" bIns="0" rtlCol="0" anchor="ctr">
            <a:normAutofit/>
          </a:bodyPr>
          <a:lstStyle/>
          <a:p>
            <a:pPr marL="0" indent="0">
              <a:buNone/>
            </a:pPr>
            <a:r>
              <a:rPr lang="en-US" sz="2800" b="1" dirty="0">
                <a:solidFill>
                  <a:srgbClr val="073B73"/>
                </a:solidFill>
                <a:latin typeface="Arial" pitchFamily="34" charset="0"/>
                <a:ea typeface="Arial" pitchFamily="34" charset="-122"/>
                <a:cs typeface="Arial" pitchFamily="34" charset="-120"/>
              </a:rPr>
              <a:t>Benefit 2: scalability, flexibility, and collaboration</a:t>
            </a:r>
            <a:endParaRPr lang="en-US" sz="2800" dirty="0"/>
          </a:p>
        </p:txBody>
      </p:sp>
      <p:sp>
        <p:nvSpPr>
          <p:cNvPr id="4" name="Shape 2"/>
          <p:cNvSpPr/>
          <p:nvPr/>
        </p:nvSpPr>
        <p:spPr>
          <a:xfrm>
            <a:off x="411480" y="6327648"/>
            <a:ext cx="11247120" cy="0"/>
          </a:xfrm>
          <a:prstGeom prst="line">
            <a:avLst/>
          </a:prstGeom>
          <a:noFill/>
          <a:ln w="8890">
            <a:solidFill>
              <a:srgbClr val="B9D8F2"/>
            </a:solidFill>
            <a:prstDash val="solid"/>
          </a:ln>
        </p:spPr>
      </p:sp>
      <p:sp>
        <p:nvSpPr>
          <p:cNvPr id="5" name="Text 3"/>
          <p:cNvSpPr/>
          <p:nvPr/>
        </p:nvSpPr>
        <p:spPr>
          <a:xfrm>
            <a:off x="502920" y="6382512"/>
            <a:ext cx="7132320" cy="201168"/>
          </a:xfrm>
          <a:prstGeom prst="rect">
            <a:avLst/>
          </a:prstGeom>
          <a:noFill/>
          <a:ln/>
        </p:spPr>
        <p:txBody>
          <a:bodyPr wrap="square" lIns="0" tIns="0" rIns="0" bIns="0" rtlCol="0" anchor="ctr"/>
          <a:lstStyle/>
          <a:p>
            <a:pPr marL="0" indent="0">
              <a:buNone/>
            </a:pPr>
            <a:r>
              <a:rPr lang="en-US" sz="850" dirty="0">
                <a:solidFill>
                  <a:srgbClr val="697386"/>
                </a:solidFill>
                <a:latin typeface="Arial" pitchFamily="34" charset="0"/>
                <a:ea typeface="Arial" pitchFamily="34" charset="-122"/>
                <a:cs typeface="Arial" pitchFamily="34" charset="-120"/>
              </a:rPr>
              <a:t>ICT411 Cloud Computing • Unit 1 • Foundations &amp; Context</a:t>
            </a:r>
            <a:endParaRPr lang="en-US" sz="850" dirty="0"/>
          </a:p>
        </p:txBody>
      </p:sp>
      <p:sp>
        <p:nvSpPr>
          <p:cNvPr id="6" name="Text 4"/>
          <p:cNvSpPr/>
          <p:nvPr/>
        </p:nvSpPr>
        <p:spPr>
          <a:xfrm>
            <a:off x="10835640" y="6364224"/>
            <a:ext cx="320040" cy="228600"/>
          </a:xfrm>
          <a:prstGeom prst="rect">
            <a:avLst/>
          </a:prstGeom>
          <a:noFill/>
          <a:ln/>
        </p:spPr>
        <p:txBody>
          <a:bodyPr wrap="square" lIns="0" tIns="0" rIns="0" bIns="0" rtlCol="0" anchor="ctr"/>
          <a:lstStyle/>
          <a:p>
            <a:pPr marL="0" indent="0" algn="r">
              <a:buNone/>
            </a:pPr>
            <a:r>
              <a:rPr lang="en-US" sz="900" b="1" dirty="0">
                <a:solidFill>
                  <a:srgbClr val="697386"/>
                </a:solidFill>
                <a:latin typeface="Arial" pitchFamily="34" charset="0"/>
                <a:ea typeface="Arial" pitchFamily="34" charset="-122"/>
                <a:cs typeface="Arial" pitchFamily="34" charset="-120"/>
              </a:rPr>
              <a:t>22</a:t>
            </a:r>
            <a:endParaRPr lang="en-US" sz="900" dirty="0"/>
          </a:p>
        </p:txBody>
      </p:sp>
      <p:pic>
        <p:nvPicPr>
          <p:cNvPr id="7" name="Image 0" descr="/mnt/data/mulungushi_logo_crop2.png"/>
          <p:cNvPicPr>
            <a:picLocks noChangeAspect="1"/>
          </p:cNvPicPr>
          <p:nvPr/>
        </p:nvPicPr>
        <p:blipFill>
          <a:blip r:embed="rId3"/>
          <a:stretch>
            <a:fillRect/>
          </a:stretch>
        </p:blipFill>
        <p:spPr>
          <a:xfrm>
            <a:off x="11201400" y="6199632"/>
            <a:ext cx="502920" cy="502920"/>
          </a:xfrm>
          <a:prstGeom prst="rect">
            <a:avLst/>
          </a:prstGeom>
        </p:spPr>
      </p:pic>
      <p:pic>
        <p:nvPicPr>
          <p:cNvPr id="8" name="Image 1" descr="/mnt/data/wide_modern_tech_classroom_or_lab_scene_with_a_co.png"/>
          <p:cNvPicPr>
            <a:picLocks noChangeAspect="1"/>
          </p:cNvPicPr>
          <p:nvPr/>
        </p:nvPicPr>
        <p:blipFill>
          <a:blip r:embed="rId4"/>
          <a:srcRect l="6000" t="4000" r="46725" b="12000"/>
          <a:stretch/>
        </p:blipFill>
        <p:spPr>
          <a:xfrm>
            <a:off x="502920" y="1115568"/>
            <a:ext cx="4389120" cy="4389120"/>
          </a:xfrm>
          <a:prstGeom prst="rect">
            <a:avLst/>
          </a:prstGeom>
        </p:spPr>
      </p:pic>
      <p:sp>
        <p:nvSpPr>
          <p:cNvPr id="9" name="Text 5"/>
          <p:cNvSpPr/>
          <p:nvPr/>
        </p:nvSpPr>
        <p:spPr>
          <a:xfrm>
            <a:off x="5257800" y="1115568"/>
            <a:ext cx="6172200" cy="4526280"/>
          </a:xfrm>
          <a:prstGeom prst="rect">
            <a:avLst/>
          </a:prstGeom>
          <a:noFill/>
          <a:ln/>
        </p:spPr>
        <p:txBody>
          <a:bodyPr wrap="square" lIns="635" tIns="635" rIns="635" bIns="635" rtlCol="0" anchor="t">
            <a:normAutofit/>
          </a:bodyPr>
          <a:lstStyle/>
          <a:p>
            <a:pPr marL="0" indent="0">
              <a:lnSpc>
                <a:spcPct val="97000"/>
              </a:lnSpc>
              <a:buNone/>
            </a:pPr>
            <a:r>
              <a:rPr lang="en-US" sz="2000" dirty="0">
                <a:solidFill>
                  <a:srgbClr val="3F4A55"/>
                </a:solidFill>
                <a:latin typeface="Arial" pitchFamily="34" charset="0"/>
                <a:ea typeface="Arial" pitchFamily="34" charset="-122"/>
                <a:cs typeface="Arial" pitchFamily="34" charset="-120"/>
              </a:rPr>
              <a:t>• Scalability allows systems to serve more users, store more data, or process more work as demand grows.</a:t>
            </a:r>
            <a:endParaRPr lang="en-US" sz="2000" dirty="0"/>
          </a:p>
          <a:p>
            <a:pPr marL="0" indent="0">
              <a:lnSpc>
                <a:spcPct val="97000"/>
              </a:lnSpc>
              <a:buNone/>
            </a:pPr>
            <a:r>
              <a:rPr lang="en-US" sz="2000" dirty="0">
                <a:solidFill>
                  <a:srgbClr val="3F4A55"/>
                </a:solidFill>
                <a:latin typeface="Arial" pitchFamily="34" charset="0"/>
                <a:ea typeface="Arial" pitchFamily="34" charset="-122"/>
                <a:cs typeface="Arial" pitchFamily="34" charset="-120"/>
              </a:rPr>
              <a:t>• Flexibility allows staff and students to access applications and data from different places and devices.</a:t>
            </a:r>
            <a:endParaRPr lang="en-US" sz="2000" dirty="0"/>
          </a:p>
          <a:p>
            <a:pPr marL="0" indent="0">
              <a:lnSpc>
                <a:spcPct val="97000"/>
              </a:lnSpc>
              <a:buNone/>
            </a:pPr>
            <a:r>
              <a:rPr lang="en-US" sz="2000" dirty="0">
                <a:solidFill>
                  <a:srgbClr val="3F4A55"/>
                </a:solidFill>
                <a:latin typeface="Arial" pitchFamily="34" charset="0"/>
                <a:ea typeface="Arial" pitchFamily="34" charset="-122"/>
                <a:cs typeface="Arial" pitchFamily="34" charset="-120"/>
              </a:rPr>
              <a:t>• Collaboration services allow teams to share documents, repositories, dashboards, communication tools, and development environments.</a:t>
            </a:r>
            <a:endParaRPr lang="en-US" sz="2000" dirty="0"/>
          </a:p>
          <a:p>
            <a:pPr marL="0" indent="0">
              <a:lnSpc>
                <a:spcPct val="97000"/>
              </a:lnSpc>
              <a:buNone/>
            </a:pPr>
            <a:r>
              <a:rPr lang="en-US" sz="2000" dirty="0">
                <a:solidFill>
                  <a:srgbClr val="3F4A55"/>
                </a:solidFill>
                <a:latin typeface="Arial" pitchFamily="34" charset="0"/>
                <a:ea typeface="Arial" pitchFamily="34" charset="-122"/>
                <a:cs typeface="Arial" pitchFamily="34" charset="-120"/>
              </a:rPr>
              <a:t>• For developers, cloud platforms make it easier to create test environments, automate deployments, and integrate services.</a:t>
            </a:r>
            <a:endParaRPr lang="en-US" sz="2000" dirty="0"/>
          </a:p>
          <a:p>
            <a:pPr marL="0" indent="0">
              <a:lnSpc>
                <a:spcPct val="97000"/>
              </a:lnSpc>
              <a:buNone/>
            </a:pPr>
            <a:r>
              <a:rPr lang="en-US" sz="2000" dirty="0">
                <a:solidFill>
                  <a:srgbClr val="3F4A55"/>
                </a:solidFill>
                <a:latin typeface="Arial" pitchFamily="34" charset="0"/>
                <a:ea typeface="Arial" pitchFamily="34" charset="-122"/>
                <a:cs typeface="Arial" pitchFamily="34" charset="-120"/>
              </a:rPr>
              <a:t>• The same benefits support e-learning, research collaboration, banking applications, mobile services, and analytics projects.</a:t>
            </a:r>
            <a:endParaRPr lang="en-US" sz="2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3">
    <p:bg>
      <p:bgPr>
        <a:solidFill>
          <a:srgbClr val="F7FBFF"/>
        </a:solidFill>
        <a:effectLst/>
      </p:bgPr>
    </p:bg>
    <p:spTree>
      <p:nvGrpSpPr>
        <p:cNvPr id="1" name=""/>
        <p:cNvGrpSpPr/>
        <p:nvPr/>
      </p:nvGrpSpPr>
      <p:grpSpPr>
        <a:xfrm>
          <a:off x="0" y="0"/>
          <a:ext cx="0" cy="0"/>
          <a:chOff x="0" y="0"/>
          <a:chExt cx="0" cy="0"/>
        </a:xfrm>
      </p:grpSpPr>
      <p:sp>
        <p:nvSpPr>
          <p:cNvPr id="2" name="Text 0"/>
          <p:cNvSpPr/>
          <p:nvPr/>
        </p:nvSpPr>
        <p:spPr>
          <a:xfrm>
            <a:off x="502920" y="182880"/>
            <a:ext cx="2011680" cy="201168"/>
          </a:xfrm>
          <a:prstGeom prst="rect">
            <a:avLst/>
          </a:prstGeom>
          <a:noFill/>
          <a:ln/>
        </p:spPr>
        <p:txBody>
          <a:bodyPr wrap="square" lIns="0" tIns="0" rIns="0" bIns="0" rtlCol="0" anchor="ctr"/>
          <a:lstStyle/>
          <a:p>
            <a:pPr marL="0" indent="0">
              <a:buNone/>
            </a:pPr>
            <a:r>
              <a:rPr lang="en-US" sz="900" b="1" dirty="0">
                <a:solidFill>
                  <a:srgbClr val="1E9E66"/>
                </a:solidFill>
                <a:latin typeface="Arial" pitchFamily="34" charset="0"/>
                <a:ea typeface="Arial" pitchFamily="34" charset="-122"/>
                <a:cs typeface="Arial" pitchFamily="34" charset="-120"/>
              </a:rPr>
              <a:t>LECTURE 1</a:t>
            </a:r>
            <a:endParaRPr lang="en-US" sz="900" dirty="0"/>
          </a:p>
        </p:txBody>
      </p:sp>
      <p:sp>
        <p:nvSpPr>
          <p:cNvPr id="3" name="Text 1"/>
          <p:cNvSpPr/>
          <p:nvPr/>
        </p:nvSpPr>
        <p:spPr>
          <a:xfrm>
            <a:off x="502920" y="438912"/>
            <a:ext cx="10881360" cy="530352"/>
          </a:xfrm>
          <a:prstGeom prst="rect">
            <a:avLst/>
          </a:prstGeom>
          <a:noFill/>
          <a:ln/>
        </p:spPr>
        <p:txBody>
          <a:bodyPr wrap="square" lIns="0" tIns="0" rIns="0" bIns="0" rtlCol="0" anchor="ctr">
            <a:normAutofit/>
          </a:bodyPr>
          <a:lstStyle/>
          <a:p>
            <a:pPr marL="0" indent="0">
              <a:buNone/>
            </a:pPr>
            <a:r>
              <a:rPr lang="en-US" sz="2800" b="1" dirty="0">
                <a:solidFill>
                  <a:srgbClr val="073B73"/>
                </a:solidFill>
                <a:latin typeface="Arial" pitchFamily="34" charset="0"/>
                <a:ea typeface="Arial" pitchFamily="34" charset="-122"/>
                <a:cs typeface="Arial" pitchFamily="34" charset="-120"/>
              </a:rPr>
              <a:t>Challenge 1: availability of service</a:t>
            </a:r>
            <a:endParaRPr lang="en-US" sz="2800" dirty="0"/>
          </a:p>
        </p:txBody>
      </p:sp>
      <p:sp>
        <p:nvSpPr>
          <p:cNvPr id="4" name="Shape 2"/>
          <p:cNvSpPr/>
          <p:nvPr/>
        </p:nvSpPr>
        <p:spPr>
          <a:xfrm>
            <a:off x="411480" y="6327648"/>
            <a:ext cx="11247120" cy="0"/>
          </a:xfrm>
          <a:prstGeom prst="line">
            <a:avLst/>
          </a:prstGeom>
          <a:noFill/>
          <a:ln w="8890">
            <a:solidFill>
              <a:srgbClr val="B9D8F2"/>
            </a:solidFill>
            <a:prstDash val="solid"/>
          </a:ln>
        </p:spPr>
      </p:sp>
      <p:sp>
        <p:nvSpPr>
          <p:cNvPr id="5" name="Text 3"/>
          <p:cNvSpPr/>
          <p:nvPr/>
        </p:nvSpPr>
        <p:spPr>
          <a:xfrm>
            <a:off x="502920" y="6382512"/>
            <a:ext cx="7132320" cy="201168"/>
          </a:xfrm>
          <a:prstGeom prst="rect">
            <a:avLst/>
          </a:prstGeom>
          <a:noFill/>
          <a:ln/>
        </p:spPr>
        <p:txBody>
          <a:bodyPr wrap="square" lIns="0" tIns="0" rIns="0" bIns="0" rtlCol="0" anchor="ctr"/>
          <a:lstStyle/>
          <a:p>
            <a:pPr marL="0" indent="0">
              <a:buNone/>
            </a:pPr>
            <a:r>
              <a:rPr lang="en-US" sz="850" dirty="0">
                <a:solidFill>
                  <a:srgbClr val="697386"/>
                </a:solidFill>
                <a:latin typeface="Arial" pitchFamily="34" charset="0"/>
                <a:ea typeface="Arial" pitchFamily="34" charset="-122"/>
                <a:cs typeface="Arial" pitchFamily="34" charset="-120"/>
              </a:rPr>
              <a:t>ICT411 Cloud Computing • Unit 1 • Foundations &amp; Context</a:t>
            </a:r>
            <a:endParaRPr lang="en-US" sz="850" dirty="0"/>
          </a:p>
        </p:txBody>
      </p:sp>
      <p:sp>
        <p:nvSpPr>
          <p:cNvPr id="6" name="Text 4"/>
          <p:cNvSpPr/>
          <p:nvPr/>
        </p:nvSpPr>
        <p:spPr>
          <a:xfrm>
            <a:off x="10835640" y="6364224"/>
            <a:ext cx="320040" cy="228600"/>
          </a:xfrm>
          <a:prstGeom prst="rect">
            <a:avLst/>
          </a:prstGeom>
          <a:noFill/>
          <a:ln/>
        </p:spPr>
        <p:txBody>
          <a:bodyPr wrap="square" lIns="0" tIns="0" rIns="0" bIns="0" rtlCol="0" anchor="ctr"/>
          <a:lstStyle/>
          <a:p>
            <a:pPr marL="0" indent="0" algn="r">
              <a:buNone/>
            </a:pPr>
            <a:r>
              <a:rPr lang="en-US" sz="900" b="1" dirty="0">
                <a:solidFill>
                  <a:srgbClr val="697386"/>
                </a:solidFill>
                <a:latin typeface="Arial" pitchFamily="34" charset="0"/>
                <a:ea typeface="Arial" pitchFamily="34" charset="-122"/>
                <a:cs typeface="Arial" pitchFamily="34" charset="-120"/>
              </a:rPr>
              <a:t>23</a:t>
            </a:r>
            <a:endParaRPr lang="en-US" sz="900" dirty="0"/>
          </a:p>
        </p:txBody>
      </p:sp>
      <p:pic>
        <p:nvPicPr>
          <p:cNvPr id="7" name="Image 0" descr="/mnt/data/mulungushi_logo_crop2.png"/>
          <p:cNvPicPr>
            <a:picLocks noChangeAspect="1"/>
          </p:cNvPicPr>
          <p:nvPr/>
        </p:nvPicPr>
        <p:blipFill>
          <a:blip r:embed="rId3"/>
          <a:stretch>
            <a:fillRect/>
          </a:stretch>
        </p:blipFill>
        <p:spPr>
          <a:xfrm>
            <a:off x="11201400" y="6199632"/>
            <a:ext cx="502920" cy="502920"/>
          </a:xfrm>
          <a:prstGeom prst="rect">
            <a:avLst/>
          </a:prstGeom>
        </p:spPr>
      </p:pic>
      <p:sp>
        <p:nvSpPr>
          <p:cNvPr id="8" name="Text 5"/>
          <p:cNvSpPr/>
          <p:nvPr/>
        </p:nvSpPr>
        <p:spPr>
          <a:xfrm>
            <a:off x="685800" y="1115568"/>
            <a:ext cx="10378440" cy="4526280"/>
          </a:xfrm>
          <a:prstGeom prst="rect">
            <a:avLst/>
          </a:prstGeom>
          <a:noFill/>
          <a:ln/>
        </p:spPr>
        <p:txBody>
          <a:bodyPr wrap="square" lIns="635" tIns="635" rIns="635" bIns="635" rtlCol="0" anchor="t">
            <a:normAutofit/>
          </a:bodyPr>
          <a:lstStyle/>
          <a:p>
            <a:pPr marL="0" indent="0">
              <a:lnSpc>
                <a:spcPct val="97000"/>
              </a:lnSpc>
              <a:buNone/>
            </a:pPr>
            <a:r>
              <a:rPr lang="en-US" sz="2010" dirty="0">
                <a:solidFill>
                  <a:srgbClr val="3F4A55"/>
                </a:solidFill>
                <a:latin typeface="Arial" pitchFamily="34" charset="0"/>
                <a:ea typeface="Arial" pitchFamily="34" charset="-122"/>
                <a:cs typeface="Arial" pitchFamily="34" charset="-120"/>
              </a:rPr>
              <a:t>• Availability risk asks what happens when the provider, network connection, DNS, identity service, payment service, or user device fails.</a:t>
            </a:r>
            <a:endParaRPr lang="en-US" sz="2010" dirty="0"/>
          </a:p>
          <a:p>
            <a:pPr marL="0" indent="0">
              <a:lnSpc>
                <a:spcPct val="97000"/>
              </a:lnSpc>
              <a:buNone/>
            </a:pPr>
            <a:r>
              <a:rPr lang="en-US" sz="2010" dirty="0">
                <a:solidFill>
                  <a:srgbClr val="3F4A55"/>
                </a:solidFill>
                <a:latin typeface="Arial" pitchFamily="34" charset="0"/>
                <a:ea typeface="Arial" pitchFamily="34" charset="-122"/>
                <a:cs typeface="Arial" pitchFamily="34" charset="-120"/>
              </a:rPr>
              <a:t>• A cloud service may be hosted in a strong data center but still be inaccessible to users with weak connectivity.</a:t>
            </a:r>
            <a:endParaRPr lang="en-US" sz="2010" dirty="0"/>
          </a:p>
          <a:p>
            <a:pPr marL="0" indent="0">
              <a:lnSpc>
                <a:spcPct val="97000"/>
              </a:lnSpc>
              <a:buNone/>
            </a:pPr>
            <a:r>
              <a:rPr lang="en-US" sz="2010" dirty="0">
                <a:solidFill>
                  <a:srgbClr val="3F4A55"/>
                </a:solidFill>
                <a:latin typeface="Arial" pitchFamily="34" charset="0"/>
                <a:ea typeface="Arial" pitchFamily="34" charset="-122"/>
                <a:cs typeface="Arial" pitchFamily="34" charset="-120"/>
              </a:rPr>
              <a:t>• Organisations must define acceptable downtime, recovery time, and recovery point objectives.</a:t>
            </a:r>
            <a:endParaRPr lang="en-US" sz="2010" dirty="0"/>
          </a:p>
          <a:p>
            <a:pPr marL="0" indent="0">
              <a:lnSpc>
                <a:spcPct val="97000"/>
              </a:lnSpc>
              <a:buNone/>
            </a:pPr>
            <a:r>
              <a:rPr lang="en-US" sz="2010" dirty="0">
                <a:solidFill>
                  <a:srgbClr val="3F4A55"/>
                </a:solidFill>
                <a:latin typeface="Arial" pitchFamily="34" charset="0"/>
                <a:ea typeface="Arial" pitchFamily="34" charset="-122"/>
                <a:cs typeface="Arial" pitchFamily="34" charset="-120"/>
              </a:rPr>
              <a:t>• Important controls include monitoring, alerts, backups, multi-zone deployment, failover plans, and offline procedures where necessary.</a:t>
            </a:r>
            <a:endParaRPr lang="en-US" sz="2010" dirty="0"/>
          </a:p>
          <a:p>
            <a:pPr marL="0" indent="0">
              <a:lnSpc>
                <a:spcPct val="97000"/>
              </a:lnSpc>
              <a:buNone/>
            </a:pPr>
            <a:r>
              <a:rPr lang="en-US" sz="2010" dirty="0">
                <a:solidFill>
                  <a:srgbClr val="3F4A55"/>
                </a:solidFill>
                <a:latin typeface="Arial" pitchFamily="34" charset="0"/>
                <a:ea typeface="Arial" pitchFamily="34" charset="-122"/>
                <a:cs typeface="Arial" pitchFamily="34" charset="-120"/>
              </a:rPr>
              <a:t>• Students should ask: what must continue working even when the cloud or internet path is unavailable?</a:t>
            </a:r>
            <a:endParaRPr lang="en-US" sz="201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4">
    <p:bg>
      <p:bgPr>
        <a:solidFill>
          <a:srgbClr val="F7FBFF"/>
        </a:solidFill>
        <a:effectLst/>
      </p:bgPr>
    </p:bg>
    <p:spTree>
      <p:nvGrpSpPr>
        <p:cNvPr id="1" name=""/>
        <p:cNvGrpSpPr/>
        <p:nvPr/>
      </p:nvGrpSpPr>
      <p:grpSpPr>
        <a:xfrm>
          <a:off x="0" y="0"/>
          <a:ext cx="0" cy="0"/>
          <a:chOff x="0" y="0"/>
          <a:chExt cx="0" cy="0"/>
        </a:xfrm>
      </p:grpSpPr>
      <p:sp>
        <p:nvSpPr>
          <p:cNvPr id="2" name="Text 0"/>
          <p:cNvSpPr/>
          <p:nvPr/>
        </p:nvSpPr>
        <p:spPr>
          <a:xfrm>
            <a:off x="502920" y="182880"/>
            <a:ext cx="2011680" cy="201168"/>
          </a:xfrm>
          <a:prstGeom prst="rect">
            <a:avLst/>
          </a:prstGeom>
          <a:noFill/>
          <a:ln/>
        </p:spPr>
        <p:txBody>
          <a:bodyPr wrap="square" lIns="0" tIns="0" rIns="0" bIns="0" rtlCol="0" anchor="ctr"/>
          <a:lstStyle/>
          <a:p>
            <a:pPr marL="0" indent="0">
              <a:buNone/>
            </a:pPr>
            <a:r>
              <a:rPr lang="en-US" sz="900" b="1" dirty="0">
                <a:solidFill>
                  <a:srgbClr val="1E9E66"/>
                </a:solidFill>
                <a:latin typeface="Arial" pitchFamily="34" charset="0"/>
                <a:ea typeface="Arial" pitchFamily="34" charset="-122"/>
                <a:cs typeface="Arial" pitchFamily="34" charset="-120"/>
              </a:rPr>
              <a:t>LECTURE 1</a:t>
            </a:r>
            <a:endParaRPr lang="en-US" sz="900" dirty="0"/>
          </a:p>
        </p:txBody>
      </p:sp>
      <p:sp>
        <p:nvSpPr>
          <p:cNvPr id="3" name="Text 1"/>
          <p:cNvSpPr/>
          <p:nvPr/>
        </p:nvSpPr>
        <p:spPr>
          <a:xfrm>
            <a:off x="502920" y="438912"/>
            <a:ext cx="10881360" cy="530352"/>
          </a:xfrm>
          <a:prstGeom prst="rect">
            <a:avLst/>
          </a:prstGeom>
          <a:noFill/>
          <a:ln/>
        </p:spPr>
        <p:txBody>
          <a:bodyPr wrap="square" lIns="0" tIns="0" rIns="0" bIns="0" rtlCol="0" anchor="ctr">
            <a:normAutofit/>
          </a:bodyPr>
          <a:lstStyle/>
          <a:p>
            <a:pPr marL="0" indent="0">
              <a:buNone/>
            </a:pPr>
            <a:r>
              <a:rPr lang="en-US" sz="2800" b="1" dirty="0">
                <a:solidFill>
                  <a:srgbClr val="073B73"/>
                </a:solidFill>
                <a:latin typeface="Arial" pitchFamily="34" charset="0"/>
                <a:ea typeface="Arial" pitchFamily="34" charset="-122"/>
                <a:cs typeface="Arial" pitchFamily="34" charset="-120"/>
              </a:rPr>
              <a:t>Challenge 2: vendor lock-in and limited mobility</a:t>
            </a:r>
            <a:endParaRPr lang="en-US" sz="2800" dirty="0"/>
          </a:p>
        </p:txBody>
      </p:sp>
      <p:sp>
        <p:nvSpPr>
          <p:cNvPr id="4" name="Shape 2"/>
          <p:cNvSpPr/>
          <p:nvPr/>
        </p:nvSpPr>
        <p:spPr>
          <a:xfrm>
            <a:off x="411480" y="6327648"/>
            <a:ext cx="11247120" cy="0"/>
          </a:xfrm>
          <a:prstGeom prst="line">
            <a:avLst/>
          </a:prstGeom>
          <a:noFill/>
          <a:ln w="8890">
            <a:solidFill>
              <a:srgbClr val="B9D8F2"/>
            </a:solidFill>
            <a:prstDash val="solid"/>
          </a:ln>
        </p:spPr>
      </p:sp>
      <p:sp>
        <p:nvSpPr>
          <p:cNvPr id="5" name="Text 3"/>
          <p:cNvSpPr/>
          <p:nvPr/>
        </p:nvSpPr>
        <p:spPr>
          <a:xfrm>
            <a:off x="502920" y="6382512"/>
            <a:ext cx="7132320" cy="201168"/>
          </a:xfrm>
          <a:prstGeom prst="rect">
            <a:avLst/>
          </a:prstGeom>
          <a:noFill/>
          <a:ln/>
        </p:spPr>
        <p:txBody>
          <a:bodyPr wrap="square" lIns="0" tIns="0" rIns="0" bIns="0" rtlCol="0" anchor="ctr"/>
          <a:lstStyle/>
          <a:p>
            <a:pPr marL="0" indent="0">
              <a:buNone/>
            </a:pPr>
            <a:r>
              <a:rPr lang="en-US" sz="850" dirty="0">
                <a:solidFill>
                  <a:srgbClr val="697386"/>
                </a:solidFill>
                <a:latin typeface="Arial" pitchFamily="34" charset="0"/>
                <a:ea typeface="Arial" pitchFamily="34" charset="-122"/>
                <a:cs typeface="Arial" pitchFamily="34" charset="-120"/>
              </a:rPr>
              <a:t>ICT411 Cloud Computing • Unit 1 • Foundations &amp; Context</a:t>
            </a:r>
            <a:endParaRPr lang="en-US" sz="850" dirty="0"/>
          </a:p>
        </p:txBody>
      </p:sp>
      <p:sp>
        <p:nvSpPr>
          <p:cNvPr id="6" name="Text 4"/>
          <p:cNvSpPr/>
          <p:nvPr/>
        </p:nvSpPr>
        <p:spPr>
          <a:xfrm>
            <a:off x="10835640" y="6364224"/>
            <a:ext cx="320040" cy="228600"/>
          </a:xfrm>
          <a:prstGeom prst="rect">
            <a:avLst/>
          </a:prstGeom>
          <a:noFill/>
          <a:ln/>
        </p:spPr>
        <p:txBody>
          <a:bodyPr wrap="square" lIns="0" tIns="0" rIns="0" bIns="0" rtlCol="0" anchor="ctr"/>
          <a:lstStyle/>
          <a:p>
            <a:pPr marL="0" indent="0" algn="r">
              <a:buNone/>
            </a:pPr>
            <a:r>
              <a:rPr lang="en-US" sz="900" b="1" dirty="0">
                <a:solidFill>
                  <a:srgbClr val="697386"/>
                </a:solidFill>
                <a:latin typeface="Arial" pitchFamily="34" charset="0"/>
                <a:ea typeface="Arial" pitchFamily="34" charset="-122"/>
                <a:cs typeface="Arial" pitchFamily="34" charset="-120"/>
              </a:rPr>
              <a:t>24</a:t>
            </a:r>
            <a:endParaRPr lang="en-US" sz="900" dirty="0"/>
          </a:p>
        </p:txBody>
      </p:sp>
      <p:pic>
        <p:nvPicPr>
          <p:cNvPr id="7" name="Image 0" descr="/mnt/data/mulungushi_logo_crop2.png"/>
          <p:cNvPicPr>
            <a:picLocks noChangeAspect="1"/>
          </p:cNvPicPr>
          <p:nvPr/>
        </p:nvPicPr>
        <p:blipFill>
          <a:blip r:embed="rId3"/>
          <a:stretch>
            <a:fillRect/>
          </a:stretch>
        </p:blipFill>
        <p:spPr>
          <a:xfrm>
            <a:off x="11201400" y="6199632"/>
            <a:ext cx="502920" cy="502920"/>
          </a:xfrm>
          <a:prstGeom prst="rect">
            <a:avLst/>
          </a:prstGeom>
        </p:spPr>
      </p:pic>
      <p:sp>
        <p:nvSpPr>
          <p:cNvPr id="8" name="Text 5"/>
          <p:cNvSpPr/>
          <p:nvPr/>
        </p:nvSpPr>
        <p:spPr>
          <a:xfrm>
            <a:off x="685800" y="1115568"/>
            <a:ext cx="6903720" cy="4526280"/>
          </a:xfrm>
          <a:prstGeom prst="rect">
            <a:avLst/>
          </a:prstGeom>
          <a:noFill/>
          <a:ln/>
        </p:spPr>
        <p:txBody>
          <a:bodyPr wrap="square" lIns="635" tIns="635" rIns="635" bIns="635" rtlCol="0" anchor="t">
            <a:normAutofit/>
          </a:bodyPr>
          <a:lstStyle/>
          <a:p>
            <a:pPr marL="0" indent="0">
              <a:lnSpc>
                <a:spcPct val="97000"/>
              </a:lnSpc>
              <a:buNone/>
            </a:pPr>
            <a:r>
              <a:rPr lang="en-US" sz="2010" dirty="0">
                <a:solidFill>
                  <a:srgbClr val="3F4A55"/>
                </a:solidFill>
                <a:latin typeface="Arial" pitchFamily="34" charset="0"/>
                <a:ea typeface="Arial" pitchFamily="34" charset="-122"/>
                <a:cs typeface="Arial" pitchFamily="34" charset="-120"/>
              </a:rPr>
              <a:t>• Vendor lock-in occurs when a system becomes difficult or expensive to move away from one cloud provider.</a:t>
            </a:r>
            <a:endParaRPr lang="en-US" sz="2010" dirty="0"/>
          </a:p>
          <a:p>
            <a:pPr marL="0" indent="0">
              <a:lnSpc>
                <a:spcPct val="97000"/>
              </a:lnSpc>
              <a:buNone/>
            </a:pPr>
            <a:r>
              <a:rPr lang="en-US" sz="2010" dirty="0">
                <a:solidFill>
                  <a:srgbClr val="3F4A55"/>
                </a:solidFill>
                <a:latin typeface="Arial" pitchFamily="34" charset="0"/>
                <a:ea typeface="Arial" pitchFamily="34" charset="-122"/>
                <a:cs typeface="Arial" pitchFamily="34" charset="-120"/>
              </a:rPr>
              <a:t>• Lock-in can come from proprietary APIs, data formats, specialised services, identity integrations, training, contracts, and operational habits.</a:t>
            </a:r>
            <a:endParaRPr lang="en-US" sz="2010" dirty="0"/>
          </a:p>
          <a:p>
            <a:pPr marL="0" indent="0">
              <a:lnSpc>
                <a:spcPct val="97000"/>
              </a:lnSpc>
              <a:buNone/>
            </a:pPr>
            <a:r>
              <a:rPr lang="en-US" sz="2010" dirty="0">
                <a:solidFill>
                  <a:srgbClr val="3F4A55"/>
                </a:solidFill>
                <a:latin typeface="Arial" pitchFamily="34" charset="0"/>
                <a:ea typeface="Arial" pitchFamily="34" charset="-122"/>
                <a:cs typeface="Arial" pitchFamily="34" charset="-120"/>
              </a:rPr>
              <a:t>• Moving large datasets or reconfiguring applications may require downtime, redesign, or additional cost.</a:t>
            </a:r>
            <a:endParaRPr lang="en-US" sz="2010" dirty="0"/>
          </a:p>
          <a:p>
            <a:pPr marL="0" indent="0">
              <a:lnSpc>
                <a:spcPct val="97000"/>
              </a:lnSpc>
              <a:buNone/>
            </a:pPr>
            <a:r>
              <a:rPr lang="en-US" sz="2010" dirty="0">
                <a:solidFill>
                  <a:srgbClr val="3F4A55"/>
                </a:solidFill>
                <a:latin typeface="Arial" pitchFamily="34" charset="0"/>
                <a:ea typeface="Arial" pitchFamily="34" charset="-122"/>
                <a:cs typeface="Arial" pitchFamily="34" charset="-120"/>
              </a:rPr>
              <a:t>• Mitigation includes standards-based interfaces, clear documentation, portable architecture where practical, backup exports, and exit planning.</a:t>
            </a:r>
            <a:endParaRPr lang="en-US" sz="2010" dirty="0"/>
          </a:p>
          <a:p>
            <a:pPr marL="0" indent="0">
              <a:lnSpc>
                <a:spcPct val="97000"/>
              </a:lnSpc>
              <a:buNone/>
            </a:pPr>
            <a:r>
              <a:rPr lang="en-US" sz="2010" dirty="0">
                <a:solidFill>
                  <a:srgbClr val="3F4A55"/>
                </a:solidFill>
                <a:latin typeface="Arial" pitchFamily="34" charset="0"/>
                <a:ea typeface="Arial" pitchFamily="34" charset="-122"/>
                <a:cs typeface="Arial" pitchFamily="34" charset="-120"/>
              </a:rPr>
              <a:t>• Lock-in is not always bad, but it must be a conscious decision rather than an accidental dependency.</a:t>
            </a:r>
            <a:endParaRPr lang="en-US" sz="2010" dirty="0"/>
          </a:p>
        </p:txBody>
      </p:sp>
      <p:sp>
        <p:nvSpPr>
          <p:cNvPr id="9" name="Text 6"/>
          <p:cNvSpPr/>
          <p:nvPr/>
        </p:nvSpPr>
        <p:spPr>
          <a:xfrm>
            <a:off x="7909560" y="1828800"/>
            <a:ext cx="3154680" cy="2011680"/>
          </a:xfrm>
          <a:prstGeom prst="rect">
            <a:avLst/>
          </a:prstGeom>
          <a:solidFill>
            <a:srgbClr val="EAF5FF"/>
          </a:solidFill>
          <a:ln w="12700">
            <a:solidFill>
              <a:srgbClr val="B9D8F2"/>
            </a:solidFill>
          </a:ln>
        </p:spPr>
        <p:txBody>
          <a:bodyPr wrap="square" lIns="1397" tIns="1397" rIns="1397" bIns="1397" rtlCol="0" anchor="ctr">
            <a:normAutofit/>
          </a:bodyPr>
          <a:lstStyle/>
          <a:p>
            <a:pPr marL="0" indent="0" algn="ctr">
              <a:buNone/>
            </a:pPr>
            <a:r>
              <a:rPr lang="en-US" sz="2200" b="1" dirty="0">
                <a:solidFill>
                  <a:srgbClr val="073B73"/>
                </a:solidFill>
                <a:latin typeface="Arial" pitchFamily="34" charset="0"/>
                <a:ea typeface="Arial" pitchFamily="34" charset="-122"/>
                <a:cs typeface="Arial" pitchFamily="34" charset="-120"/>
              </a:rPr>
              <a:t>Design question</a:t>
            </a:r>
            <a:endParaRPr lang="en-US" sz="2200" dirty="0"/>
          </a:p>
          <a:p>
            <a:pPr marL="0" indent="0" algn="ctr">
              <a:buNone/>
            </a:pPr>
            <a:endParaRPr lang="en-US" sz="2200" dirty="0"/>
          </a:p>
          <a:p>
            <a:pPr marL="0" indent="0" algn="ctr">
              <a:buNone/>
            </a:pPr>
            <a:r>
              <a:rPr lang="en-US" sz="2200" b="1" dirty="0">
                <a:solidFill>
                  <a:srgbClr val="073B73"/>
                </a:solidFill>
                <a:latin typeface="Arial" pitchFamily="34" charset="0"/>
                <a:ea typeface="Arial" pitchFamily="34" charset="-122"/>
                <a:cs typeface="Arial" pitchFamily="34" charset="-120"/>
              </a:rPr>
              <a:t>How hard would it be to leave this provider in one year?</a:t>
            </a:r>
            <a:endParaRPr lang="en-US" sz="2200" dirty="0"/>
          </a:p>
        </p:txBody>
      </p:sp>
      <p:sp>
        <p:nvSpPr>
          <p:cNvPr id="10" name="Text 7"/>
          <p:cNvSpPr/>
          <p:nvPr/>
        </p:nvSpPr>
        <p:spPr>
          <a:xfrm>
            <a:off x="7909560" y="4343400"/>
            <a:ext cx="3154680" cy="685800"/>
          </a:xfrm>
          <a:prstGeom prst="rect">
            <a:avLst/>
          </a:prstGeom>
          <a:solidFill>
            <a:srgbClr val="E6F8F0"/>
          </a:solidFill>
          <a:ln w="12700">
            <a:solidFill>
              <a:srgbClr val="B9D8F2"/>
            </a:solidFill>
          </a:ln>
        </p:spPr>
        <p:txBody>
          <a:bodyPr wrap="square" lIns="1397" tIns="1397" rIns="1397" bIns="1397" rtlCol="0" anchor="ctr">
            <a:normAutofit/>
          </a:bodyPr>
          <a:lstStyle/>
          <a:p>
            <a:pPr marL="0" indent="0" algn="ctr">
              <a:buNone/>
            </a:pPr>
            <a:r>
              <a:rPr lang="en-US" sz="1800" b="1" dirty="0">
                <a:solidFill>
                  <a:srgbClr val="1E9E66"/>
                </a:solidFill>
                <a:latin typeface="Arial" pitchFamily="34" charset="0"/>
                <a:ea typeface="Arial" pitchFamily="34" charset="-122"/>
                <a:cs typeface="Arial" pitchFamily="34" charset="-120"/>
              </a:rPr>
              <a:t>Exit planning is part of good architecture.</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5">
    <p:bg>
      <p:bgPr>
        <a:solidFill>
          <a:srgbClr val="F7FBFF"/>
        </a:solidFill>
        <a:effectLst/>
      </p:bgPr>
    </p:bg>
    <p:spTree>
      <p:nvGrpSpPr>
        <p:cNvPr id="1" name=""/>
        <p:cNvGrpSpPr/>
        <p:nvPr/>
      </p:nvGrpSpPr>
      <p:grpSpPr>
        <a:xfrm>
          <a:off x="0" y="0"/>
          <a:ext cx="0" cy="0"/>
          <a:chOff x="0" y="0"/>
          <a:chExt cx="0" cy="0"/>
        </a:xfrm>
      </p:grpSpPr>
      <p:sp>
        <p:nvSpPr>
          <p:cNvPr id="2" name="Text 0"/>
          <p:cNvSpPr/>
          <p:nvPr/>
        </p:nvSpPr>
        <p:spPr>
          <a:xfrm>
            <a:off x="502920" y="182880"/>
            <a:ext cx="2011680" cy="201168"/>
          </a:xfrm>
          <a:prstGeom prst="rect">
            <a:avLst/>
          </a:prstGeom>
          <a:noFill/>
          <a:ln/>
        </p:spPr>
        <p:txBody>
          <a:bodyPr wrap="square" lIns="0" tIns="0" rIns="0" bIns="0" rtlCol="0" anchor="ctr"/>
          <a:lstStyle/>
          <a:p>
            <a:pPr marL="0" indent="0">
              <a:buNone/>
            </a:pPr>
            <a:r>
              <a:rPr lang="en-US" sz="900" b="1" dirty="0">
                <a:solidFill>
                  <a:srgbClr val="1E9E66"/>
                </a:solidFill>
                <a:latin typeface="Arial" pitchFamily="34" charset="0"/>
                <a:ea typeface="Arial" pitchFamily="34" charset="-122"/>
                <a:cs typeface="Arial" pitchFamily="34" charset="-120"/>
              </a:rPr>
              <a:t>LECTURE 1</a:t>
            </a:r>
            <a:endParaRPr lang="en-US" sz="900" dirty="0"/>
          </a:p>
        </p:txBody>
      </p:sp>
      <p:sp>
        <p:nvSpPr>
          <p:cNvPr id="3" name="Text 1"/>
          <p:cNvSpPr/>
          <p:nvPr/>
        </p:nvSpPr>
        <p:spPr>
          <a:xfrm>
            <a:off x="502920" y="438912"/>
            <a:ext cx="10881360" cy="530352"/>
          </a:xfrm>
          <a:prstGeom prst="rect">
            <a:avLst/>
          </a:prstGeom>
          <a:noFill/>
          <a:ln/>
        </p:spPr>
        <p:txBody>
          <a:bodyPr wrap="square" lIns="0" tIns="0" rIns="0" bIns="0" rtlCol="0" anchor="ctr">
            <a:normAutofit/>
          </a:bodyPr>
          <a:lstStyle/>
          <a:p>
            <a:pPr marL="0" indent="0">
              <a:buNone/>
            </a:pPr>
            <a:r>
              <a:rPr lang="en-US" sz="2800" b="1" dirty="0">
                <a:solidFill>
                  <a:srgbClr val="073B73"/>
                </a:solidFill>
                <a:latin typeface="Arial" pitchFamily="34" charset="0"/>
                <a:ea typeface="Arial" pitchFamily="34" charset="-122"/>
                <a:cs typeface="Arial" pitchFamily="34" charset="-120"/>
              </a:rPr>
              <a:t>Challenge 3: data transfer bottlenecks</a:t>
            </a:r>
            <a:endParaRPr lang="en-US" sz="2800" dirty="0"/>
          </a:p>
        </p:txBody>
      </p:sp>
      <p:sp>
        <p:nvSpPr>
          <p:cNvPr id="4" name="Shape 2"/>
          <p:cNvSpPr/>
          <p:nvPr/>
        </p:nvSpPr>
        <p:spPr>
          <a:xfrm>
            <a:off x="411480" y="6327648"/>
            <a:ext cx="11247120" cy="0"/>
          </a:xfrm>
          <a:prstGeom prst="line">
            <a:avLst/>
          </a:prstGeom>
          <a:noFill/>
          <a:ln w="8890">
            <a:solidFill>
              <a:srgbClr val="B9D8F2"/>
            </a:solidFill>
            <a:prstDash val="solid"/>
          </a:ln>
        </p:spPr>
      </p:sp>
      <p:sp>
        <p:nvSpPr>
          <p:cNvPr id="5" name="Text 3"/>
          <p:cNvSpPr/>
          <p:nvPr/>
        </p:nvSpPr>
        <p:spPr>
          <a:xfrm>
            <a:off x="502920" y="6382512"/>
            <a:ext cx="7132320" cy="201168"/>
          </a:xfrm>
          <a:prstGeom prst="rect">
            <a:avLst/>
          </a:prstGeom>
          <a:noFill/>
          <a:ln/>
        </p:spPr>
        <p:txBody>
          <a:bodyPr wrap="square" lIns="0" tIns="0" rIns="0" bIns="0" rtlCol="0" anchor="ctr"/>
          <a:lstStyle/>
          <a:p>
            <a:pPr marL="0" indent="0">
              <a:buNone/>
            </a:pPr>
            <a:r>
              <a:rPr lang="en-US" sz="850" dirty="0">
                <a:solidFill>
                  <a:srgbClr val="697386"/>
                </a:solidFill>
                <a:latin typeface="Arial" pitchFamily="34" charset="0"/>
                <a:ea typeface="Arial" pitchFamily="34" charset="-122"/>
                <a:cs typeface="Arial" pitchFamily="34" charset="-120"/>
              </a:rPr>
              <a:t>ICT411 Cloud Computing • Unit 1 • Foundations &amp; Context</a:t>
            </a:r>
            <a:endParaRPr lang="en-US" sz="850" dirty="0"/>
          </a:p>
        </p:txBody>
      </p:sp>
      <p:sp>
        <p:nvSpPr>
          <p:cNvPr id="6" name="Text 4"/>
          <p:cNvSpPr/>
          <p:nvPr/>
        </p:nvSpPr>
        <p:spPr>
          <a:xfrm>
            <a:off x="10835640" y="6364224"/>
            <a:ext cx="320040" cy="228600"/>
          </a:xfrm>
          <a:prstGeom prst="rect">
            <a:avLst/>
          </a:prstGeom>
          <a:noFill/>
          <a:ln/>
        </p:spPr>
        <p:txBody>
          <a:bodyPr wrap="square" lIns="0" tIns="0" rIns="0" bIns="0" rtlCol="0" anchor="ctr"/>
          <a:lstStyle/>
          <a:p>
            <a:pPr marL="0" indent="0" algn="r">
              <a:buNone/>
            </a:pPr>
            <a:r>
              <a:rPr lang="en-US" sz="900" b="1" dirty="0">
                <a:solidFill>
                  <a:srgbClr val="697386"/>
                </a:solidFill>
                <a:latin typeface="Arial" pitchFamily="34" charset="0"/>
                <a:ea typeface="Arial" pitchFamily="34" charset="-122"/>
                <a:cs typeface="Arial" pitchFamily="34" charset="-120"/>
              </a:rPr>
              <a:t>25</a:t>
            </a:r>
            <a:endParaRPr lang="en-US" sz="900" dirty="0"/>
          </a:p>
        </p:txBody>
      </p:sp>
      <p:pic>
        <p:nvPicPr>
          <p:cNvPr id="7" name="Image 0" descr="/mnt/data/mulungushi_logo_crop2.png"/>
          <p:cNvPicPr>
            <a:picLocks noChangeAspect="1"/>
          </p:cNvPicPr>
          <p:nvPr/>
        </p:nvPicPr>
        <p:blipFill>
          <a:blip r:embed="rId3"/>
          <a:stretch>
            <a:fillRect/>
          </a:stretch>
        </p:blipFill>
        <p:spPr>
          <a:xfrm>
            <a:off x="11201400" y="6199632"/>
            <a:ext cx="502920" cy="502920"/>
          </a:xfrm>
          <a:prstGeom prst="rect">
            <a:avLst/>
          </a:prstGeom>
        </p:spPr>
      </p:pic>
      <p:sp>
        <p:nvSpPr>
          <p:cNvPr id="8" name="Text 5"/>
          <p:cNvSpPr/>
          <p:nvPr/>
        </p:nvSpPr>
        <p:spPr>
          <a:xfrm>
            <a:off x="685800" y="1115568"/>
            <a:ext cx="10378440" cy="4526280"/>
          </a:xfrm>
          <a:prstGeom prst="rect">
            <a:avLst/>
          </a:prstGeom>
          <a:noFill/>
          <a:ln/>
        </p:spPr>
        <p:txBody>
          <a:bodyPr wrap="square" lIns="635" tIns="635" rIns="635" bIns="635" rtlCol="0" anchor="t">
            <a:normAutofit/>
          </a:bodyPr>
          <a:lstStyle/>
          <a:p>
            <a:pPr marL="0" indent="0">
              <a:lnSpc>
                <a:spcPct val="97000"/>
              </a:lnSpc>
              <a:buNone/>
            </a:pPr>
            <a:r>
              <a:rPr lang="en-US" sz="2010" dirty="0">
                <a:solidFill>
                  <a:srgbClr val="3F4A55"/>
                </a:solidFill>
                <a:latin typeface="Arial" pitchFamily="34" charset="0"/>
                <a:ea typeface="Arial" pitchFamily="34" charset="-122"/>
                <a:cs typeface="Arial" pitchFamily="34" charset="-120"/>
              </a:rPr>
              <a:t>• Many modern applications are data-intensive: analytics, AI, backups, video, images, sensor data, logs, and large databases.</a:t>
            </a:r>
            <a:endParaRPr lang="en-US" sz="2010" dirty="0"/>
          </a:p>
          <a:p>
            <a:pPr marL="0" indent="0">
              <a:lnSpc>
                <a:spcPct val="97000"/>
              </a:lnSpc>
              <a:buNone/>
            </a:pPr>
            <a:r>
              <a:rPr lang="en-US" sz="2010" dirty="0">
                <a:solidFill>
                  <a:srgbClr val="3F4A55"/>
                </a:solidFill>
                <a:latin typeface="Arial" pitchFamily="34" charset="0"/>
                <a:ea typeface="Arial" pitchFamily="34" charset="-122"/>
                <a:cs typeface="Arial" pitchFamily="34" charset="-120"/>
              </a:rPr>
              <a:t>• Moving large data volumes can be slow, expensive, or unreliable depending on bandwidth, distance, provider charges, and data design.</a:t>
            </a:r>
            <a:endParaRPr lang="en-US" sz="2010" dirty="0"/>
          </a:p>
          <a:p>
            <a:pPr marL="0" indent="0">
              <a:lnSpc>
                <a:spcPct val="97000"/>
              </a:lnSpc>
              <a:buNone/>
            </a:pPr>
            <a:r>
              <a:rPr lang="en-US" sz="2010" dirty="0">
                <a:solidFill>
                  <a:srgbClr val="3F4A55"/>
                </a:solidFill>
                <a:latin typeface="Arial" pitchFamily="34" charset="0"/>
                <a:ea typeface="Arial" pitchFamily="34" charset="-122"/>
                <a:cs typeface="Arial" pitchFamily="34" charset="-120"/>
              </a:rPr>
              <a:t>• Data movement affects user experience, backup windows, analytics processing, and migration planning.</a:t>
            </a:r>
            <a:endParaRPr lang="en-US" sz="2010" dirty="0"/>
          </a:p>
          <a:p>
            <a:pPr marL="0" indent="0">
              <a:lnSpc>
                <a:spcPct val="97000"/>
              </a:lnSpc>
              <a:buNone/>
            </a:pPr>
            <a:r>
              <a:rPr lang="en-US" sz="2010" dirty="0">
                <a:solidFill>
                  <a:srgbClr val="3F4A55"/>
                </a:solidFill>
                <a:latin typeface="Arial" pitchFamily="34" charset="0"/>
                <a:ea typeface="Arial" pitchFamily="34" charset="-122"/>
                <a:cs typeface="Arial" pitchFamily="34" charset="-120"/>
              </a:rPr>
              <a:t>• Design responses include data compression, caching, regional placement, incremental sync, content delivery, and moving computation closer to data.</a:t>
            </a:r>
            <a:endParaRPr lang="en-US" sz="2010" dirty="0"/>
          </a:p>
          <a:p>
            <a:pPr marL="0" indent="0">
              <a:lnSpc>
                <a:spcPct val="97000"/>
              </a:lnSpc>
              <a:buNone/>
            </a:pPr>
            <a:r>
              <a:rPr lang="en-US" sz="2010" dirty="0">
                <a:solidFill>
                  <a:srgbClr val="3F4A55"/>
                </a:solidFill>
                <a:latin typeface="Arial" pitchFamily="34" charset="0"/>
                <a:ea typeface="Arial" pitchFamily="34" charset="-122"/>
                <a:cs typeface="Arial" pitchFamily="34" charset="-120"/>
              </a:rPr>
              <a:t>• Before migration, estimate the data size, transfer speed, cost, and acceptable downtime.</a:t>
            </a:r>
            <a:endParaRPr lang="en-US" sz="201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6">
    <p:bg>
      <p:bgPr>
        <a:solidFill>
          <a:srgbClr val="F7FBFF"/>
        </a:solidFill>
        <a:effectLst/>
      </p:bgPr>
    </p:bg>
    <p:spTree>
      <p:nvGrpSpPr>
        <p:cNvPr id="1" name=""/>
        <p:cNvGrpSpPr/>
        <p:nvPr/>
      </p:nvGrpSpPr>
      <p:grpSpPr>
        <a:xfrm>
          <a:off x="0" y="0"/>
          <a:ext cx="0" cy="0"/>
          <a:chOff x="0" y="0"/>
          <a:chExt cx="0" cy="0"/>
        </a:xfrm>
      </p:grpSpPr>
      <p:sp>
        <p:nvSpPr>
          <p:cNvPr id="2" name="Text 0"/>
          <p:cNvSpPr/>
          <p:nvPr/>
        </p:nvSpPr>
        <p:spPr>
          <a:xfrm>
            <a:off x="502920" y="182880"/>
            <a:ext cx="2011680" cy="201168"/>
          </a:xfrm>
          <a:prstGeom prst="rect">
            <a:avLst/>
          </a:prstGeom>
          <a:noFill/>
          <a:ln/>
        </p:spPr>
        <p:txBody>
          <a:bodyPr wrap="square" lIns="0" tIns="0" rIns="0" bIns="0" rtlCol="0" anchor="ctr"/>
          <a:lstStyle/>
          <a:p>
            <a:pPr marL="0" indent="0">
              <a:buNone/>
            </a:pPr>
            <a:r>
              <a:rPr lang="en-US" sz="900" b="1" dirty="0">
                <a:solidFill>
                  <a:srgbClr val="1E9E66"/>
                </a:solidFill>
                <a:latin typeface="Arial" pitchFamily="34" charset="0"/>
                <a:ea typeface="Arial" pitchFamily="34" charset="-122"/>
                <a:cs typeface="Arial" pitchFamily="34" charset="-120"/>
              </a:rPr>
              <a:t>LECTURE 1</a:t>
            </a:r>
            <a:endParaRPr lang="en-US" sz="900" dirty="0"/>
          </a:p>
        </p:txBody>
      </p:sp>
      <p:sp>
        <p:nvSpPr>
          <p:cNvPr id="3" name="Text 1"/>
          <p:cNvSpPr/>
          <p:nvPr/>
        </p:nvSpPr>
        <p:spPr>
          <a:xfrm>
            <a:off x="502920" y="438912"/>
            <a:ext cx="10881360" cy="530352"/>
          </a:xfrm>
          <a:prstGeom prst="rect">
            <a:avLst/>
          </a:prstGeom>
          <a:noFill/>
          <a:ln/>
        </p:spPr>
        <p:txBody>
          <a:bodyPr wrap="square" lIns="0" tIns="0" rIns="0" bIns="0" rtlCol="0" anchor="ctr">
            <a:normAutofit/>
          </a:bodyPr>
          <a:lstStyle/>
          <a:p>
            <a:pPr marL="0" indent="0">
              <a:buNone/>
            </a:pPr>
            <a:r>
              <a:rPr lang="en-US" sz="2800" b="1" dirty="0">
                <a:solidFill>
                  <a:srgbClr val="073B73"/>
                </a:solidFill>
                <a:latin typeface="Arial" pitchFamily="34" charset="0"/>
                <a:ea typeface="Arial" pitchFamily="34" charset="-122"/>
                <a:cs typeface="Arial" pitchFamily="34" charset="-120"/>
              </a:rPr>
              <a:t>Challenge 4: security and confidentiality</a:t>
            </a:r>
            <a:endParaRPr lang="en-US" sz="2800" dirty="0"/>
          </a:p>
        </p:txBody>
      </p:sp>
      <p:sp>
        <p:nvSpPr>
          <p:cNvPr id="4" name="Shape 2"/>
          <p:cNvSpPr/>
          <p:nvPr/>
        </p:nvSpPr>
        <p:spPr>
          <a:xfrm>
            <a:off x="411480" y="6327648"/>
            <a:ext cx="11247120" cy="0"/>
          </a:xfrm>
          <a:prstGeom prst="line">
            <a:avLst/>
          </a:prstGeom>
          <a:noFill/>
          <a:ln w="8890">
            <a:solidFill>
              <a:srgbClr val="B9D8F2"/>
            </a:solidFill>
            <a:prstDash val="solid"/>
          </a:ln>
        </p:spPr>
      </p:sp>
      <p:sp>
        <p:nvSpPr>
          <p:cNvPr id="5" name="Text 3"/>
          <p:cNvSpPr/>
          <p:nvPr/>
        </p:nvSpPr>
        <p:spPr>
          <a:xfrm>
            <a:off x="502920" y="6382512"/>
            <a:ext cx="7132320" cy="201168"/>
          </a:xfrm>
          <a:prstGeom prst="rect">
            <a:avLst/>
          </a:prstGeom>
          <a:noFill/>
          <a:ln/>
        </p:spPr>
        <p:txBody>
          <a:bodyPr wrap="square" lIns="0" tIns="0" rIns="0" bIns="0" rtlCol="0" anchor="ctr"/>
          <a:lstStyle/>
          <a:p>
            <a:pPr marL="0" indent="0">
              <a:buNone/>
            </a:pPr>
            <a:r>
              <a:rPr lang="en-US" sz="850" dirty="0">
                <a:solidFill>
                  <a:srgbClr val="697386"/>
                </a:solidFill>
                <a:latin typeface="Arial" pitchFamily="34" charset="0"/>
                <a:ea typeface="Arial" pitchFamily="34" charset="-122"/>
                <a:cs typeface="Arial" pitchFamily="34" charset="-120"/>
              </a:rPr>
              <a:t>ICT411 Cloud Computing • Unit 1 • Foundations &amp; Context</a:t>
            </a:r>
            <a:endParaRPr lang="en-US" sz="850" dirty="0"/>
          </a:p>
        </p:txBody>
      </p:sp>
      <p:sp>
        <p:nvSpPr>
          <p:cNvPr id="6" name="Text 4"/>
          <p:cNvSpPr/>
          <p:nvPr/>
        </p:nvSpPr>
        <p:spPr>
          <a:xfrm>
            <a:off x="10835640" y="6364224"/>
            <a:ext cx="320040" cy="228600"/>
          </a:xfrm>
          <a:prstGeom prst="rect">
            <a:avLst/>
          </a:prstGeom>
          <a:noFill/>
          <a:ln/>
        </p:spPr>
        <p:txBody>
          <a:bodyPr wrap="square" lIns="0" tIns="0" rIns="0" bIns="0" rtlCol="0" anchor="ctr"/>
          <a:lstStyle/>
          <a:p>
            <a:pPr marL="0" indent="0" algn="r">
              <a:buNone/>
            </a:pPr>
            <a:r>
              <a:rPr lang="en-US" sz="900" b="1" dirty="0">
                <a:solidFill>
                  <a:srgbClr val="697386"/>
                </a:solidFill>
                <a:latin typeface="Arial" pitchFamily="34" charset="0"/>
                <a:ea typeface="Arial" pitchFamily="34" charset="-122"/>
                <a:cs typeface="Arial" pitchFamily="34" charset="-120"/>
              </a:rPr>
              <a:t>26</a:t>
            </a:r>
            <a:endParaRPr lang="en-US" sz="900" dirty="0"/>
          </a:p>
        </p:txBody>
      </p:sp>
      <p:pic>
        <p:nvPicPr>
          <p:cNvPr id="7" name="Image 0" descr="/mnt/data/mulungushi_logo_crop2.png"/>
          <p:cNvPicPr>
            <a:picLocks noChangeAspect="1"/>
          </p:cNvPicPr>
          <p:nvPr/>
        </p:nvPicPr>
        <p:blipFill>
          <a:blip r:embed="rId3"/>
          <a:stretch>
            <a:fillRect/>
          </a:stretch>
        </p:blipFill>
        <p:spPr>
          <a:xfrm>
            <a:off x="11201400" y="6199632"/>
            <a:ext cx="502920" cy="502920"/>
          </a:xfrm>
          <a:prstGeom prst="rect">
            <a:avLst/>
          </a:prstGeom>
        </p:spPr>
      </p:pic>
      <p:pic>
        <p:nvPicPr>
          <p:cNvPr id="8" name="Image 1" descr="/mnt/data/wide_high_resolution_vector_3d_rendered_infographi.png"/>
          <p:cNvPicPr>
            <a:picLocks noChangeAspect="1"/>
          </p:cNvPicPr>
          <p:nvPr/>
        </p:nvPicPr>
        <p:blipFill>
          <a:blip r:embed="rId4"/>
          <a:srcRect l="10000" t="10000" r="37813" b="5000"/>
          <a:stretch/>
        </p:blipFill>
        <p:spPr>
          <a:xfrm>
            <a:off x="502920" y="1060704"/>
            <a:ext cx="4937760" cy="4526280"/>
          </a:xfrm>
          <a:prstGeom prst="rect">
            <a:avLst/>
          </a:prstGeom>
        </p:spPr>
      </p:pic>
      <p:sp>
        <p:nvSpPr>
          <p:cNvPr id="9" name="Text 5"/>
          <p:cNvSpPr/>
          <p:nvPr/>
        </p:nvSpPr>
        <p:spPr>
          <a:xfrm>
            <a:off x="5760720" y="1078992"/>
            <a:ext cx="5669280" cy="4526280"/>
          </a:xfrm>
          <a:prstGeom prst="rect">
            <a:avLst/>
          </a:prstGeom>
          <a:noFill/>
          <a:ln/>
        </p:spPr>
        <p:txBody>
          <a:bodyPr wrap="square" lIns="635" tIns="635" rIns="635" bIns="635" rtlCol="0" anchor="t">
            <a:normAutofit/>
          </a:bodyPr>
          <a:lstStyle/>
          <a:p>
            <a:pPr marL="0" indent="0">
              <a:lnSpc>
                <a:spcPct val="97000"/>
              </a:lnSpc>
              <a:buNone/>
            </a:pPr>
            <a:r>
              <a:rPr lang="en-US" sz="1960" dirty="0">
                <a:solidFill>
                  <a:srgbClr val="3F4A55"/>
                </a:solidFill>
                <a:latin typeface="Arial" pitchFamily="34" charset="0"/>
                <a:ea typeface="Arial" pitchFamily="34" charset="-122"/>
                <a:cs typeface="Arial" pitchFamily="34" charset="-120"/>
              </a:rPr>
              <a:t>• Cloud data may be stored, processed, backed up, and transmitted through systems the consumer does not physically control.</a:t>
            </a:r>
            <a:endParaRPr lang="en-US" sz="1960" dirty="0"/>
          </a:p>
          <a:p>
            <a:pPr marL="0" indent="0">
              <a:lnSpc>
                <a:spcPct val="97000"/>
              </a:lnSpc>
              <a:buNone/>
            </a:pPr>
            <a:r>
              <a:rPr lang="en-US" sz="1960" dirty="0">
                <a:solidFill>
                  <a:srgbClr val="3F4A55"/>
                </a:solidFill>
                <a:latin typeface="Arial" pitchFamily="34" charset="0"/>
                <a:ea typeface="Arial" pitchFamily="34" charset="-122"/>
                <a:cs typeface="Arial" pitchFamily="34" charset="-120"/>
              </a:rPr>
              <a:t>• Security controls include identity management, least privilege, access reviews, encryption, logging, backups, patching, and incident response.</a:t>
            </a:r>
            <a:endParaRPr lang="en-US" sz="1960" dirty="0"/>
          </a:p>
          <a:p>
            <a:pPr marL="0" indent="0">
              <a:lnSpc>
                <a:spcPct val="97000"/>
              </a:lnSpc>
              <a:buNone/>
            </a:pPr>
            <a:r>
              <a:rPr lang="en-US" sz="1960" dirty="0">
                <a:solidFill>
                  <a:srgbClr val="3F4A55"/>
                </a:solidFill>
                <a:latin typeface="Arial" pitchFamily="34" charset="0"/>
                <a:ea typeface="Arial" pitchFamily="34" charset="-122"/>
                <a:cs typeface="Arial" pitchFamily="34" charset="-120"/>
              </a:rPr>
              <a:t>• Confidentiality is especially important for sensitive systems such as healthcare, financial services, student records, and government data.</a:t>
            </a:r>
            <a:endParaRPr lang="en-US" sz="1960" dirty="0"/>
          </a:p>
          <a:p>
            <a:pPr marL="0" indent="0">
              <a:lnSpc>
                <a:spcPct val="97000"/>
              </a:lnSpc>
              <a:buNone/>
            </a:pPr>
            <a:r>
              <a:rPr lang="en-US" sz="1960" dirty="0">
                <a:solidFill>
                  <a:srgbClr val="3F4A55"/>
                </a:solidFill>
                <a:latin typeface="Arial" pitchFamily="34" charset="0"/>
                <a:ea typeface="Arial" pitchFamily="34" charset="-122"/>
                <a:cs typeface="Arial" pitchFamily="34" charset="-120"/>
              </a:rPr>
              <a:t>• Responsibility differs by service model: SaaS, PaaS, and IaaS place different duties on the provider and consumer.</a:t>
            </a:r>
            <a:endParaRPr lang="en-US" sz="1960" dirty="0"/>
          </a:p>
          <a:p>
            <a:pPr marL="0" indent="0">
              <a:lnSpc>
                <a:spcPct val="97000"/>
              </a:lnSpc>
              <a:buNone/>
            </a:pPr>
            <a:r>
              <a:rPr lang="en-US" sz="1960" dirty="0">
                <a:solidFill>
                  <a:srgbClr val="3F4A55"/>
                </a:solidFill>
                <a:latin typeface="Arial" pitchFamily="34" charset="0"/>
                <a:ea typeface="Arial" pitchFamily="34" charset="-122"/>
                <a:cs typeface="Arial" pitchFamily="34" charset="-120"/>
              </a:rPr>
              <a:t>• Trust must be supported by contracts, audits, monitoring, policy, and technical controls.</a:t>
            </a:r>
            <a:endParaRPr lang="en-US" sz="196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7">
    <p:bg>
      <p:bgPr>
        <a:solidFill>
          <a:srgbClr val="F7FBFF"/>
        </a:solidFill>
        <a:effectLst/>
      </p:bgPr>
    </p:bg>
    <p:spTree>
      <p:nvGrpSpPr>
        <p:cNvPr id="1" name=""/>
        <p:cNvGrpSpPr/>
        <p:nvPr/>
      </p:nvGrpSpPr>
      <p:grpSpPr>
        <a:xfrm>
          <a:off x="0" y="0"/>
          <a:ext cx="0" cy="0"/>
          <a:chOff x="0" y="0"/>
          <a:chExt cx="0" cy="0"/>
        </a:xfrm>
      </p:grpSpPr>
      <p:sp>
        <p:nvSpPr>
          <p:cNvPr id="2" name="Text 0"/>
          <p:cNvSpPr/>
          <p:nvPr/>
        </p:nvSpPr>
        <p:spPr>
          <a:xfrm>
            <a:off x="502920" y="182880"/>
            <a:ext cx="2011680" cy="201168"/>
          </a:xfrm>
          <a:prstGeom prst="rect">
            <a:avLst/>
          </a:prstGeom>
          <a:noFill/>
          <a:ln/>
        </p:spPr>
        <p:txBody>
          <a:bodyPr wrap="square" lIns="0" tIns="0" rIns="0" bIns="0" rtlCol="0" anchor="ctr"/>
          <a:lstStyle/>
          <a:p>
            <a:pPr marL="0" indent="0">
              <a:buNone/>
            </a:pPr>
            <a:r>
              <a:rPr lang="en-US" sz="900" b="1" dirty="0">
                <a:solidFill>
                  <a:srgbClr val="1E9E66"/>
                </a:solidFill>
                <a:latin typeface="Arial" pitchFamily="34" charset="0"/>
                <a:ea typeface="Arial" pitchFamily="34" charset="-122"/>
                <a:cs typeface="Arial" pitchFamily="34" charset="-120"/>
              </a:rPr>
              <a:t>LECTURE 1</a:t>
            </a:r>
            <a:endParaRPr lang="en-US" sz="900" dirty="0"/>
          </a:p>
        </p:txBody>
      </p:sp>
      <p:sp>
        <p:nvSpPr>
          <p:cNvPr id="3" name="Text 1"/>
          <p:cNvSpPr/>
          <p:nvPr/>
        </p:nvSpPr>
        <p:spPr>
          <a:xfrm>
            <a:off x="502920" y="438912"/>
            <a:ext cx="10881360" cy="530352"/>
          </a:xfrm>
          <a:prstGeom prst="rect">
            <a:avLst/>
          </a:prstGeom>
          <a:noFill/>
          <a:ln/>
        </p:spPr>
        <p:txBody>
          <a:bodyPr wrap="square" lIns="0" tIns="0" rIns="0" bIns="0" rtlCol="0" anchor="ctr">
            <a:normAutofit/>
          </a:bodyPr>
          <a:lstStyle/>
          <a:p>
            <a:pPr marL="0" indent="0">
              <a:buNone/>
            </a:pPr>
            <a:r>
              <a:rPr lang="en-US" sz="2800" b="1" dirty="0">
                <a:solidFill>
                  <a:srgbClr val="073B73"/>
                </a:solidFill>
                <a:latin typeface="Arial" pitchFamily="34" charset="0"/>
                <a:ea typeface="Arial" pitchFamily="34" charset="-122"/>
                <a:cs typeface="Arial" pitchFamily="34" charset="-120"/>
              </a:rPr>
              <a:t>Legal, policy, and privacy issues</a:t>
            </a:r>
            <a:endParaRPr lang="en-US" sz="2800" dirty="0"/>
          </a:p>
        </p:txBody>
      </p:sp>
      <p:sp>
        <p:nvSpPr>
          <p:cNvPr id="4" name="Shape 2"/>
          <p:cNvSpPr/>
          <p:nvPr/>
        </p:nvSpPr>
        <p:spPr>
          <a:xfrm>
            <a:off x="411480" y="6327648"/>
            <a:ext cx="11247120" cy="0"/>
          </a:xfrm>
          <a:prstGeom prst="line">
            <a:avLst/>
          </a:prstGeom>
          <a:noFill/>
          <a:ln w="8890">
            <a:solidFill>
              <a:srgbClr val="B9D8F2"/>
            </a:solidFill>
            <a:prstDash val="solid"/>
          </a:ln>
        </p:spPr>
      </p:sp>
      <p:sp>
        <p:nvSpPr>
          <p:cNvPr id="5" name="Text 3"/>
          <p:cNvSpPr/>
          <p:nvPr/>
        </p:nvSpPr>
        <p:spPr>
          <a:xfrm>
            <a:off x="502920" y="6382512"/>
            <a:ext cx="7132320" cy="201168"/>
          </a:xfrm>
          <a:prstGeom prst="rect">
            <a:avLst/>
          </a:prstGeom>
          <a:noFill/>
          <a:ln/>
        </p:spPr>
        <p:txBody>
          <a:bodyPr wrap="square" lIns="0" tIns="0" rIns="0" bIns="0" rtlCol="0" anchor="ctr"/>
          <a:lstStyle/>
          <a:p>
            <a:pPr marL="0" indent="0">
              <a:buNone/>
            </a:pPr>
            <a:r>
              <a:rPr lang="en-US" sz="850" dirty="0">
                <a:solidFill>
                  <a:srgbClr val="697386"/>
                </a:solidFill>
                <a:latin typeface="Arial" pitchFamily="34" charset="0"/>
                <a:ea typeface="Arial" pitchFamily="34" charset="-122"/>
                <a:cs typeface="Arial" pitchFamily="34" charset="-120"/>
              </a:rPr>
              <a:t>ICT411 Cloud Computing • Unit 1 • Foundations &amp; Context</a:t>
            </a:r>
            <a:endParaRPr lang="en-US" sz="850" dirty="0"/>
          </a:p>
        </p:txBody>
      </p:sp>
      <p:sp>
        <p:nvSpPr>
          <p:cNvPr id="6" name="Text 4"/>
          <p:cNvSpPr/>
          <p:nvPr/>
        </p:nvSpPr>
        <p:spPr>
          <a:xfrm>
            <a:off x="10835640" y="6364224"/>
            <a:ext cx="320040" cy="228600"/>
          </a:xfrm>
          <a:prstGeom prst="rect">
            <a:avLst/>
          </a:prstGeom>
          <a:noFill/>
          <a:ln/>
        </p:spPr>
        <p:txBody>
          <a:bodyPr wrap="square" lIns="0" tIns="0" rIns="0" bIns="0" rtlCol="0" anchor="ctr"/>
          <a:lstStyle/>
          <a:p>
            <a:pPr marL="0" indent="0" algn="r">
              <a:buNone/>
            </a:pPr>
            <a:r>
              <a:rPr lang="en-US" sz="900" b="1" dirty="0">
                <a:solidFill>
                  <a:srgbClr val="697386"/>
                </a:solidFill>
                <a:latin typeface="Arial" pitchFamily="34" charset="0"/>
                <a:ea typeface="Arial" pitchFamily="34" charset="-122"/>
                <a:cs typeface="Arial" pitchFamily="34" charset="-120"/>
              </a:rPr>
              <a:t>27</a:t>
            </a:r>
            <a:endParaRPr lang="en-US" sz="900" dirty="0"/>
          </a:p>
        </p:txBody>
      </p:sp>
      <p:pic>
        <p:nvPicPr>
          <p:cNvPr id="7" name="Image 0" descr="/mnt/data/mulungushi_logo_crop2.png"/>
          <p:cNvPicPr>
            <a:picLocks noChangeAspect="1"/>
          </p:cNvPicPr>
          <p:nvPr/>
        </p:nvPicPr>
        <p:blipFill>
          <a:blip r:embed="rId3"/>
          <a:stretch>
            <a:fillRect/>
          </a:stretch>
        </p:blipFill>
        <p:spPr>
          <a:xfrm>
            <a:off x="11201400" y="6199632"/>
            <a:ext cx="502920" cy="502920"/>
          </a:xfrm>
          <a:prstGeom prst="rect">
            <a:avLst/>
          </a:prstGeom>
        </p:spPr>
      </p:pic>
      <p:sp>
        <p:nvSpPr>
          <p:cNvPr id="8" name="Text 5"/>
          <p:cNvSpPr/>
          <p:nvPr/>
        </p:nvSpPr>
        <p:spPr>
          <a:xfrm>
            <a:off x="594360" y="1097280"/>
            <a:ext cx="5623560" cy="4526280"/>
          </a:xfrm>
          <a:prstGeom prst="rect">
            <a:avLst/>
          </a:prstGeom>
          <a:noFill/>
          <a:ln/>
        </p:spPr>
        <p:txBody>
          <a:bodyPr wrap="square" lIns="635" tIns="635" rIns="635" bIns="635" rtlCol="0" anchor="t">
            <a:normAutofit/>
          </a:bodyPr>
          <a:lstStyle/>
          <a:p>
            <a:pPr marL="0" indent="0">
              <a:lnSpc>
                <a:spcPct val="97000"/>
              </a:lnSpc>
              <a:buNone/>
            </a:pPr>
            <a:r>
              <a:rPr lang="en-US" sz="1890" dirty="0">
                <a:solidFill>
                  <a:srgbClr val="3F4A55"/>
                </a:solidFill>
                <a:latin typeface="Arial" pitchFamily="34" charset="0"/>
                <a:ea typeface="Arial" pitchFamily="34" charset="-122"/>
                <a:cs typeface="Arial" pitchFamily="34" charset="-120"/>
              </a:rPr>
              <a:t>• Cloud data may be stored or processed in different countries, so organisations must understand data-location and jurisdiction requirements.</a:t>
            </a:r>
            <a:endParaRPr lang="en-US" sz="1890" dirty="0"/>
          </a:p>
          <a:p>
            <a:pPr marL="0" indent="0">
              <a:lnSpc>
                <a:spcPct val="97000"/>
              </a:lnSpc>
              <a:buNone/>
            </a:pPr>
            <a:r>
              <a:rPr lang="en-US" sz="1890" dirty="0">
                <a:solidFill>
                  <a:srgbClr val="3F4A55"/>
                </a:solidFill>
                <a:latin typeface="Arial" pitchFamily="34" charset="0"/>
                <a:ea typeface="Arial" pitchFamily="34" charset="-122"/>
                <a:cs typeface="Arial" pitchFamily="34" charset="-120"/>
              </a:rPr>
              <a:t>• Privacy requires clear purpose, data minimization, appropriate consent, access control, retention rules, and secure disposal.</a:t>
            </a:r>
            <a:endParaRPr lang="en-US" sz="1890" dirty="0"/>
          </a:p>
          <a:p>
            <a:pPr marL="0" indent="0">
              <a:lnSpc>
                <a:spcPct val="97000"/>
              </a:lnSpc>
              <a:buNone/>
            </a:pPr>
            <a:r>
              <a:rPr lang="en-US" sz="1890" dirty="0">
                <a:solidFill>
                  <a:srgbClr val="3F4A55"/>
                </a:solidFill>
                <a:latin typeface="Arial" pitchFamily="34" charset="0"/>
                <a:ea typeface="Arial" pitchFamily="34" charset="-122"/>
                <a:cs typeface="Arial" pitchFamily="34" charset="-120"/>
              </a:rPr>
              <a:t>• Identity and federation simplify access across services, but weak authentication or excessive privileges can expose many systems at once.</a:t>
            </a:r>
            <a:endParaRPr lang="en-US" sz="1890" dirty="0"/>
          </a:p>
          <a:p>
            <a:pPr marL="0" indent="0">
              <a:lnSpc>
                <a:spcPct val="97000"/>
              </a:lnSpc>
              <a:buNone/>
            </a:pPr>
            <a:r>
              <a:rPr lang="en-US" sz="1890" dirty="0">
                <a:solidFill>
                  <a:srgbClr val="3F4A55"/>
                </a:solidFill>
                <a:latin typeface="Arial" pitchFamily="34" charset="0"/>
                <a:ea typeface="Arial" pitchFamily="34" charset="-122"/>
                <a:cs typeface="Arial" pitchFamily="34" charset="-120"/>
              </a:rPr>
              <a:t>• Contracts should define responsibilities for security, incident reporting, availability, backup, audit, and data return when the service ends.</a:t>
            </a:r>
            <a:endParaRPr lang="en-US" sz="1890" dirty="0"/>
          </a:p>
          <a:p>
            <a:pPr marL="0" indent="0">
              <a:lnSpc>
                <a:spcPct val="97000"/>
              </a:lnSpc>
              <a:buNone/>
            </a:pPr>
            <a:r>
              <a:rPr lang="en-US" sz="1890" dirty="0">
                <a:solidFill>
                  <a:srgbClr val="3F4A55"/>
                </a:solidFill>
                <a:latin typeface="Arial" pitchFamily="34" charset="0"/>
                <a:ea typeface="Arial" pitchFamily="34" charset="-122"/>
                <a:cs typeface="Arial" pitchFamily="34" charset="-120"/>
              </a:rPr>
              <a:t>• Computer scientists must translate policy requirements into technical controls and evidence.</a:t>
            </a:r>
            <a:endParaRPr lang="en-US" sz="1890" dirty="0"/>
          </a:p>
        </p:txBody>
      </p:sp>
      <p:pic>
        <p:nvPicPr>
          <p:cNvPr id="9" name="Image 1" descr="/mnt/data/cloud_identity_federation_and_privacy_diagram.png"/>
          <p:cNvPicPr>
            <a:picLocks noChangeAspect="1"/>
          </p:cNvPicPr>
          <p:nvPr/>
        </p:nvPicPr>
        <p:blipFill>
          <a:blip r:embed="rId4"/>
          <a:srcRect l="3000" t="6000" r="42287" b="12000"/>
          <a:stretch/>
        </p:blipFill>
        <p:spPr>
          <a:xfrm>
            <a:off x="6355080" y="1188720"/>
            <a:ext cx="5257800" cy="443484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8">
    <p:bg>
      <p:bgPr>
        <a:solidFill>
          <a:srgbClr val="F7FBFF"/>
        </a:solidFill>
        <a:effectLst/>
      </p:bgPr>
    </p:bg>
    <p:spTree>
      <p:nvGrpSpPr>
        <p:cNvPr id="1" name=""/>
        <p:cNvGrpSpPr/>
        <p:nvPr/>
      </p:nvGrpSpPr>
      <p:grpSpPr>
        <a:xfrm>
          <a:off x="0" y="0"/>
          <a:ext cx="0" cy="0"/>
          <a:chOff x="0" y="0"/>
          <a:chExt cx="0" cy="0"/>
        </a:xfrm>
      </p:grpSpPr>
      <p:sp>
        <p:nvSpPr>
          <p:cNvPr id="2" name="Text 0"/>
          <p:cNvSpPr/>
          <p:nvPr/>
        </p:nvSpPr>
        <p:spPr>
          <a:xfrm>
            <a:off x="502920" y="182880"/>
            <a:ext cx="2011680" cy="201168"/>
          </a:xfrm>
          <a:prstGeom prst="rect">
            <a:avLst/>
          </a:prstGeom>
          <a:noFill/>
          <a:ln/>
        </p:spPr>
        <p:txBody>
          <a:bodyPr wrap="square" lIns="0" tIns="0" rIns="0" bIns="0" rtlCol="0" anchor="ctr"/>
          <a:lstStyle/>
          <a:p>
            <a:pPr marL="0" indent="0">
              <a:buNone/>
            </a:pPr>
            <a:r>
              <a:rPr lang="en-US" sz="900" b="1" dirty="0">
                <a:solidFill>
                  <a:srgbClr val="1E9E66"/>
                </a:solidFill>
                <a:latin typeface="Arial" pitchFamily="34" charset="0"/>
                <a:ea typeface="Arial" pitchFamily="34" charset="-122"/>
                <a:cs typeface="Arial" pitchFamily="34" charset="-120"/>
              </a:rPr>
              <a:t>LECTURE 1</a:t>
            </a:r>
            <a:endParaRPr lang="en-US" sz="900" dirty="0"/>
          </a:p>
        </p:txBody>
      </p:sp>
      <p:sp>
        <p:nvSpPr>
          <p:cNvPr id="3" name="Text 1"/>
          <p:cNvSpPr/>
          <p:nvPr/>
        </p:nvSpPr>
        <p:spPr>
          <a:xfrm>
            <a:off x="502920" y="438912"/>
            <a:ext cx="10881360" cy="530352"/>
          </a:xfrm>
          <a:prstGeom prst="rect">
            <a:avLst/>
          </a:prstGeom>
          <a:noFill/>
          <a:ln/>
        </p:spPr>
        <p:txBody>
          <a:bodyPr wrap="square" lIns="0" tIns="0" rIns="0" bIns="0" rtlCol="0" anchor="ctr">
            <a:normAutofit/>
          </a:bodyPr>
          <a:lstStyle/>
          <a:p>
            <a:pPr marL="0" indent="0">
              <a:buNone/>
            </a:pPr>
            <a:r>
              <a:rPr lang="en-US" sz="2800" b="1" dirty="0">
                <a:solidFill>
                  <a:srgbClr val="073B73"/>
                </a:solidFill>
                <a:latin typeface="Arial" pitchFamily="34" charset="0"/>
                <a:ea typeface="Arial" pitchFamily="34" charset="-122"/>
                <a:cs typeface="Arial" pitchFamily="34" charset="-120"/>
              </a:rPr>
              <a:t>Cloud vulnerabilities and outage thinking</a:t>
            </a:r>
            <a:endParaRPr lang="en-US" sz="2800" dirty="0"/>
          </a:p>
        </p:txBody>
      </p:sp>
      <p:sp>
        <p:nvSpPr>
          <p:cNvPr id="4" name="Shape 2"/>
          <p:cNvSpPr/>
          <p:nvPr/>
        </p:nvSpPr>
        <p:spPr>
          <a:xfrm>
            <a:off x="411480" y="6327648"/>
            <a:ext cx="11247120" cy="0"/>
          </a:xfrm>
          <a:prstGeom prst="line">
            <a:avLst/>
          </a:prstGeom>
          <a:noFill/>
          <a:ln w="8890">
            <a:solidFill>
              <a:srgbClr val="B9D8F2"/>
            </a:solidFill>
            <a:prstDash val="solid"/>
          </a:ln>
        </p:spPr>
      </p:sp>
      <p:sp>
        <p:nvSpPr>
          <p:cNvPr id="5" name="Text 3"/>
          <p:cNvSpPr/>
          <p:nvPr/>
        </p:nvSpPr>
        <p:spPr>
          <a:xfrm>
            <a:off x="502920" y="6382512"/>
            <a:ext cx="7132320" cy="201168"/>
          </a:xfrm>
          <a:prstGeom prst="rect">
            <a:avLst/>
          </a:prstGeom>
          <a:noFill/>
          <a:ln/>
        </p:spPr>
        <p:txBody>
          <a:bodyPr wrap="square" lIns="0" tIns="0" rIns="0" bIns="0" rtlCol="0" anchor="ctr"/>
          <a:lstStyle/>
          <a:p>
            <a:pPr marL="0" indent="0">
              <a:buNone/>
            </a:pPr>
            <a:r>
              <a:rPr lang="en-US" sz="850" dirty="0">
                <a:solidFill>
                  <a:srgbClr val="697386"/>
                </a:solidFill>
                <a:latin typeface="Arial" pitchFamily="34" charset="0"/>
                <a:ea typeface="Arial" pitchFamily="34" charset="-122"/>
                <a:cs typeface="Arial" pitchFamily="34" charset="-120"/>
              </a:rPr>
              <a:t>ICT411 Cloud Computing • Unit 1 • Foundations &amp; Context</a:t>
            </a:r>
            <a:endParaRPr lang="en-US" sz="850" dirty="0"/>
          </a:p>
        </p:txBody>
      </p:sp>
      <p:sp>
        <p:nvSpPr>
          <p:cNvPr id="6" name="Text 4"/>
          <p:cNvSpPr/>
          <p:nvPr/>
        </p:nvSpPr>
        <p:spPr>
          <a:xfrm>
            <a:off x="10835640" y="6364224"/>
            <a:ext cx="320040" cy="228600"/>
          </a:xfrm>
          <a:prstGeom prst="rect">
            <a:avLst/>
          </a:prstGeom>
          <a:noFill/>
          <a:ln/>
        </p:spPr>
        <p:txBody>
          <a:bodyPr wrap="square" lIns="0" tIns="0" rIns="0" bIns="0" rtlCol="0" anchor="ctr"/>
          <a:lstStyle/>
          <a:p>
            <a:pPr marL="0" indent="0" algn="r">
              <a:buNone/>
            </a:pPr>
            <a:r>
              <a:rPr lang="en-US" sz="900" b="1" dirty="0">
                <a:solidFill>
                  <a:srgbClr val="697386"/>
                </a:solidFill>
                <a:latin typeface="Arial" pitchFamily="34" charset="0"/>
                <a:ea typeface="Arial" pitchFamily="34" charset="-122"/>
                <a:cs typeface="Arial" pitchFamily="34" charset="-120"/>
              </a:rPr>
              <a:t>28</a:t>
            </a:r>
            <a:endParaRPr lang="en-US" sz="900" dirty="0"/>
          </a:p>
        </p:txBody>
      </p:sp>
      <p:pic>
        <p:nvPicPr>
          <p:cNvPr id="7" name="Image 0" descr="/mnt/data/mulungushi_logo_crop2.png"/>
          <p:cNvPicPr>
            <a:picLocks noChangeAspect="1"/>
          </p:cNvPicPr>
          <p:nvPr/>
        </p:nvPicPr>
        <p:blipFill>
          <a:blip r:embed="rId3"/>
          <a:stretch>
            <a:fillRect/>
          </a:stretch>
        </p:blipFill>
        <p:spPr>
          <a:xfrm>
            <a:off x="11201400" y="6199632"/>
            <a:ext cx="502920" cy="502920"/>
          </a:xfrm>
          <a:prstGeom prst="rect">
            <a:avLst/>
          </a:prstGeom>
        </p:spPr>
      </p:pic>
      <p:sp>
        <p:nvSpPr>
          <p:cNvPr id="8" name="Text 5"/>
          <p:cNvSpPr/>
          <p:nvPr/>
        </p:nvSpPr>
        <p:spPr>
          <a:xfrm>
            <a:off x="685800" y="1115568"/>
            <a:ext cx="10378440" cy="4526280"/>
          </a:xfrm>
          <a:prstGeom prst="rect">
            <a:avLst/>
          </a:prstGeom>
          <a:noFill/>
          <a:ln/>
        </p:spPr>
        <p:txBody>
          <a:bodyPr wrap="square" lIns="635" tIns="635" rIns="635" bIns="635" rtlCol="0" anchor="t">
            <a:normAutofit/>
          </a:bodyPr>
          <a:lstStyle/>
          <a:p>
            <a:pPr marL="0" indent="0">
              <a:lnSpc>
                <a:spcPct val="97000"/>
              </a:lnSpc>
              <a:buNone/>
            </a:pPr>
            <a:r>
              <a:rPr lang="en-US" sz="2010" dirty="0">
                <a:solidFill>
                  <a:srgbClr val="3F4A55"/>
                </a:solidFill>
                <a:latin typeface="Arial" pitchFamily="34" charset="0"/>
                <a:ea typeface="Arial" pitchFamily="34" charset="-122"/>
                <a:cs typeface="Arial" pitchFamily="34" charset="-120"/>
              </a:rPr>
              <a:t>• Cloud environments can be affected by malicious attacks, software defects, human error, misconfigurations, power failures, and network failures.</a:t>
            </a:r>
            <a:endParaRPr lang="en-US" sz="2010" dirty="0"/>
          </a:p>
          <a:p>
            <a:pPr marL="0" indent="0">
              <a:lnSpc>
                <a:spcPct val="97000"/>
              </a:lnSpc>
              <a:buNone/>
            </a:pPr>
            <a:r>
              <a:rPr lang="en-US" sz="2010" dirty="0">
                <a:solidFill>
                  <a:srgbClr val="3F4A55"/>
                </a:solidFill>
                <a:latin typeface="Arial" pitchFamily="34" charset="0"/>
                <a:ea typeface="Arial" pitchFamily="34" charset="-122"/>
                <a:cs typeface="Arial" pitchFamily="34" charset="-120"/>
              </a:rPr>
              <a:t>• A single dependency such as DNS, identity, storage, messaging, or payment can become a point of failure.</a:t>
            </a:r>
            <a:endParaRPr lang="en-US" sz="2010" dirty="0"/>
          </a:p>
          <a:p>
            <a:pPr marL="0" indent="0">
              <a:lnSpc>
                <a:spcPct val="97000"/>
              </a:lnSpc>
              <a:buNone/>
            </a:pPr>
            <a:r>
              <a:rPr lang="en-US" sz="2010" dirty="0">
                <a:solidFill>
                  <a:srgbClr val="3F4A55"/>
                </a:solidFill>
                <a:latin typeface="Arial" pitchFamily="34" charset="0"/>
                <a:ea typeface="Arial" pitchFamily="34" charset="-122"/>
                <a:cs typeface="Arial" pitchFamily="34" charset="-120"/>
              </a:rPr>
              <a:t>• Denial-of-service attacks can overwhelm services if protection, scaling, and filtering are weak.</a:t>
            </a:r>
            <a:endParaRPr lang="en-US" sz="2010" dirty="0"/>
          </a:p>
          <a:p>
            <a:pPr marL="0" indent="0">
              <a:lnSpc>
                <a:spcPct val="97000"/>
              </a:lnSpc>
              <a:buNone/>
            </a:pPr>
            <a:r>
              <a:rPr lang="en-US" sz="2010" dirty="0">
                <a:solidFill>
                  <a:srgbClr val="3F4A55"/>
                </a:solidFill>
                <a:latin typeface="Arial" pitchFamily="34" charset="0"/>
                <a:ea typeface="Arial" pitchFamily="34" charset="-122"/>
                <a:cs typeface="Arial" pitchFamily="34" charset="-120"/>
              </a:rPr>
              <a:t>• Physical events such as power incidents or regional disruptions show why disaster recovery planning matters.</a:t>
            </a:r>
            <a:endParaRPr lang="en-US" sz="2010" dirty="0"/>
          </a:p>
          <a:p>
            <a:pPr marL="0" indent="0">
              <a:lnSpc>
                <a:spcPct val="97000"/>
              </a:lnSpc>
              <a:buNone/>
            </a:pPr>
            <a:r>
              <a:rPr lang="en-US" sz="2010" dirty="0">
                <a:solidFill>
                  <a:srgbClr val="3F4A55"/>
                </a:solidFill>
                <a:latin typeface="Arial" pitchFamily="34" charset="0"/>
                <a:ea typeface="Arial" pitchFamily="34" charset="-122"/>
                <a:cs typeface="Arial" pitchFamily="34" charset="-120"/>
              </a:rPr>
              <a:t>• Good architects assume failure is possible and design detection, response, communication, and recovery early.</a:t>
            </a:r>
            <a:endParaRPr lang="en-US" sz="201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9">
    <p:bg>
      <p:bgPr>
        <a:solidFill>
          <a:srgbClr val="F7FBFF"/>
        </a:solidFill>
        <a:effectLst/>
      </p:bgPr>
    </p:bg>
    <p:spTree>
      <p:nvGrpSpPr>
        <p:cNvPr id="1" name=""/>
        <p:cNvGrpSpPr/>
        <p:nvPr/>
      </p:nvGrpSpPr>
      <p:grpSpPr>
        <a:xfrm>
          <a:off x="0" y="0"/>
          <a:ext cx="0" cy="0"/>
          <a:chOff x="0" y="0"/>
          <a:chExt cx="0" cy="0"/>
        </a:xfrm>
      </p:grpSpPr>
      <p:sp>
        <p:nvSpPr>
          <p:cNvPr id="2" name="Text 0"/>
          <p:cNvSpPr/>
          <p:nvPr/>
        </p:nvSpPr>
        <p:spPr>
          <a:xfrm>
            <a:off x="502920" y="182880"/>
            <a:ext cx="2011680" cy="201168"/>
          </a:xfrm>
          <a:prstGeom prst="rect">
            <a:avLst/>
          </a:prstGeom>
          <a:noFill/>
          <a:ln/>
        </p:spPr>
        <p:txBody>
          <a:bodyPr wrap="square" lIns="0" tIns="0" rIns="0" bIns="0" rtlCol="0" anchor="ctr"/>
          <a:lstStyle/>
          <a:p>
            <a:pPr marL="0" indent="0">
              <a:buNone/>
            </a:pPr>
            <a:r>
              <a:rPr lang="en-US" sz="900" b="1" dirty="0">
                <a:solidFill>
                  <a:srgbClr val="1E9E66"/>
                </a:solidFill>
                <a:latin typeface="Arial" pitchFamily="34" charset="0"/>
                <a:ea typeface="Arial" pitchFamily="34" charset="-122"/>
                <a:cs typeface="Arial" pitchFamily="34" charset="-120"/>
              </a:rPr>
              <a:t>LECTURE 1</a:t>
            </a:r>
            <a:endParaRPr lang="en-US" sz="900" dirty="0"/>
          </a:p>
        </p:txBody>
      </p:sp>
      <p:sp>
        <p:nvSpPr>
          <p:cNvPr id="3" name="Text 1"/>
          <p:cNvSpPr/>
          <p:nvPr/>
        </p:nvSpPr>
        <p:spPr>
          <a:xfrm>
            <a:off x="502920" y="438912"/>
            <a:ext cx="10881360" cy="530352"/>
          </a:xfrm>
          <a:prstGeom prst="rect">
            <a:avLst/>
          </a:prstGeom>
          <a:noFill/>
          <a:ln/>
        </p:spPr>
        <p:txBody>
          <a:bodyPr wrap="square" lIns="0" tIns="0" rIns="0" bIns="0" rtlCol="0" anchor="ctr">
            <a:normAutofit/>
          </a:bodyPr>
          <a:lstStyle/>
          <a:p>
            <a:pPr marL="0" indent="0">
              <a:buNone/>
            </a:pPr>
            <a:r>
              <a:rPr lang="en-US" sz="2800" b="1" dirty="0">
                <a:solidFill>
                  <a:srgbClr val="073B73"/>
                </a:solidFill>
                <a:latin typeface="Arial" pitchFamily="34" charset="0"/>
                <a:ea typeface="Arial" pitchFamily="34" charset="-122"/>
                <a:cs typeface="Arial" pitchFamily="34" charset="-120"/>
              </a:rPr>
              <a:t>Common cloud use cases</a:t>
            </a:r>
            <a:endParaRPr lang="en-US" sz="2800" dirty="0"/>
          </a:p>
        </p:txBody>
      </p:sp>
      <p:sp>
        <p:nvSpPr>
          <p:cNvPr id="4" name="Shape 2"/>
          <p:cNvSpPr/>
          <p:nvPr/>
        </p:nvSpPr>
        <p:spPr>
          <a:xfrm>
            <a:off x="411480" y="6327648"/>
            <a:ext cx="11247120" cy="0"/>
          </a:xfrm>
          <a:prstGeom prst="line">
            <a:avLst/>
          </a:prstGeom>
          <a:noFill/>
          <a:ln w="8890">
            <a:solidFill>
              <a:srgbClr val="B9D8F2"/>
            </a:solidFill>
            <a:prstDash val="solid"/>
          </a:ln>
        </p:spPr>
      </p:sp>
      <p:sp>
        <p:nvSpPr>
          <p:cNvPr id="5" name="Text 3"/>
          <p:cNvSpPr/>
          <p:nvPr/>
        </p:nvSpPr>
        <p:spPr>
          <a:xfrm>
            <a:off x="502920" y="6382512"/>
            <a:ext cx="7132320" cy="201168"/>
          </a:xfrm>
          <a:prstGeom prst="rect">
            <a:avLst/>
          </a:prstGeom>
          <a:noFill/>
          <a:ln/>
        </p:spPr>
        <p:txBody>
          <a:bodyPr wrap="square" lIns="0" tIns="0" rIns="0" bIns="0" rtlCol="0" anchor="ctr"/>
          <a:lstStyle/>
          <a:p>
            <a:pPr marL="0" indent="0">
              <a:buNone/>
            </a:pPr>
            <a:r>
              <a:rPr lang="en-US" sz="850" dirty="0">
                <a:solidFill>
                  <a:srgbClr val="697386"/>
                </a:solidFill>
                <a:latin typeface="Arial" pitchFamily="34" charset="0"/>
                <a:ea typeface="Arial" pitchFamily="34" charset="-122"/>
                <a:cs typeface="Arial" pitchFamily="34" charset="-120"/>
              </a:rPr>
              <a:t>ICT411 Cloud Computing • Unit 1 • Foundations &amp; Context</a:t>
            </a:r>
            <a:endParaRPr lang="en-US" sz="850" dirty="0"/>
          </a:p>
        </p:txBody>
      </p:sp>
      <p:sp>
        <p:nvSpPr>
          <p:cNvPr id="6" name="Text 4"/>
          <p:cNvSpPr/>
          <p:nvPr/>
        </p:nvSpPr>
        <p:spPr>
          <a:xfrm>
            <a:off x="10835640" y="6364224"/>
            <a:ext cx="320040" cy="228600"/>
          </a:xfrm>
          <a:prstGeom prst="rect">
            <a:avLst/>
          </a:prstGeom>
          <a:noFill/>
          <a:ln/>
        </p:spPr>
        <p:txBody>
          <a:bodyPr wrap="square" lIns="0" tIns="0" rIns="0" bIns="0" rtlCol="0" anchor="ctr"/>
          <a:lstStyle/>
          <a:p>
            <a:pPr marL="0" indent="0" algn="r">
              <a:buNone/>
            </a:pPr>
            <a:r>
              <a:rPr lang="en-US" sz="900" b="1" dirty="0">
                <a:solidFill>
                  <a:srgbClr val="697386"/>
                </a:solidFill>
                <a:latin typeface="Arial" pitchFamily="34" charset="0"/>
                <a:ea typeface="Arial" pitchFamily="34" charset="-122"/>
                <a:cs typeface="Arial" pitchFamily="34" charset="-120"/>
              </a:rPr>
              <a:t>29</a:t>
            </a:r>
            <a:endParaRPr lang="en-US" sz="900" dirty="0"/>
          </a:p>
        </p:txBody>
      </p:sp>
      <p:pic>
        <p:nvPicPr>
          <p:cNvPr id="7" name="Image 0" descr="/mnt/data/mulungushi_logo_crop2.png"/>
          <p:cNvPicPr>
            <a:picLocks noChangeAspect="1"/>
          </p:cNvPicPr>
          <p:nvPr/>
        </p:nvPicPr>
        <p:blipFill>
          <a:blip r:embed="rId3"/>
          <a:stretch>
            <a:fillRect/>
          </a:stretch>
        </p:blipFill>
        <p:spPr>
          <a:xfrm>
            <a:off x="11201400" y="6199632"/>
            <a:ext cx="502920" cy="502920"/>
          </a:xfrm>
          <a:prstGeom prst="rect">
            <a:avLst/>
          </a:prstGeom>
        </p:spPr>
      </p:pic>
      <p:sp>
        <p:nvSpPr>
          <p:cNvPr id="8" name="Text 5"/>
          <p:cNvSpPr/>
          <p:nvPr/>
        </p:nvSpPr>
        <p:spPr>
          <a:xfrm>
            <a:off x="685800" y="1115568"/>
            <a:ext cx="6172200" cy="4572000"/>
          </a:xfrm>
          <a:prstGeom prst="rect">
            <a:avLst/>
          </a:prstGeom>
          <a:noFill/>
          <a:ln/>
        </p:spPr>
        <p:txBody>
          <a:bodyPr wrap="square" lIns="635" tIns="635" rIns="635" bIns="635" rtlCol="0" anchor="t">
            <a:normAutofit/>
          </a:bodyPr>
          <a:lstStyle/>
          <a:p>
            <a:pPr marL="0" indent="0">
              <a:lnSpc>
                <a:spcPct val="97000"/>
              </a:lnSpc>
              <a:buNone/>
            </a:pPr>
            <a:r>
              <a:rPr lang="en-US" sz="1980" dirty="0">
                <a:solidFill>
                  <a:srgbClr val="3F4A55"/>
                </a:solidFill>
                <a:latin typeface="Arial" pitchFamily="34" charset="0"/>
                <a:ea typeface="Arial" pitchFamily="34" charset="-122"/>
                <a:cs typeface="Arial" pitchFamily="34" charset="-120"/>
              </a:rPr>
              <a:t>• Data storage and backup: protect files, databases, logs, and application data.</a:t>
            </a:r>
            <a:endParaRPr lang="en-US" sz="1980" dirty="0"/>
          </a:p>
          <a:p>
            <a:pPr marL="0" indent="0">
              <a:lnSpc>
                <a:spcPct val="97000"/>
              </a:lnSpc>
              <a:buNone/>
            </a:pPr>
            <a:r>
              <a:rPr lang="en-US" sz="1980" dirty="0">
                <a:solidFill>
                  <a:srgbClr val="3F4A55"/>
                </a:solidFill>
                <a:latin typeface="Arial" pitchFamily="34" charset="0"/>
                <a:ea typeface="Arial" pitchFamily="34" charset="-122"/>
                <a:cs typeface="Arial" pitchFamily="34" charset="-120"/>
              </a:rPr>
              <a:t>• Software development and testing: create repeatable development, test, and staging environments.</a:t>
            </a:r>
            <a:endParaRPr lang="en-US" sz="1980" dirty="0"/>
          </a:p>
          <a:p>
            <a:pPr marL="0" indent="0">
              <a:lnSpc>
                <a:spcPct val="97000"/>
              </a:lnSpc>
              <a:buNone/>
            </a:pPr>
            <a:r>
              <a:rPr lang="en-US" sz="1980" dirty="0">
                <a:solidFill>
                  <a:srgbClr val="3F4A55"/>
                </a:solidFill>
                <a:latin typeface="Arial" pitchFamily="34" charset="0"/>
                <a:ea typeface="Arial" pitchFamily="34" charset="-122"/>
                <a:cs typeface="Arial" pitchFamily="34" charset="-120"/>
              </a:rPr>
              <a:t>• Web and mobile applications: host services for users across many locations and devices.</a:t>
            </a:r>
            <a:endParaRPr lang="en-US" sz="1980" dirty="0"/>
          </a:p>
          <a:p>
            <a:pPr marL="0" indent="0">
              <a:lnSpc>
                <a:spcPct val="97000"/>
              </a:lnSpc>
              <a:buNone/>
            </a:pPr>
            <a:r>
              <a:rPr lang="en-US" sz="1980" dirty="0">
                <a:solidFill>
                  <a:srgbClr val="3F4A55"/>
                </a:solidFill>
                <a:latin typeface="Arial" pitchFamily="34" charset="0"/>
                <a:ea typeface="Arial" pitchFamily="34" charset="-122"/>
                <a:cs typeface="Arial" pitchFamily="34" charset="-120"/>
              </a:rPr>
              <a:t>• Big data analytics: process and analyse large datasets using scalable compute and storage.</a:t>
            </a:r>
            <a:endParaRPr lang="en-US" sz="1980" dirty="0"/>
          </a:p>
          <a:p>
            <a:pPr marL="0" indent="0">
              <a:lnSpc>
                <a:spcPct val="97000"/>
              </a:lnSpc>
              <a:buNone/>
            </a:pPr>
            <a:r>
              <a:rPr lang="en-US" sz="1980" dirty="0">
                <a:solidFill>
                  <a:srgbClr val="3F4A55"/>
                </a:solidFill>
                <a:latin typeface="Arial" pitchFamily="34" charset="0"/>
                <a:ea typeface="Arial" pitchFamily="34" charset="-122"/>
                <a:cs typeface="Arial" pitchFamily="34" charset="-120"/>
              </a:rPr>
              <a:t>• Disaster recovery: restore systems after hardware failure, cyberattack, power loss, or site disruption.</a:t>
            </a:r>
            <a:endParaRPr lang="en-US" sz="1980" dirty="0"/>
          </a:p>
          <a:p>
            <a:pPr marL="0" indent="0">
              <a:lnSpc>
                <a:spcPct val="97000"/>
              </a:lnSpc>
              <a:buNone/>
            </a:pPr>
            <a:r>
              <a:rPr lang="en-US" sz="1980" dirty="0">
                <a:solidFill>
                  <a:srgbClr val="3F4A55"/>
                </a:solidFill>
                <a:latin typeface="Arial" pitchFamily="34" charset="0"/>
                <a:ea typeface="Arial" pitchFamily="34" charset="-122"/>
                <a:cs typeface="Arial" pitchFamily="34" charset="-120"/>
              </a:rPr>
              <a:t>• Collaboration: enable shared documents, video meetings, messaging, and team productivity tools.</a:t>
            </a:r>
            <a:endParaRPr lang="en-US" sz="1980" dirty="0"/>
          </a:p>
        </p:txBody>
      </p:sp>
      <p:pic>
        <p:nvPicPr>
          <p:cNvPr id="9" name="Image 1" descr="/mnt/data/wide_modern_tech_classroom_or_lab_scene_with_a_co.png"/>
          <p:cNvPicPr>
            <a:picLocks noChangeAspect="1"/>
          </p:cNvPicPr>
          <p:nvPr/>
        </p:nvPicPr>
        <p:blipFill>
          <a:blip r:embed="rId4"/>
          <a:srcRect r="49348" b="10000"/>
          <a:stretch/>
        </p:blipFill>
        <p:spPr>
          <a:xfrm>
            <a:off x="6995160" y="1133856"/>
            <a:ext cx="4343400" cy="43434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30">
    <p:bg>
      <p:bgPr>
        <a:solidFill>
          <a:srgbClr val="F7FBFF"/>
        </a:solidFill>
        <a:effectLst/>
      </p:bgPr>
    </p:bg>
    <p:spTree>
      <p:nvGrpSpPr>
        <p:cNvPr id="1" name=""/>
        <p:cNvGrpSpPr/>
        <p:nvPr/>
      </p:nvGrpSpPr>
      <p:grpSpPr>
        <a:xfrm>
          <a:off x="0" y="0"/>
          <a:ext cx="0" cy="0"/>
          <a:chOff x="0" y="0"/>
          <a:chExt cx="0" cy="0"/>
        </a:xfrm>
      </p:grpSpPr>
      <p:sp>
        <p:nvSpPr>
          <p:cNvPr id="2" name="Text 0"/>
          <p:cNvSpPr/>
          <p:nvPr/>
        </p:nvSpPr>
        <p:spPr>
          <a:xfrm>
            <a:off x="502920" y="182880"/>
            <a:ext cx="2011680" cy="201168"/>
          </a:xfrm>
          <a:prstGeom prst="rect">
            <a:avLst/>
          </a:prstGeom>
          <a:noFill/>
          <a:ln/>
        </p:spPr>
        <p:txBody>
          <a:bodyPr wrap="square" lIns="0" tIns="0" rIns="0" bIns="0" rtlCol="0" anchor="ctr"/>
          <a:lstStyle/>
          <a:p>
            <a:pPr marL="0" indent="0">
              <a:buNone/>
            </a:pPr>
            <a:r>
              <a:rPr lang="en-US" sz="900" b="1" dirty="0">
                <a:solidFill>
                  <a:srgbClr val="1E9E66"/>
                </a:solidFill>
                <a:latin typeface="Arial" pitchFamily="34" charset="0"/>
                <a:ea typeface="Arial" pitchFamily="34" charset="-122"/>
                <a:cs typeface="Arial" pitchFamily="34" charset="-120"/>
              </a:rPr>
              <a:t>LECTURE 1</a:t>
            </a:r>
            <a:endParaRPr lang="en-US" sz="900" dirty="0"/>
          </a:p>
        </p:txBody>
      </p:sp>
      <p:sp>
        <p:nvSpPr>
          <p:cNvPr id="3" name="Text 1"/>
          <p:cNvSpPr/>
          <p:nvPr/>
        </p:nvSpPr>
        <p:spPr>
          <a:xfrm>
            <a:off x="502920" y="438912"/>
            <a:ext cx="10881360" cy="530352"/>
          </a:xfrm>
          <a:prstGeom prst="rect">
            <a:avLst/>
          </a:prstGeom>
          <a:noFill/>
          <a:ln/>
        </p:spPr>
        <p:txBody>
          <a:bodyPr wrap="square" lIns="0" tIns="0" rIns="0" bIns="0" rtlCol="0" anchor="ctr">
            <a:normAutofit/>
          </a:bodyPr>
          <a:lstStyle/>
          <a:p>
            <a:pPr marL="0" indent="0">
              <a:buNone/>
            </a:pPr>
            <a:r>
              <a:rPr lang="en-US" sz="2800" b="1" dirty="0">
                <a:solidFill>
                  <a:srgbClr val="073B73"/>
                </a:solidFill>
                <a:latin typeface="Arial" pitchFamily="34" charset="0"/>
                <a:ea typeface="Arial" pitchFamily="34" charset="-122"/>
                <a:cs typeface="Arial" pitchFamily="34" charset="-120"/>
              </a:rPr>
              <a:t>Cloud architecture: what does the term mean?</a:t>
            </a:r>
            <a:endParaRPr lang="en-US" sz="2800" dirty="0"/>
          </a:p>
        </p:txBody>
      </p:sp>
      <p:sp>
        <p:nvSpPr>
          <p:cNvPr id="4" name="Shape 2"/>
          <p:cNvSpPr/>
          <p:nvPr/>
        </p:nvSpPr>
        <p:spPr>
          <a:xfrm>
            <a:off x="411480" y="6327648"/>
            <a:ext cx="11247120" cy="0"/>
          </a:xfrm>
          <a:prstGeom prst="line">
            <a:avLst/>
          </a:prstGeom>
          <a:noFill/>
          <a:ln w="8890">
            <a:solidFill>
              <a:srgbClr val="B9D8F2"/>
            </a:solidFill>
            <a:prstDash val="solid"/>
          </a:ln>
        </p:spPr>
      </p:sp>
      <p:sp>
        <p:nvSpPr>
          <p:cNvPr id="5" name="Text 3"/>
          <p:cNvSpPr/>
          <p:nvPr/>
        </p:nvSpPr>
        <p:spPr>
          <a:xfrm>
            <a:off x="502920" y="6382512"/>
            <a:ext cx="7132320" cy="201168"/>
          </a:xfrm>
          <a:prstGeom prst="rect">
            <a:avLst/>
          </a:prstGeom>
          <a:noFill/>
          <a:ln/>
        </p:spPr>
        <p:txBody>
          <a:bodyPr wrap="square" lIns="0" tIns="0" rIns="0" bIns="0" rtlCol="0" anchor="ctr"/>
          <a:lstStyle/>
          <a:p>
            <a:pPr marL="0" indent="0">
              <a:buNone/>
            </a:pPr>
            <a:r>
              <a:rPr lang="en-US" sz="850" dirty="0">
                <a:solidFill>
                  <a:srgbClr val="697386"/>
                </a:solidFill>
                <a:latin typeface="Arial" pitchFamily="34" charset="0"/>
                <a:ea typeface="Arial" pitchFamily="34" charset="-122"/>
                <a:cs typeface="Arial" pitchFamily="34" charset="-120"/>
              </a:rPr>
              <a:t>ICT411 Cloud Computing • Unit 1 • Foundations &amp; Context</a:t>
            </a:r>
            <a:endParaRPr lang="en-US" sz="850" dirty="0"/>
          </a:p>
        </p:txBody>
      </p:sp>
      <p:sp>
        <p:nvSpPr>
          <p:cNvPr id="6" name="Text 4"/>
          <p:cNvSpPr/>
          <p:nvPr/>
        </p:nvSpPr>
        <p:spPr>
          <a:xfrm>
            <a:off x="10835640" y="6364224"/>
            <a:ext cx="320040" cy="228600"/>
          </a:xfrm>
          <a:prstGeom prst="rect">
            <a:avLst/>
          </a:prstGeom>
          <a:noFill/>
          <a:ln/>
        </p:spPr>
        <p:txBody>
          <a:bodyPr wrap="square" lIns="0" tIns="0" rIns="0" bIns="0" rtlCol="0" anchor="ctr"/>
          <a:lstStyle/>
          <a:p>
            <a:pPr marL="0" indent="0" algn="r">
              <a:buNone/>
            </a:pPr>
            <a:r>
              <a:rPr lang="en-US" sz="900" b="1" dirty="0">
                <a:solidFill>
                  <a:srgbClr val="697386"/>
                </a:solidFill>
                <a:latin typeface="Arial" pitchFamily="34" charset="0"/>
                <a:ea typeface="Arial" pitchFamily="34" charset="-122"/>
                <a:cs typeface="Arial" pitchFamily="34" charset="-120"/>
              </a:rPr>
              <a:t>30</a:t>
            </a:r>
            <a:endParaRPr lang="en-US" sz="900" dirty="0"/>
          </a:p>
        </p:txBody>
      </p:sp>
      <p:pic>
        <p:nvPicPr>
          <p:cNvPr id="7" name="Image 0" descr="/mnt/data/mulungushi_logo_crop2.png"/>
          <p:cNvPicPr>
            <a:picLocks noChangeAspect="1"/>
          </p:cNvPicPr>
          <p:nvPr/>
        </p:nvPicPr>
        <p:blipFill>
          <a:blip r:embed="rId3"/>
          <a:stretch>
            <a:fillRect/>
          </a:stretch>
        </p:blipFill>
        <p:spPr>
          <a:xfrm>
            <a:off x="11201400" y="6199632"/>
            <a:ext cx="502920" cy="502920"/>
          </a:xfrm>
          <a:prstGeom prst="rect">
            <a:avLst/>
          </a:prstGeom>
        </p:spPr>
      </p:pic>
      <p:pic>
        <p:nvPicPr>
          <p:cNvPr id="8" name="Image 1" descr="/mnt/data/cloud_data_center_ecosystem_diagram.png"/>
          <p:cNvPicPr>
            <a:picLocks noChangeAspect="1"/>
          </p:cNvPicPr>
          <p:nvPr/>
        </p:nvPicPr>
        <p:blipFill>
          <a:blip r:embed="rId4"/>
          <a:srcRect t="6000" r="-3486" b="8000"/>
          <a:stretch/>
        </p:blipFill>
        <p:spPr>
          <a:xfrm>
            <a:off x="502920" y="1005840"/>
            <a:ext cx="11183112" cy="5230368"/>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31">
    <p:bg>
      <p:bgPr>
        <a:solidFill>
          <a:srgbClr val="F7FBFF"/>
        </a:solidFill>
        <a:effectLst/>
      </p:bgPr>
    </p:bg>
    <p:spTree>
      <p:nvGrpSpPr>
        <p:cNvPr id="1" name=""/>
        <p:cNvGrpSpPr/>
        <p:nvPr/>
      </p:nvGrpSpPr>
      <p:grpSpPr>
        <a:xfrm>
          <a:off x="0" y="0"/>
          <a:ext cx="0" cy="0"/>
          <a:chOff x="0" y="0"/>
          <a:chExt cx="0" cy="0"/>
        </a:xfrm>
      </p:grpSpPr>
      <p:sp>
        <p:nvSpPr>
          <p:cNvPr id="2" name="Text 0"/>
          <p:cNvSpPr/>
          <p:nvPr/>
        </p:nvSpPr>
        <p:spPr>
          <a:xfrm>
            <a:off x="502920" y="182880"/>
            <a:ext cx="2011680" cy="201168"/>
          </a:xfrm>
          <a:prstGeom prst="rect">
            <a:avLst/>
          </a:prstGeom>
          <a:noFill/>
          <a:ln/>
        </p:spPr>
        <p:txBody>
          <a:bodyPr wrap="square" lIns="0" tIns="0" rIns="0" bIns="0" rtlCol="0" anchor="ctr"/>
          <a:lstStyle/>
          <a:p>
            <a:pPr marL="0" indent="0">
              <a:buNone/>
            </a:pPr>
            <a:r>
              <a:rPr lang="en-US" sz="900" b="1" dirty="0">
                <a:solidFill>
                  <a:srgbClr val="1E9E66"/>
                </a:solidFill>
                <a:latin typeface="Arial" pitchFamily="34" charset="0"/>
                <a:ea typeface="Arial" pitchFamily="34" charset="-122"/>
                <a:cs typeface="Arial" pitchFamily="34" charset="-120"/>
              </a:rPr>
              <a:t>LECTURE 1</a:t>
            </a:r>
            <a:endParaRPr lang="en-US" sz="900" dirty="0"/>
          </a:p>
        </p:txBody>
      </p:sp>
      <p:sp>
        <p:nvSpPr>
          <p:cNvPr id="3" name="Text 1"/>
          <p:cNvSpPr/>
          <p:nvPr/>
        </p:nvSpPr>
        <p:spPr>
          <a:xfrm>
            <a:off x="502920" y="438912"/>
            <a:ext cx="10881360" cy="530352"/>
          </a:xfrm>
          <a:prstGeom prst="rect">
            <a:avLst/>
          </a:prstGeom>
          <a:noFill/>
          <a:ln/>
        </p:spPr>
        <p:txBody>
          <a:bodyPr wrap="square" lIns="0" tIns="0" rIns="0" bIns="0" rtlCol="0" anchor="ctr">
            <a:normAutofit/>
          </a:bodyPr>
          <a:lstStyle/>
          <a:p>
            <a:pPr marL="0" indent="0">
              <a:buNone/>
            </a:pPr>
            <a:r>
              <a:rPr lang="en-US" sz="2800" b="1" dirty="0">
                <a:solidFill>
                  <a:srgbClr val="073B73"/>
                </a:solidFill>
                <a:latin typeface="Arial" pitchFamily="34" charset="0"/>
                <a:ea typeface="Arial" pitchFamily="34" charset="-122"/>
                <a:cs typeface="Arial" pitchFamily="34" charset="-120"/>
              </a:rPr>
              <a:t>NIST cloud architecture actors</a:t>
            </a:r>
            <a:endParaRPr lang="en-US" sz="2800" dirty="0"/>
          </a:p>
        </p:txBody>
      </p:sp>
      <p:sp>
        <p:nvSpPr>
          <p:cNvPr id="4" name="Shape 2"/>
          <p:cNvSpPr/>
          <p:nvPr/>
        </p:nvSpPr>
        <p:spPr>
          <a:xfrm>
            <a:off x="411480" y="6327648"/>
            <a:ext cx="11247120" cy="0"/>
          </a:xfrm>
          <a:prstGeom prst="line">
            <a:avLst/>
          </a:prstGeom>
          <a:noFill/>
          <a:ln w="8890">
            <a:solidFill>
              <a:srgbClr val="B9D8F2"/>
            </a:solidFill>
            <a:prstDash val="solid"/>
          </a:ln>
        </p:spPr>
      </p:sp>
      <p:sp>
        <p:nvSpPr>
          <p:cNvPr id="5" name="Text 3"/>
          <p:cNvSpPr/>
          <p:nvPr/>
        </p:nvSpPr>
        <p:spPr>
          <a:xfrm>
            <a:off x="502920" y="6382512"/>
            <a:ext cx="7132320" cy="201168"/>
          </a:xfrm>
          <a:prstGeom prst="rect">
            <a:avLst/>
          </a:prstGeom>
          <a:noFill/>
          <a:ln/>
        </p:spPr>
        <p:txBody>
          <a:bodyPr wrap="square" lIns="0" tIns="0" rIns="0" bIns="0" rtlCol="0" anchor="ctr"/>
          <a:lstStyle/>
          <a:p>
            <a:pPr marL="0" indent="0">
              <a:buNone/>
            </a:pPr>
            <a:r>
              <a:rPr lang="en-US" sz="850" dirty="0">
                <a:solidFill>
                  <a:srgbClr val="697386"/>
                </a:solidFill>
                <a:latin typeface="Arial" pitchFamily="34" charset="0"/>
                <a:ea typeface="Arial" pitchFamily="34" charset="-122"/>
                <a:cs typeface="Arial" pitchFamily="34" charset="-120"/>
              </a:rPr>
              <a:t>ICT411 Cloud Computing • Unit 1 • Foundations &amp; Context</a:t>
            </a:r>
            <a:endParaRPr lang="en-US" sz="850" dirty="0"/>
          </a:p>
        </p:txBody>
      </p:sp>
      <p:sp>
        <p:nvSpPr>
          <p:cNvPr id="6" name="Text 4"/>
          <p:cNvSpPr/>
          <p:nvPr/>
        </p:nvSpPr>
        <p:spPr>
          <a:xfrm>
            <a:off x="10835640" y="6364224"/>
            <a:ext cx="320040" cy="228600"/>
          </a:xfrm>
          <a:prstGeom prst="rect">
            <a:avLst/>
          </a:prstGeom>
          <a:noFill/>
          <a:ln/>
        </p:spPr>
        <p:txBody>
          <a:bodyPr wrap="square" lIns="0" tIns="0" rIns="0" bIns="0" rtlCol="0" anchor="ctr"/>
          <a:lstStyle/>
          <a:p>
            <a:pPr marL="0" indent="0" algn="r">
              <a:buNone/>
            </a:pPr>
            <a:r>
              <a:rPr lang="en-US" sz="900" b="1" dirty="0">
                <a:solidFill>
                  <a:srgbClr val="697386"/>
                </a:solidFill>
                <a:latin typeface="Arial" pitchFamily="34" charset="0"/>
                <a:ea typeface="Arial" pitchFamily="34" charset="-122"/>
                <a:cs typeface="Arial" pitchFamily="34" charset="-120"/>
              </a:rPr>
              <a:t>31</a:t>
            </a:r>
            <a:endParaRPr lang="en-US" sz="900" dirty="0"/>
          </a:p>
        </p:txBody>
      </p:sp>
      <p:pic>
        <p:nvPicPr>
          <p:cNvPr id="7" name="Image 0" descr="/mnt/data/mulungushi_logo_crop2.png"/>
          <p:cNvPicPr>
            <a:picLocks noChangeAspect="1"/>
          </p:cNvPicPr>
          <p:nvPr/>
        </p:nvPicPr>
        <p:blipFill>
          <a:blip r:embed="rId3"/>
          <a:stretch>
            <a:fillRect/>
          </a:stretch>
        </p:blipFill>
        <p:spPr>
          <a:xfrm>
            <a:off x="11201400" y="6199632"/>
            <a:ext cx="502920" cy="502920"/>
          </a:xfrm>
          <a:prstGeom prst="rect">
            <a:avLst/>
          </a:prstGeom>
        </p:spPr>
      </p:pic>
      <p:sp>
        <p:nvSpPr>
          <p:cNvPr id="8" name="Text 5"/>
          <p:cNvSpPr/>
          <p:nvPr/>
        </p:nvSpPr>
        <p:spPr>
          <a:xfrm>
            <a:off x="685800" y="1097280"/>
            <a:ext cx="10378440" cy="3977640"/>
          </a:xfrm>
          <a:prstGeom prst="rect">
            <a:avLst/>
          </a:prstGeom>
          <a:noFill/>
          <a:ln/>
        </p:spPr>
        <p:txBody>
          <a:bodyPr wrap="square" lIns="635" tIns="635" rIns="635" bIns="635" rtlCol="0" anchor="t">
            <a:normAutofit/>
          </a:bodyPr>
          <a:lstStyle/>
          <a:p>
            <a:pPr marL="0" indent="0">
              <a:lnSpc>
                <a:spcPct val="97000"/>
              </a:lnSpc>
              <a:buNone/>
            </a:pPr>
            <a:r>
              <a:rPr lang="en-US" sz="2000" dirty="0">
                <a:solidFill>
                  <a:srgbClr val="3F4A55"/>
                </a:solidFill>
                <a:latin typeface="Arial" pitchFamily="34" charset="0"/>
                <a:ea typeface="Arial" pitchFamily="34" charset="-122"/>
                <a:cs typeface="Arial" pitchFamily="34" charset="-120"/>
              </a:rPr>
              <a:t>• Cloud consumer: person or organisation that uses cloud services.</a:t>
            </a:r>
            <a:endParaRPr lang="en-US" sz="2000" dirty="0"/>
          </a:p>
          <a:p>
            <a:pPr marL="0" indent="0">
              <a:lnSpc>
                <a:spcPct val="97000"/>
              </a:lnSpc>
              <a:buNone/>
            </a:pPr>
            <a:r>
              <a:rPr lang="en-US" sz="2000" dirty="0">
                <a:solidFill>
                  <a:srgbClr val="3F4A55"/>
                </a:solidFill>
                <a:latin typeface="Arial" pitchFamily="34" charset="0"/>
                <a:ea typeface="Arial" pitchFamily="34" charset="-122"/>
                <a:cs typeface="Arial" pitchFamily="34" charset="-120"/>
              </a:rPr>
              <a:t>• Cloud provider: organisation that offers and operates cloud services.</a:t>
            </a:r>
            <a:endParaRPr lang="en-US" sz="2000" dirty="0"/>
          </a:p>
          <a:p>
            <a:pPr marL="0" indent="0">
              <a:lnSpc>
                <a:spcPct val="97000"/>
              </a:lnSpc>
              <a:buNone/>
            </a:pPr>
            <a:r>
              <a:rPr lang="en-US" sz="2000" dirty="0">
                <a:solidFill>
                  <a:srgbClr val="3F4A55"/>
                </a:solidFill>
                <a:latin typeface="Arial" pitchFamily="34" charset="0"/>
                <a:ea typeface="Arial" pitchFamily="34" charset="-122"/>
                <a:cs typeface="Arial" pitchFamily="34" charset="-120"/>
              </a:rPr>
              <a:t>• Cloud carrier: intermediary that provides connectivity and transport between consumer and provider.</a:t>
            </a:r>
            <a:endParaRPr lang="en-US" sz="2000" dirty="0"/>
          </a:p>
          <a:p>
            <a:pPr marL="0" indent="0">
              <a:lnSpc>
                <a:spcPct val="97000"/>
              </a:lnSpc>
              <a:buNone/>
            </a:pPr>
            <a:r>
              <a:rPr lang="en-US" sz="2000" dirty="0">
                <a:solidFill>
                  <a:srgbClr val="3F4A55"/>
                </a:solidFill>
                <a:latin typeface="Arial" pitchFamily="34" charset="0"/>
                <a:ea typeface="Arial" pitchFamily="34" charset="-122"/>
                <a:cs typeface="Arial" pitchFamily="34" charset="-120"/>
              </a:rPr>
              <a:t>• Cloud broker: manages use, performance, delivery, or negotiation between consumer and provider.</a:t>
            </a:r>
            <a:endParaRPr lang="en-US" sz="2000" dirty="0"/>
          </a:p>
          <a:p>
            <a:pPr marL="0" indent="0">
              <a:lnSpc>
                <a:spcPct val="97000"/>
              </a:lnSpc>
              <a:buNone/>
            </a:pPr>
            <a:r>
              <a:rPr lang="en-US" sz="2000" dirty="0">
                <a:solidFill>
                  <a:srgbClr val="3F4A55"/>
                </a:solidFill>
                <a:latin typeface="Arial" pitchFamily="34" charset="0"/>
                <a:ea typeface="Arial" pitchFamily="34" charset="-122"/>
                <a:cs typeface="Arial" pitchFamily="34" charset="-120"/>
              </a:rPr>
              <a:t>• Cloud auditor: independently evaluates performance, security, and operations.</a:t>
            </a:r>
            <a:endParaRPr lang="en-US" sz="2000" dirty="0"/>
          </a:p>
        </p:txBody>
      </p:sp>
      <p:sp>
        <p:nvSpPr>
          <p:cNvPr id="9" name="Text 6"/>
          <p:cNvSpPr/>
          <p:nvPr/>
        </p:nvSpPr>
        <p:spPr>
          <a:xfrm>
            <a:off x="1143000" y="5321808"/>
            <a:ext cx="9875520" cy="502920"/>
          </a:xfrm>
          <a:prstGeom prst="rect">
            <a:avLst/>
          </a:prstGeom>
          <a:solidFill>
            <a:srgbClr val="E6F8F0"/>
          </a:solidFill>
          <a:ln w="12700">
            <a:solidFill>
              <a:srgbClr val="B9D8F2"/>
            </a:solidFill>
          </a:ln>
        </p:spPr>
        <p:txBody>
          <a:bodyPr wrap="square" lIns="1397" tIns="1397" rIns="1397" bIns="1397" rtlCol="0" anchor="ctr">
            <a:normAutofit/>
          </a:bodyPr>
          <a:lstStyle/>
          <a:p>
            <a:pPr marL="0" indent="0" algn="ctr">
              <a:buNone/>
            </a:pPr>
            <a:r>
              <a:rPr lang="en-US" sz="1850" b="1" dirty="0">
                <a:solidFill>
                  <a:srgbClr val="1E9E66"/>
                </a:solidFill>
                <a:latin typeface="Arial" pitchFamily="34" charset="0"/>
                <a:ea typeface="Arial" pitchFamily="34" charset="-122"/>
                <a:cs typeface="Arial" pitchFamily="34" charset="-120"/>
              </a:rPr>
              <a:t>Remember: cloud architecture includes technical systems and organisational roles.</a:t>
            </a:r>
            <a:endParaRPr lang="en-US" sz="1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32">
    <p:bg>
      <p:bgPr>
        <a:solidFill>
          <a:srgbClr val="F7FBFF"/>
        </a:solidFill>
        <a:effectLst/>
      </p:bgPr>
    </p:bg>
    <p:spTree>
      <p:nvGrpSpPr>
        <p:cNvPr id="1" name=""/>
        <p:cNvGrpSpPr/>
        <p:nvPr/>
      </p:nvGrpSpPr>
      <p:grpSpPr>
        <a:xfrm>
          <a:off x="0" y="0"/>
          <a:ext cx="0" cy="0"/>
          <a:chOff x="0" y="0"/>
          <a:chExt cx="0" cy="0"/>
        </a:xfrm>
      </p:grpSpPr>
      <p:sp>
        <p:nvSpPr>
          <p:cNvPr id="2" name="Text 0"/>
          <p:cNvSpPr/>
          <p:nvPr/>
        </p:nvSpPr>
        <p:spPr>
          <a:xfrm>
            <a:off x="502920" y="182880"/>
            <a:ext cx="2011680" cy="201168"/>
          </a:xfrm>
          <a:prstGeom prst="rect">
            <a:avLst/>
          </a:prstGeom>
          <a:noFill/>
          <a:ln/>
        </p:spPr>
        <p:txBody>
          <a:bodyPr wrap="square" lIns="0" tIns="0" rIns="0" bIns="0" rtlCol="0" anchor="ctr"/>
          <a:lstStyle/>
          <a:p>
            <a:pPr marL="0" indent="0">
              <a:buNone/>
            </a:pPr>
            <a:r>
              <a:rPr lang="en-US" sz="900" b="1" dirty="0">
                <a:solidFill>
                  <a:srgbClr val="1E9E66"/>
                </a:solidFill>
                <a:latin typeface="Arial" pitchFamily="34" charset="0"/>
                <a:ea typeface="Arial" pitchFamily="34" charset="-122"/>
                <a:cs typeface="Arial" pitchFamily="34" charset="-120"/>
              </a:rPr>
              <a:t>LECTURE 1</a:t>
            </a:r>
            <a:endParaRPr lang="en-US" sz="900" dirty="0"/>
          </a:p>
        </p:txBody>
      </p:sp>
      <p:sp>
        <p:nvSpPr>
          <p:cNvPr id="3" name="Text 1"/>
          <p:cNvSpPr/>
          <p:nvPr/>
        </p:nvSpPr>
        <p:spPr>
          <a:xfrm>
            <a:off x="502920" y="438912"/>
            <a:ext cx="10881360" cy="530352"/>
          </a:xfrm>
          <a:prstGeom prst="rect">
            <a:avLst/>
          </a:prstGeom>
          <a:noFill/>
          <a:ln/>
        </p:spPr>
        <p:txBody>
          <a:bodyPr wrap="square" lIns="0" tIns="0" rIns="0" bIns="0" rtlCol="0" anchor="ctr">
            <a:normAutofit/>
          </a:bodyPr>
          <a:lstStyle/>
          <a:p>
            <a:pPr marL="0" indent="0">
              <a:buNone/>
            </a:pPr>
            <a:r>
              <a:rPr lang="en-US" sz="2800" b="1" dirty="0">
                <a:solidFill>
                  <a:srgbClr val="073B73"/>
                </a:solidFill>
                <a:latin typeface="Arial" pitchFamily="34" charset="0"/>
                <a:ea typeface="Arial" pitchFamily="34" charset="-122"/>
                <a:cs typeface="Arial" pitchFamily="34" charset="-120"/>
              </a:rPr>
              <a:t>How the cloud actors interact</a:t>
            </a:r>
            <a:endParaRPr lang="en-US" sz="2800" dirty="0"/>
          </a:p>
        </p:txBody>
      </p:sp>
      <p:sp>
        <p:nvSpPr>
          <p:cNvPr id="4" name="Shape 2"/>
          <p:cNvSpPr/>
          <p:nvPr/>
        </p:nvSpPr>
        <p:spPr>
          <a:xfrm>
            <a:off x="411480" y="6327648"/>
            <a:ext cx="11247120" cy="0"/>
          </a:xfrm>
          <a:prstGeom prst="line">
            <a:avLst/>
          </a:prstGeom>
          <a:noFill/>
          <a:ln w="8890">
            <a:solidFill>
              <a:srgbClr val="B9D8F2"/>
            </a:solidFill>
            <a:prstDash val="solid"/>
          </a:ln>
        </p:spPr>
      </p:sp>
      <p:sp>
        <p:nvSpPr>
          <p:cNvPr id="5" name="Text 3"/>
          <p:cNvSpPr/>
          <p:nvPr/>
        </p:nvSpPr>
        <p:spPr>
          <a:xfrm>
            <a:off x="502920" y="6382512"/>
            <a:ext cx="7132320" cy="201168"/>
          </a:xfrm>
          <a:prstGeom prst="rect">
            <a:avLst/>
          </a:prstGeom>
          <a:noFill/>
          <a:ln/>
        </p:spPr>
        <p:txBody>
          <a:bodyPr wrap="square" lIns="0" tIns="0" rIns="0" bIns="0" rtlCol="0" anchor="ctr"/>
          <a:lstStyle/>
          <a:p>
            <a:pPr marL="0" indent="0">
              <a:buNone/>
            </a:pPr>
            <a:r>
              <a:rPr lang="en-US" sz="850" dirty="0">
                <a:solidFill>
                  <a:srgbClr val="697386"/>
                </a:solidFill>
                <a:latin typeface="Arial" pitchFamily="34" charset="0"/>
                <a:ea typeface="Arial" pitchFamily="34" charset="-122"/>
                <a:cs typeface="Arial" pitchFamily="34" charset="-120"/>
              </a:rPr>
              <a:t>ICT411 Cloud Computing • Unit 1 • Foundations &amp; Context</a:t>
            </a:r>
            <a:endParaRPr lang="en-US" sz="850" dirty="0"/>
          </a:p>
        </p:txBody>
      </p:sp>
      <p:sp>
        <p:nvSpPr>
          <p:cNvPr id="6" name="Text 4"/>
          <p:cNvSpPr/>
          <p:nvPr/>
        </p:nvSpPr>
        <p:spPr>
          <a:xfrm>
            <a:off x="10835640" y="6364224"/>
            <a:ext cx="320040" cy="228600"/>
          </a:xfrm>
          <a:prstGeom prst="rect">
            <a:avLst/>
          </a:prstGeom>
          <a:noFill/>
          <a:ln/>
        </p:spPr>
        <p:txBody>
          <a:bodyPr wrap="square" lIns="0" tIns="0" rIns="0" bIns="0" rtlCol="0" anchor="ctr"/>
          <a:lstStyle/>
          <a:p>
            <a:pPr marL="0" indent="0" algn="r">
              <a:buNone/>
            </a:pPr>
            <a:r>
              <a:rPr lang="en-US" sz="900" b="1" dirty="0">
                <a:solidFill>
                  <a:srgbClr val="697386"/>
                </a:solidFill>
                <a:latin typeface="Arial" pitchFamily="34" charset="0"/>
                <a:ea typeface="Arial" pitchFamily="34" charset="-122"/>
                <a:cs typeface="Arial" pitchFamily="34" charset="-120"/>
              </a:rPr>
              <a:t>32</a:t>
            </a:r>
            <a:endParaRPr lang="en-US" sz="900" dirty="0"/>
          </a:p>
        </p:txBody>
      </p:sp>
      <p:pic>
        <p:nvPicPr>
          <p:cNvPr id="7" name="Image 0" descr="/mnt/data/mulungushi_logo_crop2.png"/>
          <p:cNvPicPr>
            <a:picLocks noChangeAspect="1"/>
          </p:cNvPicPr>
          <p:nvPr/>
        </p:nvPicPr>
        <p:blipFill>
          <a:blip r:embed="rId3"/>
          <a:stretch>
            <a:fillRect/>
          </a:stretch>
        </p:blipFill>
        <p:spPr>
          <a:xfrm>
            <a:off x="11201400" y="6199632"/>
            <a:ext cx="502920" cy="502920"/>
          </a:xfrm>
          <a:prstGeom prst="rect">
            <a:avLst/>
          </a:prstGeom>
        </p:spPr>
      </p:pic>
      <p:sp>
        <p:nvSpPr>
          <p:cNvPr id="8" name="Shape 5"/>
          <p:cNvSpPr/>
          <p:nvPr/>
        </p:nvSpPr>
        <p:spPr>
          <a:xfrm>
            <a:off x="2468880" y="2788920"/>
            <a:ext cx="1325880" cy="0"/>
          </a:xfrm>
          <a:prstGeom prst="line">
            <a:avLst/>
          </a:prstGeom>
          <a:noFill/>
          <a:ln w="25400">
            <a:solidFill>
              <a:srgbClr val="1267A8"/>
            </a:solidFill>
            <a:prstDash val="solid"/>
            <a:headEnd type="none"/>
            <a:tailEnd type="triangle"/>
          </a:ln>
        </p:spPr>
      </p:sp>
      <p:sp>
        <p:nvSpPr>
          <p:cNvPr id="9" name="Shape 6"/>
          <p:cNvSpPr/>
          <p:nvPr/>
        </p:nvSpPr>
        <p:spPr>
          <a:xfrm>
            <a:off x="6035040" y="2788920"/>
            <a:ext cx="1325880" cy="0"/>
          </a:xfrm>
          <a:prstGeom prst="line">
            <a:avLst/>
          </a:prstGeom>
          <a:noFill/>
          <a:ln w="25400">
            <a:solidFill>
              <a:srgbClr val="1267A8"/>
            </a:solidFill>
            <a:prstDash val="solid"/>
            <a:headEnd type="none"/>
            <a:tailEnd type="triangle"/>
          </a:ln>
        </p:spPr>
      </p:sp>
      <p:sp>
        <p:nvSpPr>
          <p:cNvPr id="10" name="Shape 7"/>
          <p:cNvSpPr/>
          <p:nvPr/>
        </p:nvSpPr>
        <p:spPr>
          <a:xfrm>
            <a:off x="9601200" y="2788920"/>
            <a:ext cx="868680" cy="0"/>
          </a:xfrm>
          <a:prstGeom prst="line">
            <a:avLst/>
          </a:prstGeom>
          <a:noFill/>
          <a:ln w="25400">
            <a:solidFill>
              <a:srgbClr val="1267A8"/>
            </a:solidFill>
            <a:prstDash val="solid"/>
            <a:headEnd type="none"/>
            <a:tailEnd type="triangle"/>
          </a:ln>
        </p:spPr>
      </p:sp>
      <p:sp>
        <p:nvSpPr>
          <p:cNvPr id="11" name="Text 8"/>
          <p:cNvSpPr/>
          <p:nvPr/>
        </p:nvSpPr>
        <p:spPr>
          <a:xfrm>
            <a:off x="822960" y="2240280"/>
            <a:ext cx="1645920" cy="1097280"/>
          </a:xfrm>
          <a:prstGeom prst="rect">
            <a:avLst/>
          </a:prstGeom>
          <a:solidFill>
            <a:srgbClr val="FFFFFF"/>
          </a:solidFill>
          <a:ln w="12700">
            <a:solidFill>
              <a:srgbClr val="B9D8F2"/>
            </a:solidFill>
          </a:ln>
        </p:spPr>
        <p:txBody>
          <a:bodyPr wrap="square" lIns="1397" tIns="1397" rIns="1397" bIns="1397" rtlCol="0" anchor="ctr">
            <a:normAutofit/>
          </a:bodyPr>
          <a:lstStyle/>
          <a:p>
            <a:pPr marL="0" indent="0" algn="ctr">
              <a:buNone/>
            </a:pPr>
            <a:r>
              <a:rPr lang="en-US" sz="1700" b="1" dirty="0">
                <a:solidFill>
                  <a:srgbClr val="073B73"/>
                </a:solidFill>
                <a:latin typeface="Arial" pitchFamily="34" charset="0"/>
                <a:ea typeface="Arial" pitchFamily="34" charset="-122"/>
                <a:cs typeface="Arial" pitchFamily="34" charset="-120"/>
              </a:rPr>
              <a:t>Consumer</a:t>
            </a:r>
            <a:endParaRPr lang="en-US" sz="1700" dirty="0"/>
          </a:p>
          <a:p>
            <a:pPr marL="0" indent="0" algn="ctr">
              <a:buNone/>
            </a:pPr>
            <a:r>
              <a:rPr lang="en-US" sz="1700" b="1" dirty="0">
                <a:solidFill>
                  <a:srgbClr val="073B73"/>
                </a:solidFill>
                <a:latin typeface="Arial" pitchFamily="34" charset="0"/>
                <a:ea typeface="Arial" pitchFamily="34" charset="-122"/>
                <a:cs typeface="Arial" pitchFamily="34" charset="-120"/>
              </a:rPr>
              <a:t>requests service</a:t>
            </a:r>
            <a:endParaRPr lang="en-US" sz="1700" dirty="0"/>
          </a:p>
        </p:txBody>
      </p:sp>
      <p:sp>
        <p:nvSpPr>
          <p:cNvPr id="12" name="Text 9"/>
          <p:cNvSpPr/>
          <p:nvPr/>
        </p:nvSpPr>
        <p:spPr>
          <a:xfrm>
            <a:off x="3794760" y="2240280"/>
            <a:ext cx="1645920" cy="1097280"/>
          </a:xfrm>
          <a:prstGeom prst="rect">
            <a:avLst/>
          </a:prstGeom>
          <a:solidFill>
            <a:srgbClr val="EAF5FF"/>
          </a:solidFill>
          <a:ln w="12700">
            <a:solidFill>
              <a:srgbClr val="B9D8F2"/>
            </a:solidFill>
          </a:ln>
        </p:spPr>
        <p:txBody>
          <a:bodyPr wrap="square" lIns="1397" tIns="1397" rIns="1397" bIns="1397" rtlCol="0" anchor="ctr">
            <a:normAutofit/>
          </a:bodyPr>
          <a:lstStyle/>
          <a:p>
            <a:pPr marL="0" indent="0" algn="ctr">
              <a:buNone/>
            </a:pPr>
            <a:r>
              <a:rPr lang="en-US" sz="1700" b="1" dirty="0">
                <a:solidFill>
                  <a:srgbClr val="073B73"/>
                </a:solidFill>
                <a:latin typeface="Arial" pitchFamily="34" charset="0"/>
                <a:ea typeface="Arial" pitchFamily="34" charset="-122"/>
                <a:cs typeface="Arial" pitchFamily="34" charset="-120"/>
              </a:rPr>
              <a:t>Carrier</a:t>
            </a:r>
            <a:endParaRPr lang="en-US" sz="1700" dirty="0"/>
          </a:p>
          <a:p>
            <a:pPr marL="0" indent="0" algn="ctr">
              <a:buNone/>
            </a:pPr>
            <a:r>
              <a:rPr lang="en-US" sz="1700" b="1" dirty="0">
                <a:solidFill>
                  <a:srgbClr val="073B73"/>
                </a:solidFill>
                <a:latin typeface="Arial" pitchFamily="34" charset="0"/>
                <a:ea typeface="Arial" pitchFamily="34" charset="-122"/>
                <a:cs typeface="Arial" pitchFamily="34" charset="-120"/>
              </a:rPr>
              <a:t>connectivity</a:t>
            </a:r>
            <a:endParaRPr lang="en-US" sz="1700" dirty="0"/>
          </a:p>
        </p:txBody>
      </p:sp>
      <p:sp>
        <p:nvSpPr>
          <p:cNvPr id="13" name="Text 10"/>
          <p:cNvSpPr/>
          <p:nvPr/>
        </p:nvSpPr>
        <p:spPr>
          <a:xfrm>
            <a:off x="7360920" y="2240280"/>
            <a:ext cx="1828800" cy="1097280"/>
          </a:xfrm>
          <a:prstGeom prst="rect">
            <a:avLst/>
          </a:prstGeom>
          <a:solidFill>
            <a:srgbClr val="E6F8F0"/>
          </a:solidFill>
          <a:ln w="12700">
            <a:solidFill>
              <a:srgbClr val="B9D8F2"/>
            </a:solidFill>
          </a:ln>
        </p:spPr>
        <p:txBody>
          <a:bodyPr wrap="square" lIns="1397" tIns="1397" rIns="1397" bIns="1397" rtlCol="0" anchor="ctr">
            <a:normAutofit/>
          </a:bodyPr>
          <a:lstStyle/>
          <a:p>
            <a:pPr marL="0" indent="0" algn="ctr">
              <a:buNone/>
            </a:pPr>
            <a:r>
              <a:rPr lang="en-US" sz="1700" b="1" dirty="0">
                <a:solidFill>
                  <a:srgbClr val="1E9E66"/>
                </a:solidFill>
                <a:latin typeface="Arial" pitchFamily="34" charset="0"/>
                <a:ea typeface="Arial" pitchFamily="34" charset="-122"/>
                <a:cs typeface="Arial" pitchFamily="34" charset="-120"/>
              </a:rPr>
              <a:t>Provider</a:t>
            </a:r>
            <a:endParaRPr lang="en-US" sz="1700" dirty="0"/>
          </a:p>
          <a:p>
            <a:pPr marL="0" indent="0" algn="ctr">
              <a:buNone/>
            </a:pPr>
            <a:r>
              <a:rPr lang="en-US" sz="1700" b="1" dirty="0">
                <a:solidFill>
                  <a:srgbClr val="1E9E66"/>
                </a:solidFill>
                <a:latin typeface="Arial" pitchFamily="34" charset="0"/>
                <a:ea typeface="Arial" pitchFamily="34" charset="-122"/>
                <a:cs typeface="Arial" pitchFamily="34" charset="-120"/>
              </a:rPr>
              <a:t>delivers service</a:t>
            </a:r>
            <a:endParaRPr lang="en-US" sz="1700" dirty="0"/>
          </a:p>
        </p:txBody>
      </p:sp>
      <p:sp>
        <p:nvSpPr>
          <p:cNvPr id="14" name="Text 11"/>
          <p:cNvSpPr/>
          <p:nvPr/>
        </p:nvSpPr>
        <p:spPr>
          <a:xfrm>
            <a:off x="10469880" y="2240280"/>
            <a:ext cx="1143000" cy="1097280"/>
          </a:xfrm>
          <a:prstGeom prst="rect">
            <a:avLst/>
          </a:prstGeom>
          <a:solidFill>
            <a:srgbClr val="FFFFFF"/>
          </a:solidFill>
          <a:ln w="12700">
            <a:solidFill>
              <a:srgbClr val="B9D8F2"/>
            </a:solidFill>
          </a:ln>
        </p:spPr>
        <p:txBody>
          <a:bodyPr wrap="square" lIns="1397" tIns="1397" rIns="1397" bIns="1397" rtlCol="0" anchor="ctr">
            <a:normAutofit/>
          </a:bodyPr>
          <a:lstStyle/>
          <a:p>
            <a:pPr marL="0" indent="0" algn="ctr">
              <a:buNone/>
            </a:pPr>
            <a:r>
              <a:rPr lang="en-US" sz="1500" b="1" dirty="0">
                <a:solidFill>
                  <a:srgbClr val="3F4A55"/>
                </a:solidFill>
                <a:latin typeface="Arial" pitchFamily="34" charset="0"/>
                <a:ea typeface="Arial" pitchFamily="34" charset="-122"/>
                <a:cs typeface="Arial" pitchFamily="34" charset="-120"/>
              </a:rPr>
              <a:t>Auditor</a:t>
            </a:r>
            <a:endParaRPr lang="en-US" sz="1500" dirty="0"/>
          </a:p>
          <a:p>
            <a:pPr marL="0" indent="0" algn="ctr">
              <a:buNone/>
            </a:pPr>
            <a:r>
              <a:rPr lang="en-US" sz="1500" b="1" dirty="0">
                <a:solidFill>
                  <a:srgbClr val="3F4A55"/>
                </a:solidFill>
                <a:latin typeface="Arial" pitchFamily="34" charset="0"/>
                <a:ea typeface="Arial" pitchFamily="34" charset="-122"/>
                <a:cs typeface="Arial" pitchFamily="34" charset="-120"/>
              </a:rPr>
              <a:t>checks controls</a:t>
            </a:r>
            <a:endParaRPr lang="en-US" sz="1500" dirty="0"/>
          </a:p>
        </p:txBody>
      </p:sp>
      <p:sp>
        <p:nvSpPr>
          <p:cNvPr id="15" name="Text 12"/>
          <p:cNvSpPr/>
          <p:nvPr/>
        </p:nvSpPr>
        <p:spPr>
          <a:xfrm>
            <a:off x="2743200" y="3977640"/>
            <a:ext cx="6949440" cy="868680"/>
          </a:xfrm>
          <a:prstGeom prst="rect">
            <a:avLst/>
          </a:prstGeom>
          <a:solidFill>
            <a:srgbClr val="F7FBFF"/>
          </a:solidFill>
          <a:ln w="12700">
            <a:solidFill>
              <a:srgbClr val="B9D8F2"/>
            </a:solidFill>
          </a:ln>
        </p:spPr>
        <p:txBody>
          <a:bodyPr wrap="square" lIns="1397" tIns="1397" rIns="1397" bIns="1397" rtlCol="0" anchor="ctr">
            <a:normAutofit/>
          </a:bodyPr>
          <a:lstStyle/>
          <a:p>
            <a:pPr marL="0" indent="0" algn="ctr">
              <a:buNone/>
            </a:pPr>
            <a:r>
              <a:rPr lang="en-US" sz="1800" b="1" dirty="0">
                <a:solidFill>
                  <a:srgbClr val="3F4A55"/>
                </a:solidFill>
                <a:latin typeface="Arial" pitchFamily="34" charset="0"/>
                <a:ea typeface="Arial" pitchFamily="34" charset="-122"/>
                <a:cs typeface="Arial" pitchFamily="34" charset="-120"/>
              </a:rPr>
              <a:t>Broker may help select, manage, integrate, or negotiate services between consumer and provider.</a:t>
            </a:r>
            <a:endParaRPr lang="en-US" sz="1800" dirty="0"/>
          </a:p>
        </p:txBody>
      </p:sp>
      <p:sp>
        <p:nvSpPr>
          <p:cNvPr id="16" name="Text 13"/>
          <p:cNvSpPr/>
          <p:nvPr/>
        </p:nvSpPr>
        <p:spPr>
          <a:xfrm>
            <a:off x="914400" y="5074920"/>
            <a:ext cx="10058400" cy="731520"/>
          </a:xfrm>
          <a:prstGeom prst="rect">
            <a:avLst/>
          </a:prstGeom>
          <a:noFill/>
          <a:ln/>
        </p:spPr>
        <p:txBody>
          <a:bodyPr wrap="square" lIns="635" tIns="635" rIns="635" bIns="635" rtlCol="0" anchor="t">
            <a:normAutofit/>
          </a:bodyPr>
          <a:lstStyle/>
          <a:p>
            <a:pPr marL="0" indent="0">
              <a:lnSpc>
                <a:spcPct val="97000"/>
              </a:lnSpc>
              <a:buNone/>
            </a:pPr>
            <a:r>
              <a:rPr lang="en-US" sz="1900" dirty="0">
                <a:solidFill>
                  <a:srgbClr val="3F4A55"/>
                </a:solidFill>
                <a:latin typeface="Arial" pitchFamily="34" charset="0"/>
                <a:ea typeface="Arial" pitchFamily="34" charset="-122"/>
                <a:cs typeface="Arial" pitchFamily="34" charset="-120"/>
              </a:rPr>
              <a:t>• The model helps students see cloud as an ecosystem, not only a data center.</a:t>
            </a:r>
            <a:endParaRPr lang="en-US" sz="1900" dirty="0"/>
          </a:p>
          <a:p>
            <a:pPr marL="0" indent="0">
              <a:lnSpc>
                <a:spcPct val="97000"/>
              </a:lnSpc>
              <a:buNone/>
            </a:pPr>
            <a:r>
              <a:rPr lang="en-US" sz="1900" dirty="0">
                <a:solidFill>
                  <a:srgbClr val="3F4A55"/>
                </a:solidFill>
                <a:latin typeface="Arial" pitchFamily="34" charset="0"/>
                <a:ea typeface="Arial" pitchFamily="34" charset="-122"/>
                <a:cs typeface="Arial" pitchFamily="34" charset="-120"/>
              </a:rPr>
              <a:t>• When a service fails, responsibility may involve more than one actor.</a:t>
            </a:r>
            <a:endParaRPr lang="en-US" sz="19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3">
    <p:bg>
      <p:bgPr>
        <a:solidFill>
          <a:srgbClr val="F7FBFF"/>
        </a:solidFill>
        <a:effectLst/>
      </p:bgPr>
    </p:bg>
    <p:spTree>
      <p:nvGrpSpPr>
        <p:cNvPr id="1" name=""/>
        <p:cNvGrpSpPr/>
        <p:nvPr/>
      </p:nvGrpSpPr>
      <p:grpSpPr>
        <a:xfrm>
          <a:off x="0" y="0"/>
          <a:ext cx="0" cy="0"/>
          <a:chOff x="0" y="0"/>
          <a:chExt cx="0" cy="0"/>
        </a:xfrm>
      </p:grpSpPr>
      <p:sp>
        <p:nvSpPr>
          <p:cNvPr id="2" name="Text 0"/>
          <p:cNvSpPr/>
          <p:nvPr/>
        </p:nvSpPr>
        <p:spPr>
          <a:xfrm>
            <a:off x="502920" y="182880"/>
            <a:ext cx="2011680" cy="201168"/>
          </a:xfrm>
          <a:prstGeom prst="rect">
            <a:avLst/>
          </a:prstGeom>
          <a:noFill/>
          <a:ln/>
        </p:spPr>
        <p:txBody>
          <a:bodyPr wrap="square" lIns="0" tIns="0" rIns="0" bIns="0" rtlCol="0" anchor="ctr"/>
          <a:lstStyle/>
          <a:p>
            <a:pPr marL="0" indent="0">
              <a:buNone/>
            </a:pPr>
            <a:r>
              <a:rPr lang="en-US" sz="900" b="1" dirty="0">
                <a:solidFill>
                  <a:srgbClr val="1E9E66"/>
                </a:solidFill>
                <a:latin typeface="Arial" pitchFamily="34" charset="0"/>
                <a:ea typeface="Arial" pitchFamily="34" charset="-122"/>
                <a:cs typeface="Arial" pitchFamily="34" charset="-120"/>
              </a:rPr>
              <a:t>LECTURE 1</a:t>
            </a:r>
            <a:endParaRPr lang="en-US" sz="900" dirty="0"/>
          </a:p>
        </p:txBody>
      </p:sp>
      <p:sp>
        <p:nvSpPr>
          <p:cNvPr id="3" name="Text 1"/>
          <p:cNvSpPr/>
          <p:nvPr/>
        </p:nvSpPr>
        <p:spPr>
          <a:xfrm>
            <a:off x="502920" y="438912"/>
            <a:ext cx="10881360" cy="530352"/>
          </a:xfrm>
          <a:prstGeom prst="rect">
            <a:avLst/>
          </a:prstGeom>
          <a:noFill/>
          <a:ln/>
        </p:spPr>
        <p:txBody>
          <a:bodyPr wrap="square" lIns="0" tIns="0" rIns="0" bIns="0" rtlCol="0" anchor="ctr">
            <a:normAutofit/>
          </a:bodyPr>
          <a:lstStyle/>
          <a:p>
            <a:pPr marL="0" indent="0">
              <a:buNone/>
            </a:pPr>
            <a:r>
              <a:rPr lang="en-US" sz="2800" b="1" dirty="0">
                <a:solidFill>
                  <a:srgbClr val="073B73"/>
                </a:solidFill>
                <a:latin typeface="Arial" pitchFamily="34" charset="0"/>
                <a:ea typeface="Arial" pitchFamily="34" charset="-122"/>
                <a:cs typeface="Arial" pitchFamily="34" charset="-120"/>
              </a:rPr>
              <a:t>Best practice 1: upfront planning</a:t>
            </a:r>
            <a:endParaRPr lang="en-US" sz="2800" dirty="0"/>
          </a:p>
        </p:txBody>
      </p:sp>
      <p:sp>
        <p:nvSpPr>
          <p:cNvPr id="4" name="Shape 2"/>
          <p:cNvSpPr/>
          <p:nvPr/>
        </p:nvSpPr>
        <p:spPr>
          <a:xfrm>
            <a:off x="411480" y="6327648"/>
            <a:ext cx="11247120" cy="0"/>
          </a:xfrm>
          <a:prstGeom prst="line">
            <a:avLst/>
          </a:prstGeom>
          <a:noFill/>
          <a:ln w="8890">
            <a:solidFill>
              <a:srgbClr val="B9D8F2"/>
            </a:solidFill>
            <a:prstDash val="solid"/>
          </a:ln>
        </p:spPr>
      </p:sp>
      <p:sp>
        <p:nvSpPr>
          <p:cNvPr id="5" name="Text 3"/>
          <p:cNvSpPr/>
          <p:nvPr/>
        </p:nvSpPr>
        <p:spPr>
          <a:xfrm>
            <a:off x="502920" y="6382512"/>
            <a:ext cx="7132320" cy="201168"/>
          </a:xfrm>
          <a:prstGeom prst="rect">
            <a:avLst/>
          </a:prstGeom>
          <a:noFill/>
          <a:ln/>
        </p:spPr>
        <p:txBody>
          <a:bodyPr wrap="square" lIns="0" tIns="0" rIns="0" bIns="0" rtlCol="0" anchor="ctr"/>
          <a:lstStyle/>
          <a:p>
            <a:pPr marL="0" indent="0">
              <a:buNone/>
            </a:pPr>
            <a:r>
              <a:rPr lang="en-US" sz="850" dirty="0">
                <a:solidFill>
                  <a:srgbClr val="697386"/>
                </a:solidFill>
                <a:latin typeface="Arial" pitchFamily="34" charset="0"/>
                <a:ea typeface="Arial" pitchFamily="34" charset="-122"/>
                <a:cs typeface="Arial" pitchFamily="34" charset="-120"/>
              </a:rPr>
              <a:t>ICT411 Cloud Computing • Unit 1 • Foundations &amp; Context</a:t>
            </a:r>
            <a:endParaRPr lang="en-US" sz="850" dirty="0"/>
          </a:p>
        </p:txBody>
      </p:sp>
      <p:sp>
        <p:nvSpPr>
          <p:cNvPr id="6" name="Text 4"/>
          <p:cNvSpPr/>
          <p:nvPr/>
        </p:nvSpPr>
        <p:spPr>
          <a:xfrm>
            <a:off x="10835640" y="6364224"/>
            <a:ext cx="320040" cy="228600"/>
          </a:xfrm>
          <a:prstGeom prst="rect">
            <a:avLst/>
          </a:prstGeom>
          <a:noFill/>
          <a:ln/>
        </p:spPr>
        <p:txBody>
          <a:bodyPr wrap="square" lIns="0" tIns="0" rIns="0" bIns="0" rtlCol="0" anchor="ctr"/>
          <a:lstStyle/>
          <a:p>
            <a:pPr marL="0" indent="0" algn="r">
              <a:buNone/>
            </a:pPr>
            <a:r>
              <a:rPr lang="en-US" sz="900" b="1" dirty="0">
                <a:solidFill>
                  <a:srgbClr val="697386"/>
                </a:solidFill>
                <a:latin typeface="Arial" pitchFamily="34" charset="0"/>
                <a:ea typeface="Arial" pitchFamily="34" charset="-122"/>
                <a:cs typeface="Arial" pitchFamily="34" charset="-120"/>
              </a:rPr>
              <a:t>33</a:t>
            </a:r>
            <a:endParaRPr lang="en-US" sz="900" dirty="0"/>
          </a:p>
        </p:txBody>
      </p:sp>
      <p:pic>
        <p:nvPicPr>
          <p:cNvPr id="7" name="Image 0" descr="/mnt/data/mulungushi_logo_crop2.png"/>
          <p:cNvPicPr>
            <a:picLocks noChangeAspect="1"/>
          </p:cNvPicPr>
          <p:nvPr/>
        </p:nvPicPr>
        <p:blipFill>
          <a:blip r:embed="rId3"/>
          <a:stretch>
            <a:fillRect/>
          </a:stretch>
        </p:blipFill>
        <p:spPr>
          <a:xfrm>
            <a:off x="11201400" y="6199632"/>
            <a:ext cx="502920" cy="502920"/>
          </a:xfrm>
          <a:prstGeom prst="rect">
            <a:avLst/>
          </a:prstGeom>
        </p:spPr>
      </p:pic>
      <p:sp>
        <p:nvSpPr>
          <p:cNvPr id="8" name="Text 5"/>
          <p:cNvSpPr/>
          <p:nvPr/>
        </p:nvSpPr>
        <p:spPr>
          <a:xfrm>
            <a:off x="685800" y="1115568"/>
            <a:ext cx="10378440" cy="4526280"/>
          </a:xfrm>
          <a:prstGeom prst="rect">
            <a:avLst/>
          </a:prstGeom>
          <a:noFill/>
          <a:ln/>
        </p:spPr>
        <p:txBody>
          <a:bodyPr wrap="square" lIns="635" tIns="635" rIns="635" bIns="635" rtlCol="0" anchor="t">
            <a:normAutofit/>
          </a:bodyPr>
          <a:lstStyle/>
          <a:p>
            <a:pPr marL="0" indent="0">
              <a:lnSpc>
                <a:spcPct val="97000"/>
              </a:lnSpc>
              <a:buNone/>
            </a:pPr>
            <a:r>
              <a:rPr lang="en-US" sz="2010" dirty="0">
                <a:solidFill>
                  <a:srgbClr val="3F4A55"/>
                </a:solidFill>
                <a:latin typeface="Arial" pitchFamily="34" charset="0"/>
                <a:ea typeface="Arial" pitchFamily="34" charset="-122"/>
                <a:cs typeface="Arial" pitchFamily="34" charset="-120"/>
              </a:rPr>
              <a:t>• Before deploying, identify users, workload patterns, data sensitivity, availability needs, performance targets, and budget limits.</a:t>
            </a:r>
            <a:endParaRPr lang="en-US" sz="2010" dirty="0"/>
          </a:p>
          <a:p>
            <a:pPr marL="0" indent="0">
              <a:lnSpc>
                <a:spcPct val="97000"/>
              </a:lnSpc>
              <a:buNone/>
            </a:pPr>
            <a:r>
              <a:rPr lang="en-US" sz="2010" dirty="0">
                <a:solidFill>
                  <a:srgbClr val="3F4A55"/>
                </a:solidFill>
                <a:latin typeface="Arial" pitchFamily="34" charset="0"/>
                <a:ea typeface="Arial" pitchFamily="34" charset="-122"/>
                <a:cs typeface="Arial" pitchFamily="34" charset="-120"/>
              </a:rPr>
              <a:t>• Estimate peak and normal demand so the architecture can scale without uncontrolled spending.</a:t>
            </a:r>
            <a:endParaRPr lang="en-US" sz="2010" dirty="0"/>
          </a:p>
          <a:p>
            <a:pPr marL="0" indent="0">
              <a:lnSpc>
                <a:spcPct val="97000"/>
              </a:lnSpc>
              <a:buNone/>
            </a:pPr>
            <a:r>
              <a:rPr lang="en-US" sz="2010" dirty="0">
                <a:solidFill>
                  <a:srgbClr val="3F4A55"/>
                </a:solidFill>
                <a:latin typeface="Arial" pitchFamily="34" charset="0"/>
                <a:ea typeface="Arial" pitchFamily="34" charset="-122"/>
                <a:cs typeface="Arial" pitchFamily="34" charset="-120"/>
              </a:rPr>
              <a:t>• Plan environments such as development, testing, staging, and production instead of mixing everything together.</a:t>
            </a:r>
            <a:endParaRPr lang="en-US" sz="2010" dirty="0"/>
          </a:p>
          <a:p>
            <a:pPr marL="0" indent="0">
              <a:lnSpc>
                <a:spcPct val="97000"/>
              </a:lnSpc>
              <a:buNone/>
            </a:pPr>
            <a:r>
              <a:rPr lang="en-US" sz="2010" dirty="0">
                <a:solidFill>
                  <a:srgbClr val="3F4A55"/>
                </a:solidFill>
                <a:latin typeface="Arial" pitchFamily="34" charset="0"/>
                <a:ea typeface="Arial" pitchFamily="34" charset="-122"/>
                <a:cs typeface="Arial" pitchFamily="34" charset="-120"/>
              </a:rPr>
              <a:t>• Define ownership: who creates resources, who approves changes, who monitors alerts, and who responds to incidents?</a:t>
            </a:r>
            <a:endParaRPr lang="en-US" sz="2010" dirty="0"/>
          </a:p>
          <a:p>
            <a:pPr marL="0" indent="0">
              <a:lnSpc>
                <a:spcPct val="97000"/>
              </a:lnSpc>
              <a:buNone/>
            </a:pPr>
            <a:r>
              <a:rPr lang="en-US" sz="2010" dirty="0">
                <a:solidFill>
                  <a:srgbClr val="3F4A55"/>
                </a:solidFill>
                <a:latin typeface="Arial" pitchFamily="34" charset="0"/>
                <a:ea typeface="Arial" pitchFamily="34" charset="-122"/>
                <a:cs typeface="Arial" pitchFamily="34" charset="-120"/>
              </a:rPr>
              <a:t>• Planning reduces unexpected production problems and improves communication among technical and management teams.</a:t>
            </a:r>
            <a:endParaRPr lang="en-US" sz="201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4">
    <p:bg>
      <p:bgPr>
        <a:solidFill>
          <a:srgbClr val="F7FBFF"/>
        </a:solidFill>
        <a:effectLst/>
      </p:bgPr>
    </p:bg>
    <p:spTree>
      <p:nvGrpSpPr>
        <p:cNvPr id="1" name=""/>
        <p:cNvGrpSpPr/>
        <p:nvPr/>
      </p:nvGrpSpPr>
      <p:grpSpPr>
        <a:xfrm>
          <a:off x="0" y="0"/>
          <a:ext cx="0" cy="0"/>
          <a:chOff x="0" y="0"/>
          <a:chExt cx="0" cy="0"/>
        </a:xfrm>
      </p:grpSpPr>
      <p:sp>
        <p:nvSpPr>
          <p:cNvPr id="2" name="Text 0"/>
          <p:cNvSpPr/>
          <p:nvPr/>
        </p:nvSpPr>
        <p:spPr>
          <a:xfrm>
            <a:off x="502920" y="182880"/>
            <a:ext cx="2011680" cy="201168"/>
          </a:xfrm>
          <a:prstGeom prst="rect">
            <a:avLst/>
          </a:prstGeom>
          <a:noFill/>
          <a:ln/>
        </p:spPr>
        <p:txBody>
          <a:bodyPr wrap="square" lIns="0" tIns="0" rIns="0" bIns="0" rtlCol="0" anchor="ctr"/>
          <a:lstStyle/>
          <a:p>
            <a:pPr marL="0" indent="0">
              <a:buNone/>
            </a:pPr>
            <a:r>
              <a:rPr lang="en-US" sz="900" b="1" dirty="0">
                <a:solidFill>
                  <a:srgbClr val="1E9E66"/>
                </a:solidFill>
                <a:latin typeface="Arial" pitchFamily="34" charset="0"/>
                <a:ea typeface="Arial" pitchFamily="34" charset="-122"/>
                <a:cs typeface="Arial" pitchFamily="34" charset="-120"/>
              </a:rPr>
              <a:t>LECTURE 1</a:t>
            </a:r>
            <a:endParaRPr lang="en-US" sz="900" dirty="0"/>
          </a:p>
        </p:txBody>
      </p:sp>
      <p:sp>
        <p:nvSpPr>
          <p:cNvPr id="3" name="Text 1"/>
          <p:cNvSpPr/>
          <p:nvPr/>
        </p:nvSpPr>
        <p:spPr>
          <a:xfrm>
            <a:off x="502920" y="438912"/>
            <a:ext cx="10881360" cy="530352"/>
          </a:xfrm>
          <a:prstGeom prst="rect">
            <a:avLst/>
          </a:prstGeom>
          <a:noFill/>
          <a:ln/>
        </p:spPr>
        <p:txBody>
          <a:bodyPr wrap="square" lIns="0" tIns="0" rIns="0" bIns="0" rtlCol="0" anchor="ctr">
            <a:normAutofit/>
          </a:bodyPr>
          <a:lstStyle/>
          <a:p>
            <a:pPr marL="0" indent="0">
              <a:buNone/>
            </a:pPr>
            <a:r>
              <a:rPr lang="en-US" sz="2800" b="1" dirty="0">
                <a:solidFill>
                  <a:srgbClr val="073B73"/>
                </a:solidFill>
                <a:latin typeface="Arial" pitchFamily="34" charset="0"/>
                <a:ea typeface="Arial" pitchFamily="34" charset="-122"/>
                <a:cs typeface="Arial" pitchFamily="34" charset="-120"/>
              </a:rPr>
              <a:t>Best practice 2: security first</a:t>
            </a:r>
            <a:endParaRPr lang="en-US" sz="2800" dirty="0"/>
          </a:p>
        </p:txBody>
      </p:sp>
      <p:sp>
        <p:nvSpPr>
          <p:cNvPr id="4" name="Shape 2"/>
          <p:cNvSpPr/>
          <p:nvPr/>
        </p:nvSpPr>
        <p:spPr>
          <a:xfrm>
            <a:off x="411480" y="6327648"/>
            <a:ext cx="11247120" cy="0"/>
          </a:xfrm>
          <a:prstGeom prst="line">
            <a:avLst/>
          </a:prstGeom>
          <a:noFill/>
          <a:ln w="8890">
            <a:solidFill>
              <a:srgbClr val="B9D8F2"/>
            </a:solidFill>
            <a:prstDash val="solid"/>
          </a:ln>
        </p:spPr>
      </p:sp>
      <p:sp>
        <p:nvSpPr>
          <p:cNvPr id="5" name="Text 3"/>
          <p:cNvSpPr/>
          <p:nvPr/>
        </p:nvSpPr>
        <p:spPr>
          <a:xfrm>
            <a:off x="502920" y="6382512"/>
            <a:ext cx="7132320" cy="201168"/>
          </a:xfrm>
          <a:prstGeom prst="rect">
            <a:avLst/>
          </a:prstGeom>
          <a:noFill/>
          <a:ln/>
        </p:spPr>
        <p:txBody>
          <a:bodyPr wrap="square" lIns="0" tIns="0" rIns="0" bIns="0" rtlCol="0" anchor="ctr"/>
          <a:lstStyle/>
          <a:p>
            <a:pPr marL="0" indent="0">
              <a:buNone/>
            </a:pPr>
            <a:r>
              <a:rPr lang="en-US" sz="850" dirty="0">
                <a:solidFill>
                  <a:srgbClr val="697386"/>
                </a:solidFill>
                <a:latin typeface="Arial" pitchFamily="34" charset="0"/>
                <a:ea typeface="Arial" pitchFamily="34" charset="-122"/>
                <a:cs typeface="Arial" pitchFamily="34" charset="-120"/>
              </a:rPr>
              <a:t>ICT411 Cloud Computing • Unit 1 • Foundations &amp; Context</a:t>
            </a:r>
            <a:endParaRPr lang="en-US" sz="850" dirty="0"/>
          </a:p>
        </p:txBody>
      </p:sp>
      <p:sp>
        <p:nvSpPr>
          <p:cNvPr id="6" name="Text 4"/>
          <p:cNvSpPr/>
          <p:nvPr/>
        </p:nvSpPr>
        <p:spPr>
          <a:xfrm>
            <a:off x="10835640" y="6364224"/>
            <a:ext cx="320040" cy="228600"/>
          </a:xfrm>
          <a:prstGeom prst="rect">
            <a:avLst/>
          </a:prstGeom>
          <a:noFill/>
          <a:ln/>
        </p:spPr>
        <p:txBody>
          <a:bodyPr wrap="square" lIns="0" tIns="0" rIns="0" bIns="0" rtlCol="0" anchor="ctr"/>
          <a:lstStyle/>
          <a:p>
            <a:pPr marL="0" indent="0" algn="r">
              <a:buNone/>
            </a:pPr>
            <a:r>
              <a:rPr lang="en-US" sz="900" b="1" dirty="0">
                <a:solidFill>
                  <a:srgbClr val="697386"/>
                </a:solidFill>
                <a:latin typeface="Arial" pitchFamily="34" charset="0"/>
                <a:ea typeface="Arial" pitchFamily="34" charset="-122"/>
                <a:cs typeface="Arial" pitchFamily="34" charset="-120"/>
              </a:rPr>
              <a:t>34</a:t>
            </a:r>
            <a:endParaRPr lang="en-US" sz="900" dirty="0"/>
          </a:p>
        </p:txBody>
      </p:sp>
      <p:pic>
        <p:nvPicPr>
          <p:cNvPr id="7" name="Image 0" descr="/mnt/data/mulungushi_logo_crop2.png"/>
          <p:cNvPicPr>
            <a:picLocks noChangeAspect="1"/>
          </p:cNvPicPr>
          <p:nvPr/>
        </p:nvPicPr>
        <p:blipFill>
          <a:blip r:embed="rId3"/>
          <a:stretch>
            <a:fillRect/>
          </a:stretch>
        </p:blipFill>
        <p:spPr>
          <a:xfrm>
            <a:off x="11201400" y="6199632"/>
            <a:ext cx="502920" cy="502920"/>
          </a:xfrm>
          <a:prstGeom prst="rect">
            <a:avLst/>
          </a:prstGeom>
        </p:spPr>
      </p:pic>
      <p:pic>
        <p:nvPicPr>
          <p:cNvPr id="8" name="Image 1" descr="/mnt/data/cloud_security_shared_responsibility_infographic.png"/>
          <p:cNvPicPr>
            <a:picLocks noChangeAspect="1"/>
          </p:cNvPicPr>
          <p:nvPr/>
        </p:nvPicPr>
        <p:blipFill>
          <a:blip r:embed="rId4"/>
          <a:srcRect t="6000" r="-3486" b="8000"/>
          <a:stretch/>
        </p:blipFill>
        <p:spPr>
          <a:xfrm>
            <a:off x="502920" y="1005840"/>
            <a:ext cx="11183112" cy="5230368"/>
          </a:xfrm>
          <a:prstGeom prst="rect">
            <a:avLst/>
          </a:prstGeom>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5">
    <p:bg>
      <p:bgPr>
        <a:solidFill>
          <a:srgbClr val="F7FBFF"/>
        </a:solidFill>
        <a:effectLst/>
      </p:bgPr>
    </p:bg>
    <p:spTree>
      <p:nvGrpSpPr>
        <p:cNvPr id="1" name=""/>
        <p:cNvGrpSpPr/>
        <p:nvPr/>
      </p:nvGrpSpPr>
      <p:grpSpPr>
        <a:xfrm>
          <a:off x="0" y="0"/>
          <a:ext cx="0" cy="0"/>
          <a:chOff x="0" y="0"/>
          <a:chExt cx="0" cy="0"/>
        </a:xfrm>
      </p:grpSpPr>
      <p:sp>
        <p:nvSpPr>
          <p:cNvPr id="2" name="Text 0"/>
          <p:cNvSpPr/>
          <p:nvPr/>
        </p:nvSpPr>
        <p:spPr>
          <a:xfrm>
            <a:off x="502920" y="182880"/>
            <a:ext cx="2011680" cy="201168"/>
          </a:xfrm>
          <a:prstGeom prst="rect">
            <a:avLst/>
          </a:prstGeom>
          <a:noFill/>
          <a:ln/>
        </p:spPr>
        <p:txBody>
          <a:bodyPr wrap="square" lIns="0" tIns="0" rIns="0" bIns="0" rtlCol="0" anchor="ctr"/>
          <a:lstStyle/>
          <a:p>
            <a:pPr marL="0" indent="0">
              <a:buNone/>
            </a:pPr>
            <a:r>
              <a:rPr lang="en-US" sz="900" b="1" dirty="0">
                <a:solidFill>
                  <a:srgbClr val="1E9E66"/>
                </a:solidFill>
                <a:latin typeface="Arial" pitchFamily="34" charset="0"/>
                <a:ea typeface="Arial" pitchFamily="34" charset="-122"/>
                <a:cs typeface="Arial" pitchFamily="34" charset="-120"/>
              </a:rPr>
              <a:t>LECTURE 1</a:t>
            </a:r>
            <a:endParaRPr lang="en-US" sz="900" dirty="0"/>
          </a:p>
        </p:txBody>
      </p:sp>
      <p:sp>
        <p:nvSpPr>
          <p:cNvPr id="3" name="Text 1"/>
          <p:cNvSpPr/>
          <p:nvPr/>
        </p:nvSpPr>
        <p:spPr>
          <a:xfrm>
            <a:off x="502920" y="438912"/>
            <a:ext cx="10881360" cy="530352"/>
          </a:xfrm>
          <a:prstGeom prst="rect">
            <a:avLst/>
          </a:prstGeom>
          <a:noFill/>
          <a:ln/>
        </p:spPr>
        <p:txBody>
          <a:bodyPr wrap="square" lIns="0" tIns="0" rIns="0" bIns="0" rtlCol="0" anchor="ctr">
            <a:normAutofit/>
          </a:bodyPr>
          <a:lstStyle/>
          <a:p>
            <a:pPr marL="0" indent="0">
              <a:buNone/>
            </a:pPr>
            <a:r>
              <a:rPr lang="en-US" sz="2800" b="1" dirty="0">
                <a:solidFill>
                  <a:srgbClr val="073B73"/>
                </a:solidFill>
                <a:latin typeface="Arial" pitchFamily="34" charset="0"/>
                <a:ea typeface="Arial" pitchFamily="34" charset="-122"/>
                <a:cs typeface="Arial" pitchFamily="34" charset="-120"/>
              </a:rPr>
              <a:t>Best practice 3: disaster recovery readiness</a:t>
            </a:r>
            <a:endParaRPr lang="en-US" sz="2800" dirty="0"/>
          </a:p>
        </p:txBody>
      </p:sp>
      <p:sp>
        <p:nvSpPr>
          <p:cNvPr id="4" name="Shape 2"/>
          <p:cNvSpPr/>
          <p:nvPr/>
        </p:nvSpPr>
        <p:spPr>
          <a:xfrm>
            <a:off x="411480" y="6327648"/>
            <a:ext cx="11247120" cy="0"/>
          </a:xfrm>
          <a:prstGeom prst="line">
            <a:avLst/>
          </a:prstGeom>
          <a:noFill/>
          <a:ln w="8890">
            <a:solidFill>
              <a:srgbClr val="B9D8F2"/>
            </a:solidFill>
            <a:prstDash val="solid"/>
          </a:ln>
        </p:spPr>
      </p:sp>
      <p:sp>
        <p:nvSpPr>
          <p:cNvPr id="5" name="Text 3"/>
          <p:cNvSpPr/>
          <p:nvPr/>
        </p:nvSpPr>
        <p:spPr>
          <a:xfrm>
            <a:off x="502920" y="6382512"/>
            <a:ext cx="7132320" cy="201168"/>
          </a:xfrm>
          <a:prstGeom prst="rect">
            <a:avLst/>
          </a:prstGeom>
          <a:noFill/>
          <a:ln/>
        </p:spPr>
        <p:txBody>
          <a:bodyPr wrap="square" lIns="0" tIns="0" rIns="0" bIns="0" rtlCol="0" anchor="ctr"/>
          <a:lstStyle/>
          <a:p>
            <a:pPr marL="0" indent="0">
              <a:buNone/>
            </a:pPr>
            <a:r>
              <a:rPr lang="en-US" sz="850" dirty="0">
                <a:solidFill>
                  <a:srgbClr val="697386"/>
                </a:solidFill>
                <a:latin typeface="Arial" pitchFamily="34" charset="0"/>
                <a:ea typeface="Arial" pitchFamily="34" charset="-122"/>
                <a:cs typeface="Arial" pitchFamily="34" charset="-120"/>
              </a:rPr>
              <a:t>ICT411 Cloud Computing • Unit 1 • Foundations &amp; Context</a:t>
            </a:r>
            <a:endParaRPr lang="en-US" sz="850" dirty="0"/>
          </a:p>
        </p:txBody>
      </p:sp>
      <p:sp>
        <p:nvSpPr>
          <p:cNvPr id="6" name="Text 4"/>
          <p:cNvSpPr/>
          <p:nvPr/>
        </p:nvSpPr>
        <p:spPr>
          <a:xfrm>
            <a:off x="10835640" y="6364224"/>
            <a:ext cx="320040" cy="228600"/>
          </a:xfrm>
          <a:prstGeom prst="rect">
            <a:avLst/>
          </a:prstGeom>
          <a:noFill/>
          <a:ln/>
        </p:spPr>
        <p:txBody>
          <a:bodyPr wrap="square" lIns="0" tIns="0" rIns="0" bIns="0" rtlCol="0" anchor="ctr"/>
          <a:lstStyle/>
          <a:p>
            <a:pPr marL="0" indent="0" algn="r">
              <a:buNone/>
            </a:pPr>
            <a:r>
              <a:rPr lang="en-US" sz="900" b="1" dirty="0">
                <a:solidFill>
                  <a:srgbClr val="697386"/>
                </a:solidFill>
                <a:latin typeface="Arial" pitchFamily="34" charset="0"/>
                <a:ea typeface="Arial" pitchFamily="34" charset="-122"/>
                <a:cs typeface="Arial" pitchFamily="34" charset="-120"/>
              </a:rPr>
              <a:t>35</a:t>
            </a:r>
            <a:endParaRPr lang="en-US" sz="900" dirty="0"/>
          </a:p>
        </p:txBody>
      </p:sp>
      <p:pic>
        <p:nvPicPr>
          <p:cNvPr id="7" name="Image 0" descr="/mnt/data/mulungushi_logo_crop2.png"/>
          <p:cNvPicPr>
            <a:picLocks noChangeAspect="1"/>
          </p:cNvPicPr>
          <p:nvPr/>
        </p:nvPicPr>
        <p:blipFill>
          <a:blip r:embed="rId3"/>
          <a:stretch>
            <a:fillRect/>
          </a:stretch>
        </p:blipFill>
        <p:spPr>
          <a:xfrm>
            <a:off x="11201400" y="6199632"/>
            <a:ext cx="502920" cy="502920"/>
          </a:xfrm>
          <a:prstGeom prst="rect">
            <a:avLst/>
          </a:prstGeom>
        </p:spPr>
      </p:pic>
      <p:sp>
        <p:nvSpPr>
          <p:cNvPr id="8" name="Text 5"/>
          <p:cNvSpPr/>
          <p:nvPr/>
        </p:nvSpPr>
        <p:spPr>
          <a:xfrm>
            <a:off x="685800" y="1115568"/>
            <a:ext cx="6949440" cy="4526280"/>
          </a:xfrm>
          <a:prstGeom prst="rect">
            <a:avLst/>
          </a:prstGeom>
          <a:noFill/>
          <a:ln/>
        </p:spPr>
        <p:txBody>
          <a:bodyPr wrap="square" lIns="635" tIns="635" rIns="635" bIns="635" rtlCol="0" anchor="t">
            <a:normAutofit/>
          </a:bodyPr>
          <a:lstStyle/>
          <a:p>
            <a:pPr marL="0" indent="0">
              <a:lnSpc>
                <a:spcPct val="97000"/>
              </a:lnSpc>
              <a:buNone/>
            </a:pPr>
            <a:r>
              <a:rPr lang="en-US" sz="2010" dirty="0">
                <a:solidFill>
                  <a:srgbClr val="3F4A55"/>
                </a:solidFill>
                <a:latin typeface="Arial" pitchFamily="34" charset="0"/>
                <a:ea typeface="Arial" pitchFamily="34" charset="-122"/>
                <a:cs typeface="Arial" pitchFamily="34" charset="-120"/>
              </a:rPr>
              <a:t>• Disaster recovery is the ability to restore service after a major disruption.</a:t>
            </a:r>
            <a:endParaRPr lang="en-US" sz="2010" dirty="0"/>
          </a:p>
          <a:p>
            <a:pPr marL="0" indent="0">
              <a:lnSpc>
                <a:spcPct val="97000"/>
              </a:lnSpc>
              <a:buNone/>
            </a:pPr>
            <a:r>
              <a:rPr lang="en-US" sz="2010" dirty="0">
                <a:solidFill>
                  <a:srgbClr val="3F4A55"/>
                </a:solidFill>
                <a:latin typeface="Arial" pitchFamily="34" charset="0"/>
                <a:ea typeface="Arial" pitchFamily="34" charset="-122"/>
                <a:cs typeface="Arial" pitchFamily="34" charset="-120"/>
              </a:rPr>
              <a:t>• Backups must be automated, protected, tested, and stored in a way that supports recovery.</a:t>
            </a:r>
            <a:endParaRPr lang="en-US" sz="2010" dirty="0"/>
          </a:p>
          <a:p>
            <a:pPr marL="0" indent="0">
              <a:lnSpc>
                <a:spcPct val="97000"/>
              </a:lnSpc>
              <a:buNone/>
            </a:pPr>
            <a:r>
              <a:rPr lang="en-US" sz="2010" dirty="0">
                <a:solidFill>
                  <a:srgbClr val="3F4A55"/>
                </a:solidFill>
                <a:latin typeface="Arial" pitchFamily="34" charset="0"/>
                <a:ea typeface="Arial" pitchFamily="34" charset="-122"/>
                <a:cs typeface="Arial" pitchFamily="34" charset="-120"/>
              </a:rPr>
              <a:t>• Recovery Time Objective asks how quickly service must be restored.</a:t>
            </a:r>
            <a:endParaRPr lang="en-US" sz="2010" dirty="0"/>
          </a:p>
          <a:p>
            <a:pPr marL="0" indent="0">
              <a:lnSpc>
                <a:spcPct val="97000"/>
              </a:lnSpc>
              <a:buNone/>
            </a:pPr>
            <a:r>
              <a:rPr lang="en-US" sz="2010" dirty="0">
                <a:solidFill>
                  <a:srgbClr val="3F4A55"/>
                </a:solidFill>
                <a:latin typeface="Arial" pitchFamily="34" charset="0"/>
                <a:ea typeface="Arial" pitchFamily="34" charset="-122"/>
                <a:cs typeface="Arial" pitchFamily="34" charset="-120"/>
              </a:rPr>
              <a:t>• Recovery Point Objective asks how much data loss is acceptable.</a:t>
            </a:r>
            <a:endParaRPr lang="en-US" sz="2010" dirty="0"/>
          </a:p>
          <a:p>
            <a:pPr marL="0" indent="0">
              <a:lnSpc>
                <a:spcPct val="97000"/>
              </a:lnSpc>
              <a:buNone/>
            </a:pPr>
            <a:r>
              <a:rPr lang="en-US" sz="2010" dirty="0">
                <a:solidFill>
                  <a:srgbClr val="3F4A55"/>
                </a:solidFill>
                <a:latin typeface="Arial" pitchFamily="34" charset="0"/>
                <a:ea typeface="Arial" pitchFamily="34" charset="-122"/>
                <a:cs typeface="Arial" pitchFamily="34" charset="-120"/>
              </a:rPr>
              <a:t>• Plans should include people, communication, technical steps, supplier contacts, and evidence from recovery tests.</a:t>
            </a:r>
            <a:endParaRPr lang="en-US" sz="2010" dirty="0"/>
          </a:p>
        </p:txBody>
      </p:sp>
      <p:sp>
        <p:nvSpPr>
          <p:cNvPr id="9" name="Text 6"/>
          <p:cNvSpPr/>
          <p:nvPr/>
        </p:nvSpPr>
        <p:spPr>
          <a:xfrm>
            <a:off x="7955280" y="1554480"/>
            <a:ext cx="2834640" cy="1097280"/>
          </a:xfrm>
          <a:prstGeom prst="rect">
            <a:avLst/>
          </a:prstGeom>
          <a:solidFill>
            <a:srgbClr val="EAF5FF"/>
          </a:solidFill>
          <a:ln w="12700">
            <a:solidFill>
              <a:srgbClr val="B9D8F2"/>
            </a:solidFill>
          </a:ln>
        </p:spPr>
        <p:txBody>
          <a:bodyPr wrap="square" lIns="1397" tIns="1397" rIns="1397" bIns="1397" rtlCol="0" anchor="ctr">
            <a:normAutofit/>
          </a:bodyPr>
          <a:lstStyle/>
          <a:p>
            <a:pPr marL="0" indent="0" algn="ctr">
              <a:buNone/>
            </a:pPr>
            <a:r>
              <a:rPr lang="en-US" sz="2000" b="1" dirty="0">
                <a:solidFill>
                  <a:srgbClr val="073B73"/>
                </a:solidFill>
                <a:latin typeface="Arial" pitchFamily="34" charset="0"/>
                <a:ea typeface="Arial" pitchFamily="34" charset="-122"/>
                <a:cs typeface="Arial" pitchFamily="34" charset="-120"/>
              </a:rPr>
              <a:t>RTO</a:t>
            </a:r>
            <a:endParaRPr lang="en-US" sz="2000" dirty="0"/>
          </a:p>
          <a:p>
            <a:pPr marL="0" indent="0" algn="ctr">
              <a:buNone/>
            </a:pPr>
            <a:r>
              <a:rPr lang="en-US" sz="2000" b="1" dirty="0">
                <a:solidFill>
                  <a:srgbClr val="073B73"/>
                </a:solidFill>
                <a:latin typeface="Arial" pitchFamily="34" charset="0"/>
                <a:ea typeface="Arial" pitchFamily="34" charset="-122"/>
                <a:cs typeface="Arial" pitchFamily="34" charset="-120"/>
              </a:rPr>
              <a:t>How long can we be down?</a:t>
            </a:r>
            <a:endParaRPr lang="en-US" sz="2000" dirty="0"/>
          </a:p>
        </p:txBody>
      </p:sp>
      <p:sp>
        <p:nvSpPr>
          <p:cNvPr id="10" name="Text 7"/>
          <p:cNvSpPr/>
          <p:nvPr/>
        </p:nvSpPr>
        <p:spPr>
          <a:xfrm>
            <a:off x="7955280" y="2971800"/>
            <a:ext cx="2834640" cy="1097280"/>
          </a:xfrm>
          <a:prstGeom prst="rect">
            <a:avLst/>
          </a:prstGeom>
          <a:solidFill>
            <a:srgbClr val="EAF5FF"/>
          </a:solidFill>
          <a:ln w="12700">
            <a:solidFill>
              <a:srgbClr val="B9D8F2"/>
            </a:solidFill>
          </a:ln>
        </p:spPr>
        <p:txBody>
          <a:bodyPr wrap="square" lIns="1397" tIns="1397" rIns="1397" bIns="1397" rtlCol="0" anchor="ctr">
            <a:normAutofit/>
          </a:bodyPr>
          <a:lstStyle/>
          <a:p>
            <a:pPr marL="0" indent="0" algn="ctr">
              <a:buNone/>
            </a:pPr>
            <a:r>
              <a:rPr lang="en-US" sz="2000" b="1" dirty="0">
                <a:solidFill>
                  <a:srgbClr val="073B73"/>
                </a:solidFill>
                <a:latin typeface="Arial" pitchFamily="34" charset="0"/>
                <a:ea typeface="Arial" pitchFamily="34" charset="-122"/>
                <a:cs typeface="Arial" pitchFamily="34" charset="-120"/>
              </a:rPr>
              <a:t>RPO</a:t>
            </a:r>
            <a:endParaRPr lang="en-US" sz="2000" dirty="0"/>
          </a:p>
          <a:p>
            <a:pPr marL="0" indent="0" algn="ctr">
              <a:buNone/>
            </a:pPr>
            <a:r>
              <a:rPr lang="en-US" sz="2000" b="1" dirty="0">
                <a:solidFill>
                  <a:srgbClr val="073B73"/>
                </a:solidFill>
                <a:latin typeface="Arial" pitchFamily="34" charset="0"/>
                <a:ea typeface="Arial" pitchFamily="34" charset="-122"/>
                <a:cs typeface="Arial" pitchFamily="34" charset="-120"/>
              </a:rPr>
              <a:t>How much data can we lose?</a:t>
            </a:r>
            <a:endParaRPr lang="en-US" sz="2000" dirty="0"/>
          </a:p>
        </p:txBody>
      </p:sp>
      <p:sp>
        <p:nvSpPr>
          <p:cNvPr id="11" name="Text 8"/>
          <p:cNvSpPr/>
          <p:nvPr/>
        </p:nvSpPr>
        <p:spPr>
          <a:xfrm>
            <a:off x="7955280" y="4389120"/>
            <a:ext cx="2834640" cy="731520"/>
          </a:xfrm>
          <a:prstGeom prst="rect">
            <a:avLst/>
          </a:prstGeom>
          <a:solidFill>
            <a:srgbClr val="FCEFEA"/>
          </a:solidFill>
          <a:ln w="12700">
            <a:solidFill>
              <a:srgbClr val="B9D8F2"/>
            </a:solidFill>
          </a:ln>
        </p:spPr>
        <p:txBody>
          <a:bodyPr wrap="square" lIns="1397" tIns="1397" rIns="1397" bIns="1397" rtlCol="0" anchor="ctr">
            <a:normAutofit/>
          </a:bodyPr>
          <a:lstStyle/>
          <a:p>
            <a:pPr marL="0" indent="0" algn="ctr">
              <a:buNone/>
            </a:pPr>
            <a:r>
              <a:rPr lang="en-US" sz="1800" b="1" dirty="0">
                <a:solidFill>
                  <a:srgbClr val="B34328"/>
                </a:solidFill>
                <a:latin typeface="Arial" pitchFamily="34" charset="0"/>
                <a:ea typeface="Arial" pitchFamily="34" charset="-122"/>
                <a:cs typeface="Arial" pitchFamily="34" charset="-120"/>
              </a:rPr>
              <a:t>Untested backup = uncertain recovery</a:t>
            </a:r>
            <a:endParaRPr lang="en-US" sz="1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6">
    <p:bg>
      <p:bgPr>
        <a:solidFill>
          <a:srgbClr val="F7FBFF"/>
        </a:solidFill>
        <a:effectLst/>
      </p:bgPr>
    </p:bg>
    <p:spTree>
      <p:nvGrpSpPr>
        <p:cNvPr id="1" name=""/>
        <p:cNvGrpSpPr/>
        <p:nvPr/>
      </p:nvGrpSpPr>
      <p:grpSpPr>
        <a:xfrm>
          <a:off x="0" y="0"/>
          <a:ext cx="0" cy="0"/>
          <a:chOff x="0" y="0"/>
          <a:chExt cx="0" cy="0"/>
        </a:xfrm>
      </p:grpSpPr>
      <p:sp>
        <p:nvSpPr>
          <p:cNvPr id="2" name="Text 0"/>
          <p:cNvSpPr/>
          <p:nvPr/>
        </p:nvSpPr>
        <p:spPr>
          <a:xfrm>
            <a:off x="502920" y="182880"/>
            <a:ext cx="2011680" cy="201168"/>
          </a:xfrm>
          <a:prstGeom prst="rect">
            <a:avLst/>
          </a:prstGeom>
          <a:noFill/>
          <a:ln/>
        </p:spPr>
        <p:txBody>
          <a:bodyPr wrap="square" lIns="0" tIns="0" rIns="0" bIns="0" rtlCol="0" anchor="ctr"/>
          <a:lstStyle/>
          <a:p>
            <a:pPr marL="0" indent="0">
              <a:buNone/>
            </a:pPr>
            <a:r>
              <a:rPr lang="en-US" sz="900" b="1" dirty="0">
                <a:solidFill>
                  <a:srgbClr val="1E9E66"/>
                </a:solidFill>
                <a:latin typeface="Arial" pitchFamily="34" charset="0"/>
                <a:ea typeface="Arial" pitchFamily="34" charset="-122"/>
                <a:cs typeface="Arial" pitchFamily="34" charset="-120"/>
              </a:rPr>
              <a:t>LECTURE 1</a:t>
            </a:r>
            <a:endParaRPr lang="en-US" sz="900" dirty="0"/>
          </a:p>
        </p:txBody>
      </p:sp>
      <p:sp>
        <p:nvSpPr>
          <p:cNvPr id="3" name="Text 1"/>
          <p:cNvSpPr/>
          <p:nvPr/>
        </p:nvSpPr>
        <p:spPr>
          <a:xfrm>
            <a:off x="502920" y="438912"/>
            <a:ext cx="10881360" cy="530352"/>
          </a:xfrm>
          <a:prstGeom prst="rect">
            <a:avLst/>
          </a:prstGeom>
          <a:noFill/>
          <a:ln/>
        </p:spPr>
        <p:txBody>
          <a:bodyPr wrap="square" lIns="0" tIns="0" rIns="0" bIns="0" rtlCol="0" anchor="ctr">
            <a:normAutofit/>
          </a:bodyPr>
          <a:lstStyle/>
          <a:p>
            <a:pPr marL="0" indent="0">
              <a:buNone/>
            </a:pPr>
            <a:r>
              <a:rPr lang="en-US" sz="2800" b="1" dirty="0">
                <a:solidFill>
                  <a:srgbClr val="073B73"/>
                </a:solidFill>
                <a:latin typeface="Arial" pitchFamily="34" charset="0"/>
                <a:ea typeface="Arial" pitchFamily="34" charset="-122"/>
                <a:cs typeface="Arial" pitchFamily="34" charset="-120"/>
              </a:rPr>
              <a:t>Best practice 4: performance and cost optimization</a:t>
            </a:r>
            <a:endParaRPr lang="en-US" sz="2800" dirty="0"/>
          </a:p>
        </p:txBody>
      </p:sp>
      <p:sp>
        <p:nvSpPr>
          <p:cNvPr id="4" name="Shape 2"/>
          <p:cNvSpPr/>
          <p:nvPr/>
        </p:nvSpPr>
        <p:spPr>
          <a:xfrm>
            <a:off x="411480" y="6327648"/>
            <a:ext cx="11247120" cy="0"/>
          </a:xfrm>
          <a:prstGeom prst="line">
            <a:avLst/>
          </a:prstGeom>
          <a:noFill/>
          <a:ln w="8890">
            <a:solidFill>
              <a:srgbClr val="B9D8F2"/>
            </a:solidFill>
            <a:prstDash val="solid"/>
          </a:ln>
        </p:spPr>
      </p:sp>
      <p:sp>
        <p:nvSpPr>
          <p:cNvPr id="5" name="Text 3"/>
          <p:cNvSpPr/>
          <p:nvPr/>
        </p:nvSpPr>
        <p:spPr>
          <a:xfrm>
            <a:off x="502920" y="6382512"/>
            <a:ext cx="7132320" cy="201168"/>
          </a:xfrm>
          <a:prstGeom prst="rect">
            <a:avLst/>
          </a:prstGeom>
          <a:noFill/>
          <a:ln/>
        </p:spPr>
        <p:txBody>
          <a:bodyPr wrap="square" lIns="0" tIns="0" rIns="0" bIns="0" rtlCol="0" anchor="ctr"/>
          <a:lstStyle/>
          <a:p>
            <a:pPr marL="0" indent="0">
              <a:buNone/>
            </a:pPr>
            <a:r>
              <a:rPr lang="en-US" sz="850" dirty="0">
                <a:solidFill>
                  <a:srgbClr val="697386"/>
                </a:solidFill>
                <a:latin typeface="Arial" pitchFamily="34" charset="0"/>
                <a:ea typeface="Arial" pitchFamily="34" charset="-122"/>
                <a:cs typeface="Arial" pitchFamily="34" charset="-120"/>
              </a:rPr>
              <a:t>ICT411 Cloud Computing • Unit 1 • Foundations &amp; Context</a:t>
            </a:r>
            <a:endParaRPr lang="en-US" sz="850" dirty="0"/>
          </a:p>
        </p:txBody>
      </p:sp>
      <p:sp>
        <p:nvSpPr>
          <p:cNvPr id="6" name="Text 4"/>
          <p:cNvSpPr/>
          <p:nvPr/>
        </p:nvSpPr>
        <p:spPr>
          <a:xfrm>
            <a:off x="10835640" y="6364224"/>
            <a:ext cx="320040" cy="228600"/>
          </a:xfrm>
          <a:prstGeom prst="rect">
            <a:avLst/>
          </a:prstGeom>
          <a:noFill/>
          <a:ln/>
        </p:spPr>
        <p:txBody>
          <a:bodyPr wrap="square" lIns="0" tIns="0" rIns="0" bIns="0" rtlCol="0" anchor="ctr"/>
          <a:lstStyle/>
          <a:p>
            <a:pPr marL="0" indent="0" algn="r">
              <a:buNone/>
            </a:pPr>
            <a:r>
              <a:rPr lang="en-US" sz="900" b="1" dirty="0">
                <a:solidFill>
                  <a:srgbClr val="697386"/>
                </a:solidFill>
                <a:latin typeface="Arial" pitchFamily="34" charset="0"/>
                <a:ea typeface="Arial" pitchFamily="34" charset="-122"/>
                <a:cs typeface="Arial" pitchFamily="34" charset="-120"/>
              </a:rPr>
              <a:t>36</a:t>
            </a:r>
            <a:endParaRPr lang="en-US" sz="900" dirty="0"/>
          </a:p>
        </p:txBody>
      </p:sp>
      <p:pic>
        <p:nvPicPr>
          <p:cNvPr id="7" name="Image 0" descr="/mnt/data/mulungushi_logo_crop2.png"/>
          <p:cNvPicPr>
            <a:picLocks noChangeAspect="1"/>
          </p:cNvPicPr>
          <p:nvPr/>
        </p:nvPicPr>
        <p:blipFill>
          <a:blip r:embed="rId3"/>
          <a:stretch>
            <a:fillRect/>
          </a:stretch>
        </p:blipFill>
        <p:spPr>
          <a:xfrm>
            <a:off x="11201400" y="6199632"/>
            <a:ext cx="502920" cy="502920"/>
          </a:xfrm>
          <a:prstGeom prst="rect">
            <a:avLst/>
          </a:prstGeom>
        </p:spPr>
      </p:pic>
      <p:sp>
        <p:nvSpPr>
          <p:cNvPr id="8" name="Text 5"/>
          <p:cNvSpPr/>
          <p:nvPr/>
        </p:nvSpPr>
        <p:spPr>
          <a:xfrm>
            <a:off x="685800" y="1115568"/>
            <a:ext cx="10378440" cy="4526280"/>
          </a:xfrm>
          <a:prstGeom prst="rect">
            <a:avLst/>
          </a:prstGeom>
          <a:noFill/>
          <a:ln/>
        </p:spPr>
        <p:txBody>
          <a:bodyPr wrap="square" lIns="635" tIns="635" rIns="635" bIns="635" rtlCol="0" anchor="t">
            <a:normAutofit/>
          </a:bodyPr>
          <a:lstStyle/>
          <a:p>
            <a:pPr marL="0" indent="0">
              <a:lnSpc>
                <a:spcPct val="97000"/>
              </a:lnSpc>
              <a:buNone/>
            </a:pPr>
            <a:r>
              <a:rPr lang="en-US" sz="2010" dirty="0">
                <a:solidFill>
                  <a:srgbClr val="3F4A55"/>
                </a:solidFill>
                <a:latin typeface="Arial" pitchFamily="34" charset="0"/>
                <a:ea typeface="Arial" pitchFamily="34" charset="-122"/>
                <a:cs typeface="Arial" pitchFamily="34" charset="-120"/>
              </a:rPr>
              <a:t>• Performance optimization uses monitoring data to find slow services, overloaded resources, poor database queries, and network delays.</a:t>
            </a:r>
            <a:endParaRPr lang="en-US" sz="2010" dirty="0"/>
          </a:p>
          <a:p>
            <a:pPr marL="0" indent="0">
              <a:lnSpc>
                <a:spcPct val="97000"/>
              </a:lnSpc>
              <a:buNone/>
            </a:pPr>
            <a:r>
              <a:rPr lang="en-US" sz="2010" dirty="0">
                <a:solidFill>
                  <a:srgbClr val="3F4A55"/>
                </a:solidFill>
                <a:latin typeface="Arial" pitchFamily="34" charset="0"/>
                <a:ea typeface="Arial" pitchFamily="34" charset="-122"/>
                <a:cs typeface="Arial" pitchFamily="34" charset="-120"/>
              </a:rPr>
              <a:t>• Cost optimization removes waste through rightsizing, scheduling, storage lifecycle rules, tagging, and budget alerts.</a:t>
            </a:r>
            <a:endParaRPr lang="en-US" sz="2010" dirty="0"/>
          </a:p>
          <a:p>
            <a:pPr marL="0" indent="0">
              <a:lnSpc>
                <a:spcPct val="97000"/>
              </a:lnSpc>
              <a:buNone/>
            </a:pPr>
            <a:r>
              <a:rPr lang="en-US" sz="2010" dirty="0">
                <a:solidFill>
                  <a:srgbClr val="3F4A55"/>
                </a:solidFill>
                <a:latin typeface="Arial" pitchFamily="34" charset="0"/>
                <a:ea typeface="Arial" pitchFamily="34" charset="-122"/>
                <a:cs typeface="Arial" pitchFamily="34" charset="-120"/>
              </a:rPr>
              <a:t>• Cloud teams must review resources regularly because unused systems continue consuming money.</a:t>
            </a:r>
            <a:endParaRPr lang="en-US" sz="2010" dirty="0"/>
          </a:p>
          <a:p>
            <a:pPr marL="0" indent="0">
              <a:lnSpc>
                <a:spcPct val="97000"/>
              </a:lnSpc>
              <a:buNone/>
            </a:pPr>
            <a:r>
              <a:rPr lang="en-US" sz="2010" dirty="0">
                <a:solidFill>
                  <a:srgbClr val="3F4A55"/>
                </a:solidFill>
                <a:latin typeface="Arial" pitchFamily="34" charset="0"/>
                <a:ea typeface="Arial" pitchFamily="34" charset="-122"/>
                <a:cs typeface="Arial" pitchFamily="34" charset="-120"/>
              </a:rPr>
              <a:t>• Performance and cost must be balanced: the cheapest design may be slow, while the fastest design may be too expensive.</a:t>
            </a:r>
            <a:endParaRPr lang="en-US" sz="2010" dirty="0"/>
          </a:p>
          <a:p>
            <a:pPr marL="0" indent="0">
              <a:lnSpc>
                <a:spcPct val="97000"/>
              </a:lnSpc>
              <a:buNone/>
            </a:pPr>
            <a:r>
              <a:rPr lang="en-US" sz="2010" dirty="0">
                <a:solidFill>
                  <a:srgbClr val="3F4A55"/>
                </a:solidFill>
                <a:latin typeface="Arial" pitchFamily="34" charset="0"/>
                <a:ea typeface="Arial" pitchFamily="34" charset="-122"/>
                <a:cs typeface="Arial" pitchFamily="34" charset="-120"/>
              </a:rPr>
              <a:t>• A professional recommendation should include evidence from metrics, not only assumptions.</a:t>
            </a:r>
            <a:endParaRPr lang="en-US" sz="201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7">
    <p:bg>
      <p:bgPr>
        <a:solidFill>
          <a:srgbClr val="F7FBFF"/>
        </a:solidFill>
        <a:effectLst/>
      </p:bgPr>
    </p:bg>
    <p:spTree>
      <p:nvGrpSpPr>
        <p:cNvPr id="1" name=""/>
        <p:cNvGrpSpPr/>
        <p:nvPr/>
      </p:nvGrpSpPr>
      <p:grpSpPr>
        <a:xfrm>
          <a:off x="0" y="0"/>
          <a:ext cx="0" cy="0"/>
          <a:chOff x="0" y="0"/>
          <a:chExt cx="0" cy="0"/>
        </a:xfrm>
      </p:grpSpPr>
      <p:sp>
        <p:nvSpPr>
          <p:cNvPr id="2" name="Text 0"/>
          <p:cNvSpPr/>
          <p:nvPr/>
        </p:nvSpPr>
        <p:spPr>
          <a:xfrm>
            <a:off x="502920" y="182880"/>
            <a:ext cx="2011680" cy="201168"/>
          </a:xfrm>
          <a:prstGeom prst="rect">
            <a:avLst/>
          </a:prstGeom>
          <a:noFill/>
          <a:ln/>
        </p:spPr>
        <p:txBody>
          <a:bodyPr wrap="square" lIns="0" tIns="0" rIns="0" bIns="0" rtlCol="0" anchor="ctr"/>
          <a:lstStyle/>
          <a:p>
            <a:pPr marL="0" indent="0">
              <a:buNone/>
            </a:pPr>
            <a:r>
              <a:rPr lang="en-US" sz="900" b="1" dirty="0">
                <a:solidFill>
                  <a:srgbClr val="1E9E66"/>
                </a:solidFill>
                <a:latin typeface="Arial" pitchFamily="34" charset="0"/>
                <a:ea typeface="Arial" pitchFamily="34" charset="-122"/>
                <a:cs typeface="Arial" pitchFamily="34" charset="-120"/>
              </a:rPr>
              <a:t>LECTURE 1</a:t>
            </a:r>
            <a:endParaRPr lang="en-US" sz="900" dirty="0"/>
          </a:p>
        </p:txBody>
      </p:sp>
      <p:sp>
        <p:nvSpPr>
          <p:cNvPr id="3" name="Text 1"/>
          <p:cNvSpPr/>
          <p:nvPr/>
        </p:nvSpPr>
        <p:spPr>
          <a:xfrm>
            <a:off x="502920" y="438912"/>
            <a:ext cx="10881360" cy="530352"/>
          </a:xfrm>
          <a:prstGeom prst="rect">
            <a:avLst/>
          </a:prstGeom>
          <a:noFill/>
          <a:ln/>
        </p:spPr>
        <p:txBody>
          <a:bodyPr wrap="square" lIns="0" tIns="0" rIns="0" bIns="0" rtlCol="0" anchor="ctr">
            <a:normAutofit/>
          </a:bodyPr>
          <a:lstStyle/>
          <a:p>
            <a:pPr marL="0" indent="0">
              <a:buNone/>
            </a:pPr>
            <a:r>
              <a:rPr lang="en-US" sz="2800" b="1" dirty="0">
                <a:solidFill>
                  <a:srgbClr val="073B73"/>
                </a:solidFill>
                <a:latin typeface="Arial" pitchFamily="34" charset="0"/>
                <a:ea typeface="Arial" pitchFamily="34" charset="-122"/>
                <a:cs typeface="Arial" pitchFamily="34" charset="-120"/>
              </a:rPr>
              <a:t>Preview: cloud service models</a:t>
            </a:r>
            <a:endParaRPr lang="en-US" sz="2800" dirty="0"/>
          </a:p>
        </p:txBody>
      </p:sp>
      <p:sp>
        <p:nvSpPr>
          <p:cNvPr id="4" name="Shape 2"/>
          <p:cNvSpPr/>
          <p:nvPr/>
        </p:nvSpPr>
        <p:spPr>
          <a:xfrm>
            <a:off x="411480" y="6327648"/>
            <a:ext cx="11247120" cy="0"/>
          </a:xfrm>
          <a:prstGeom prst="line">
            <a:avLst/>
          </a:prstGeom>
          <a:noFill/>
          <a:ln w="8890">
            <a:solidFill>
              <a:srgbClr val="B9D8F2"/>
            </a:solidFill>
            <a:prstDash val="solid"/>
          </a:ln>
        </p:spPr>
      </p:sp>
      <p:sp>
        <p:nvSpPr>
          <p:cNvPr id="5" name="Text 3"/>
          <p:cNvSpPr/>
          <p:nvPr/>
        </p:nvSpPr>
        <p:spPr>
          <a:xfrm>
            <a:off x="502920" y="6382512"/>
            <a:ext cx="7132320" cy="201168"/>
          </a:xfrm>
          <a:prstGeom prst="rect">
            <a:avLst/>
          </a:prstGeom>
          <a:noFill/>
          <a:ln/>
        </p:spPr>
        <p:txBody>
          <a:bodyPr wrap="square" lIns="0" tIns="0" rIns="0" bIns="0" rtlCol="0" anchor="ctr"/>
          <a:lstStyle/>
          <a:p>
            <a:pPr marL="0" indent="0">
              <a:buNone/>
            </a:pPr>
            <a:r>
              <a:rPr lang="en-US" sz="850" dirty="0">
                <a:solidFill>
                  <a:srgbClr val="697386"/>
                </a:solidFill>
                <a:latin typeface="Arial" pitchFamily="34" charset="0"/>
                <a:ea typeface="Arial" pitchFamily="34" charset="-122"/>
                <a:cs typeface="Arial" pitchFamily="34" charset="-120"/>
              </a:rPr>
              <a:t>ICT411 Cloud Computing • Unit 1 • Foundations &amp; Context</a:t>
            </a:r>
            <a:endParaRPr lang="en-US" sz="850" dirty="0"/>
          </a:p>
        </p:txBody>
      </p:sp>
      <p:sp>
        <p:nvSpPr>
          <p:cNvPr id="6" name="Text 4"/>
          <p:cNvSpPr/>
          <p:nvPr/>
        </p:nvSpPr>
        <p:spPr>
          <a:xfrm>
            <a:off x="10835640" y="6364224"/>
            <a:ext cx="320040" cy="228600"/>
          </a:xfrm>
          <a:prstGeom prst="rect">
            <a:avLst/>
          </a:prstGeom>
          <a:noFill/>
          <a:ln/>
        </p:spPr>
        <p:txBody>
          <a:bodyPr wrap="square" lIns="0" tIns="0" rIns="0" bIns="0" rtlCol="0" anchor="ctr"/>
          <a:lstStyle/>
          <a:p>
            <a:pPr marL="0" indent="0" algn="r">
              <a:buNone/>
            </a:pPr>
            <a:r>
              <a:rPr lang="en-US" sz="900" b="1" dirty="0">
                <a:solidFill>
                  <a:srgbClr val="697386"/>
                </a:solidFill>
                <a:latin typeface="Arial" pitchFamily="34" charset="0"/>
                <a:ea typeface="Arial" pitchFamily="34" charset="-122"/>
                <a:cs typeface="Arial" pitchFamily="34" charset="-120"/>
              </a:rPr>
              <a:t>37</a:t>
            </a:r>
            <a:endParaRPr lang="en-US" sz="900" dirty="0"/>
          </a:p>
        </p:txBody>
      </p:sp>
      <p:pic>
        <p:nvPicPr>
          <p:cNvPr id="7" name="Image 0" descr="/mnt/data/mulungushi_logo_crop2.png"/>
          <p:cNvPicPr>
            <a:picLocks noChangeAspect="1"/>
          </p:cNvPicPr>
          <p:nvPr/>
        </p:nvPicPr>
        <p:blipFill>
          <a:blip r:embed="rId3"/>
          <a:stretch>
            <a:fillRect/>
          </a:stretch>
        </p:blipFill>
        <p:spPr>
          <a:xfrm>
            <a:off x="11201400" y="6199632"/>
            <a:ext cx="502920" cy="502920"/>
          </a:xfrm>
          <a:prstGeom prst="rect">
            <a:avLst/>
          </a:prstGeom>
        </p:spPr>
      </p:pic>
      <p:pic>
        <p:nvPicPr>
          <p:cNvPr id="8" name="Image 1" descr="/mnt/data/cloud_service_models_explained.png"/>
          <p:cNvPicPr>
            <a:picLocks noChangeAspect="1"/>
          </p:cNvPicPr>
          <p:nvPr/>
        </p:nvPicPr>
        <p:blipFill>
          <a:blip r:embed="rId4"/>
          <a:srcRect t="7000" r="-1079" b="9000"/>
          <a:stretch/>
        </p:blipFill>
        <p:spPr>
          <a:xfrm>
            <a:off x="502920" y="1005840"/>
            <a:ext cx="11183112" cy="5230368"/>
          </a:xfrm>
          <a:prstGeom prst="rect">
            <a:avLst/>
          </a:prstGeom>
        </p:spPr>
      </p:pic>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8">
    <p:bg>
      <p:bgPr>
        <a:solidFill>
          <a:srgbClr val="F7FBFF"/>
        </a:solidFill>
        <a:effectLst/>
      </p:bgPr>
    </p:bg>
    <p:spTree>
      <p:nvGrpSpPr>
        <p:cNvPr id="1" name=""/>
        <p:cNvGrpSpPr/>
        <p:nvPr/>
      </p:nvGrpSpPr>
      <p:grpSpPr>
        <a:xfrm>
          <a:off x="0" y="0"/>
          <a:ext cx="0" cy="0"/>
          <a:chOff x="0" y="0"/>
          <a:chExt cx="0" cy="0"/>
        </a:xfrm>
      </p:grpSpPr>
      <p:sp>
        <p:nvSpPr>
          <p:cNvPr id="2" name="Text 0"/>
          <p:cNvSpPr/>
          <p:nvPr/>
        </p:nvSpPr>
        <p:spPr>
          <a:xfrm>
            <a:off x="502920" y="182880"/>
            <a:ext cx="2011680" cy="201168"/>
          </a:xfrm>
          <a:prstGeom prst="rect">
            <a:avLst/>
          </a:prstGeom>
          <a:noFill/>
          <a:ln/>
        </p:spPr>
        <p:txBody>
          <a:bodyPr wrap="square" lIns="0" tIns="0" rIns="0" bIns="0" rtlCol="0" anchor="ctr"/>
          <a:lstStyle/>
          <a:p>
            <a:pPr marL="0" indent="0">
              <a:buNone/>
            </a:pPr>
            <a:r>
              <a:rPr lang="en-US" sz="900" b="1" dirty="0">
                <a:solidFill>
                  <a:srgbClr val="1E9E66"/>
                </a:solidFill>
                <a:latin typeface="Arial" pitchFamily="34" charset="0"/>
                <a:ea typeface="Arial" pitchFamily="34" charset="-122"/>
                <a:cs typeface="Arial" pitchFamily="34" charset="-120"/>
              </a:rPr>
              <a:t>LECTURE 1</a:t>
            </a:r>
            <a:endParaRPr lang="en-US" sz="900" dirty="0"/>
          </a:p>
        </p:txBody>
      </p:sp>
      <p:sp>
        <p:nvSpPr>
          <p:cNvPr id="3" name="Text 1"/>
          <p:cNvSpPr/>
          <p:nvPr/>
        </p:nvSpPr>
        <p:spPr>
          <a:xfrm>
            <a:off x="502920" y="438912"/>
            <a:ext cx="10881360" cy="530352"/>
          </a:xfrm>
          <a:prstGeom prst="rect">
            <a:avLst/>
          </a:prstGeom>
          <a:noFill/>
          <a:ln/>
        </p:spPr>
        <p:txBody>
          <a:bodyPr wrap="square" lIns="0" tIns="0" rIns="0" bIns="0" rtlCol="0" anchor="ctr">
            <a:normAutofit/>
          </a:bodyPr>
          <a:lstStyle/>
          <a:p>
            <a:pPr marL="0" indent="0">
              <a:buNone/>
            </a:pPr>
            <a:r>
              <a:rPr lang="en-US" sz="2800" b="1" dirty="0">
                <a:solidFill>
                  <a:srgbClr val="073B73"/>
                </a:solidFill>
                <a:latin typeface="Arial" pitchFamily="34" charset="0"/>
                <a:ea typeface="Arial" pitchFamily="34" charset="-122"/>
                <a:cs typeface="Arial" pitchFamily="34" charset="-120"/>
              </a:rPr>
              <a:t>Preview: cloud deployment models</a:t>
            </a:r>
            <a:endParaRPr lang="en-US" sz="2800" dirty="0"/>
          </a:p>
        </p:txBody>
      </p:sp>
      <p:sp>
        <p:nvSpPr>
          <p:cNvPr id="4" name="Shape 2"/>
          <p:cNvSpPr/>
          <p:nvPr/>
        </p:nvSpPr>
        <p:spPr>
          <a:xfrm>
            <a:off x="411480" y="6327648"/>
            <a:ext cx="11247120" cy="0"/>
          </a:xfrm>
          <a:prstGeom prst="line">
            <a:avLst/>
          </a:prstGeom>
          <a:noFill/>
          <a:ln w="8890">
            <a:solidFill>
              <a:srgbClr val="B9D8F2"/>
            </a:solidFill>
            <a:prstDash val="solid"/>
          </a:ln>
        </p:spPr>
      </p:sp>
      <p:sp>
        <p:nvSpPr>
          <p:cNvPr id="5" name="Text 3"/>
          <p:cNvSpPr/>
          <p:nvPr/>
        </p:nvSpPr>
        <p:spPr>
          <a:xfrm>
            <a:off x="502920" y="6382512"/>
            <a:ext cx="7132320" cy="201168"/>
          </a:xfrm>
          <a:prstGeom prst="rect">
            <a:avLst/>
          </a:prstGeom>
          <a:noFill/>
          <a:ln/>
        </p:spPr>
        <p:txBody>
          <a:bodyPr wrap="square" lIns="0" tIns="0" rIns="0" bIns="0" rtlCol="0" anchor="ctr"/>
          <a:lstStyle/>
          <a:p>
            <a:pPr marL="0" indent="0">
              <a:buNone/>
            </a:pPr>
            <a:r>
              <a:rPr lang="en-US" sz="850" dirty="0">
                <a:solidFill>
                  <a:srgbClr val="697386"/>
                </a:solidFill>
                <a:latin typeface="Arial" pitchFamily="34" charset="0"/>
                <a:ea typeface="Arial" pitchFamily="34" charset="-122"/>
                <a:cs typeface="Arial" pitchFamily="34" charset="-120"/>
              </a:rPr>
              <a:t>ICT411 Cloud Computing • Unit 1 • Foundations &amp; Context</a:t>
            </a:r>
            <a:endParaRPr lang="en-US" sz="850" dirty="0"/>
          </a:p>
        </p:txBody>
      </p:sp>
      <p:sp>
        <p:nvSpPr>
          <p:cNvPr id="6" name="Text 4"/>
          <p:cNvSpPr/>
          <p:nvPr/>
        </p:nvSpPr>
        <p:spPr>
          <a:xfrm>
            <a:off x="10835640" y="6364224"/>
            <a:ext cx="320040" cy="228600"/>
          </a:xfrm>
          <a:prstGeom prst="rect">
            <a:avLst/>
          </a:prstGeom>
          <a:noFill/>
          <a:ln/>
        </p:spPr>
        <p:txBody>
          <a:bodyPr wrap="square" lIns="0" tIns="0" rIns="0" bIns="0" rtlCol="0" anchor="ctr"/>
          <a:lstStyle/>
          <a:p>
            <a:pPr marL="0" indent="0" algn="r">
              <a:buNone/>
            </a:pPr>
            <a:r>
              <a:rPr lang="en-US" sz="900" b="1" dirty="0">
                <a:solidFill>
                  <a:srgbClr val="697386"/>
                </a:solidFill>
                <a:latin typeface="Arial" pitchFamily="34" charset="0"/>
                <a:ea typeface="Arial" pitchFamily="34" charset="-122"/>
                <a:cs typeface="Arial" pitchFamily="34" charset="-120"/>
              </a:rPr>
              <a:t>38</a:t>
            </a:r>
            <a:endParaRPr lang="en-US" sz="900" dirty="0"/>
          </a:p>
        </p:txBody>
      </p:sp>
      <p:pic>
        <p:nvPicPr>
          <p:cNvPr id="7" name="Image 0" descr="/mnt/data/mulungushi_logo_crop2.png"/>
          <p:cNvPicPr>
            <a:picLocks noChangeAspect="1"/>
          </p:cNvPicPr>
          <p:nvPr/>
        </p:nvPicPr>
        <p:blipFill>
          <a:blip r:embed="rId3"/>
          <a:stretch>
            <a:fillRect/>
          </a:stretch>
        </p:blipFill>
        <p:spPr>
          <a:xfrm>
            <a:off x="11201400" y="6199632"/>
            <a:ext cx="502920" cy="502920"/>
          </a:xfrm>
          <a:prstGeom prst="rect">
            <a:avLst/>
          </a:prstGeom>
        </p:spPr>
      </p:pic>
      <p:pic>
        <p:nvPicPr>
          <p:cNvPr id="8" name="Image 1" descr="/mnt/data/cloud_deployment_models_infographic.png"/>
          <p:cNvPicPr>
            <a:picLocks noChangeAspect="1"/>
          </p:cNvPicPr>
          <p:nvPr/>
        </p:nvPicPr>
        <p:blipFill>
          <a:blip r:embed="rId4"/>
          <a:srcRect t="7000" r="-1079" b="9000"/>
          <a:stretch/>
        </p:blipFill>
        <p:spPr>
          <a:xfrm>
            <a:off x="502920" y="1005840"/>
            <a:ext cx="11183112" cy="5230368"/>
          </a:xfrm>
          <a:prstGeom prst="rect">
            <a:avLst/>
          </a:prstGeom>
        </p:spPr>
      </p:pic>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40">
    <p:bg>
      <p:bgPr>
        <a:solidFill>
          <a:srgbClr val="F7FBFF"/>
        </a:solidFill>
        <a:effectLst/>
      </p:bgPr>
    </p:bg>
    <p:spTree>
      <p:nvGrpSpPr>
        <p:cNvPr id="1" name=""/>
        <p:cNvGrpSpPr/>
        <p:nvPr/>
      </p:nvGrpSpPr>
      <p:grpSpPr>
        <a:xfrm>
          <a:off x="0" y="0"/>
          <a:ext cx="0" cy="0"/>
          <a:chOff x="0" y="0"/>
          <a:chExt cx="0" cy="0"/>
        </a:xfrm>
      </p:grpSpPr>
      <p:sp>
        <p:nvSpPr>
          <p:cNvPr id="2" name="Text 0"/>
          <p:cNvSpPr/>
          <p:nvPr/>
        </p:nvSpPr>
        <p:spPr>
          <a:xfrm>
            <a:off x="502920" y="182880"/>
            <a:ext cx="2011680" cy="201168"/>
          </a:xfrm>
          <a:prstGeom prst="rect">
            <a:avLst/>
          </a:prstGeom>
          <a:noFill/>
          <a:ln/>
        </p:spPr>
        <p:txBody>
          <a:bodyPr wrap="square" lIns="0" tIns="0" rIns="0" bIns="0" rtlCol="0" anchor="ctr"/>
          <a:lstStyle/>
          <a:p>
            <a:pPr marL="0" indent="0">
              <a:buNone/>
            </a:pPr>
            <a:r>
              <a:rPr lang="en-US" sz="900" b="1" dirty="0">
                <a:solidFill>
                  <a:srgbClr val="1E9E66"/>
                </a:solidFill>
                <a:latin typeface="Arial" pitchFamily="34" charset="0"/>
                <a:ea typeface="Arial" pitchFamily="34" charset="-122"/>
                <a:cs typeface="Arial" pitchFamily="34" charset="-120"/>
              </a:rPr>
              <a:t>LECTURE 1</a:t>
            </a:r>
            <a:endParaRPr lang="en-US" sz="900" dirty="0"/>
          </a:p>
        </p:txBody>
      </p:sp>
      <p:sp>
        <p:nvSpPr>
          <p:cNvPr id="3" name="Text 1"/>
          <p:cNvSpPr/>
          <p:nvPr/>
        </p:nvSpPr>
        <p:spPr>
          <a:xfrm>
            <a:off x="502920" y="438912"/>
            <a:ext cx="10881360" cy="530352"/>
          </a:xfrm>
          <a:prstGeom prst="rect">
            <a:avLst/>
          </a:prstGeom>
          <a:noFill/>
          <a:ln/>
        </p:spPr>
        <p:txBody>
          <a:bodyPr wrap="square" lIns="0" tIns="0" rIns="0" bIns="0" rtlCol="0" anchor="ctr">
            <a:normAutofit/>
          </a:bodyPr>
          <a:lstStyle/>
          <a:p>
            <a:pPr marL="0" indent="0">
              <a:buNone/>
            </a:pPr>
            <a:r>
              <a:rPr lang="en-US" sz="2800" b="1" dirty="0">
                <a:solidFill>
                  <a:srgbClr val="073B73"/>
                </a:solidFill>
                <a:latin typeface="Arial" pitchFamily="34" charset="0"/>
                <a:ea typeface="Arial" pitchFamily="34" charset="-122"/>
                <a:cs typeface="Arial" pitchFamily="34" charset="-120"/>
              </a:rPr>
              <a:t>Unit summary and exit ticket</a:t>
            </a:r>
            <a:endParaRPr lang="en-US" sz="2800" dirty="0"/>
          </a:p>
        </p:txBody>
      </p:sp>
      <p:sp>
        <p:nvSpPr>
          <p:cNvPr id="4" name="Shape 2"/>
          <p:cNvSpPr/>
          <p:nvPr/>
        </p:nvSpPr>
        <p:spPr>
          <a:xfrm>
            <a:off x="411480" y="6327648"/>
            <a:ext cx="11247120" cy="0"/>
          </a:xfrm>
          <a:prstGeom prst="line">
            <a:avLst/>
          </a:prstGeom>
          <a:noFill/>
          <a:ln w="8890">
            <a:solidFill>
              <a:srgbClr val="B9D8F2"/>
            </a:solidFill>
            <a:prstDash val="solid"/>
          </a:ln>
        </p:spPr>
      </p:sp>
      <p:sp>
        <p:nvSpPr>
          <p:cNvPr id="5" name="Text 3"/>
          <p:cNvSpPr/>
          <p:nvPr/>
        </p:nvSpPr>
        <p:spPr>
          <a:xfrm>
            <a:off x="502920" y="6382512"/>
            <a:ext cx="7132320" cy="201168"/>
          </a:xfrm>
          <a:prstGeom prst="rect">
            <a:avLst/>
          </a:prstGeom>
          <a:noFill/>
          <a:ln/>
        </p:spPr>
        <p:txBody>
          <a:bodyPr wrap="square" lIns="0" tIns="0" rIns="0" bIns="0" rtlCol="0" anchor="ctr"/>
          <a:lstStyle/>
          <a:p>
            <a:pPr marL="0" indent="0">
              <a:buNone/>
            </a:pPr>
            <a:r>
              <a:rPr lang="en-US" sz="850" dirty="0">
                <a:solidFill>
                  <a:srgbClr val="697386"/>
                </a:solidFill>
                <a:latin typeface="Arial" pitchFamily="34" charset="0"/>
                <a:ea typeface="Arial" pitchFamily="34" charset="-122"/>
                <a:cs typeface="Arial" pitchFamily="34" charset="-120"/>
              </a:rPr>
              <a:t>ICT411 Cloud Computing • Unit 1 • Foundations &amp; Context</a:t>
            </a:r>
            <a:endParaRPr lang="en-US" sz="850" dirty="0"/>
          </a:p>
        </p:txBody>
      </p:sp>
      <p:sp>
        <p:nvSpPr>
          <p:cNvPr id="6" name="Text 4"/>
          <p:cNvSpPr/>
          <p:nvPr/>
        </p:nvSpPr>
        <p:spPr>
          <a:xfrm>
            <a:off x="10835640" y="6364224"/>
            <a:ext cx="320040" cy="228600"/>
          </a:xfrm>
          <a:prstGeom prst="rect">
            <a:avLst/>
          </a:prstGeom>
          <a:noFill/>
          <a:ln/>
        </p:spPr>
        <p:txBody>
          <a:bodyPr wrap="square" lIns="0" tIns="0" rIns="0" bIns="0" rtlCol="0" anchor="ctr"/>
          <a:lstStyle/>
          <a:p>
            <a:pPr marL="0" indent="0" algn="r">
              <a:buNone/>
            </a:pPr>
            <a:r>
              <a:rPr lang="en-US" sz="900" b="1" dirty="0">
                <a:solidFill>
                  <a:srgbClr val="697386"/>
                </a:solidFill>
                <a:latin typeface="Arial" pitchFamily="34" charset="0"/>
                <a:ea typeface="Arial" pitchFamily="34" charset="-122"/>
                <a:cs typeface="Arial" pitchFamily="34" charset="-120"/>
              </a:rPr>
              <a:t>40</a:t>
            </a:r>
            <a:endParaRPr lang="en-US" sz="900" dirty="0"/>
          </a:p>
        </p:txBody>
      </p:sp>
      <p:pic>
        <p:nvPicPr>
          <p:cNvPr id="7" name="Image 0" descr="/mnt/data/mulungushi_logo_crop2.png"/>
          <p:cNvPicPr>
            <a:picLocks noChangeAspect="1"/>
          </p:cNvPicPr>
          <p:nvPr/>
        </p:nvPicPr>
        <p:blipFill>
          <a:blip r:embed="rId3"/>
          <a:stretch>
            <a:fillRect/>
          </a:stretch>
        </p:blipFill>
        <p:spPr>
          <a:xfrm>
            <a:off x="11201400" y="6199632"/>
            <a:ext cx="502920" cy="502920"/>
          </a:xfrm>
          <a:prstGeom prst="rect">
            <a:avLst/>
          </a:prstGeom>
        </p:spPr>
      </p:pic>
      <p:sp>
        <p:nvSpPr>
          <p:cNvPr id="8" name="Text 5"/>
          <p:cNvSpPr/>
          <p:nvPr/>
        </p:nvSpPr>
        <p:spPr>
          <a:xfrm>
            <a:off x="685800" y="1115568"/>
            <a:ext cx="10378440" cy="4297680"/>
          </a:xfrm>
          <a:prstGeom prst="rect">
            <a:avLst/>
          </a:prstGeom>
          <a:noFill/>
          <a:ln/>
        </p:spPr>
        <p:txBody>
          <a:bodyPr wrap="square" lIns="635" tIns="635" rIns="635" bIns="635" rtlCol="0" anchor="t">
            <a:normAutofit/>
          </a:bodyPr>
          <a:lstStyle/>
          <a:p>
            <a:pPr marL="0" indent="0">
              <a:lnSpc>
                <a:spcPct val="97000"/>
              </a:lnSpc>
              <a:buNone/>
            </a:pPr>
            <a:r>
              <a:rPr lang="en-US" sz="2010" dirty="0">
                <a:solidFill>
                  <a:srgbClr val="3F4A55"/>
                </a:solidFill>
                <a:latin typeface="Arial" pitchFamily="34" charset="0"/>
                <a:ea typeface="Arial" pitchFamily="34" charset="-122"/>
                <a:cs typeface="Arial" pitchFamily="34" charset="-120"/>
              </a:rPr>
              <a:t>• Cloud computing delivers computing services over the internet without requiring consumers to own all local infrastructure.</a:t>
            </a:r>
            <a:endParaRPr lang="en-US" sz="2010" dirty="0"/>
          </a:p>
          <a:p>
            <a:pPr marL="0" indent="0">
              <a:lnSpc>
                <a:spcPct val="97000"/>
              </a:lnSpc>
              <a:buNone/>
            </a:pPr>
            <a:r>
              <a:rPr lang="en-US" sz="2010" dirty="0">
                <a:solidFill>
                  <a:srgbClr val="3F4A55"/>
                </a:solidFill>
                <a:latin typeface="Arial" pitchFamily="34" charset="0"/>
                <a:ea typeface="Arial" pitchFamily="34" charset="-122"/>
                <a:cs typeface="Arial" pitchFamily="34" charset="-120"/>
              </a:rPr>
              <a:t>• Its foundations include distributed systems, grid computing, virtualization, automation, data centers, APIs, and internet software evolution.</a:t>
            </a:r>
            <a:endParaRPr lang="en-US" sz="2010" dirty="0"/>
          </a:p>
          <a:p>
            <a:pPr marL="0" indent="0">
              <a:lnSpc>
                <a:spcPct val="97000"/>
              </a:lnSpc>
              <a:buNone/>
            </a:pPr>
            <a:r>
              <a:rPr lang="en-US" sz="2010" dirty="0">
                <a:solidFill>
                  <a:srgbClr val="3F4A55"/>
                </a:solidFill>
                <a:latin typeface="Arial" pitchFamily="34" charset="0"/>
                <a:ea typeface="Arial" pitchFamily="34" charset="-122"/>
                <a:cs typeface="Arial" pitchFamily="34" charset="-120"/>
              </a:rPr>
              <a:t>• The five essential characteristics are on-demand self-service, broad network access, resource pooling, rapid elasticity, and measured service.</a:t>
            </a:r>
            <a:endParaRPr lang="en-US" sz="2010" dirty="0"/>
          </a:p>
          <a:p>
            <a:pPr marL="0" indent="0">
              <a:lnSpc>
                <a:spcPct val="97000"/>
              </a:lnSpc>
              <a:buNone/>
            </a:pPr>
            <a:r>
              <a:rPr lang="en-US" sz="2010" dirty="0">
                <a:solidFill>
                  <a:srgbClr val="3F4A55"/>
                </a:solidFill>
                <a:latin typeface="Arial" pitchFamily="34" charset="0"/>
                <a:ea typeface="Arial" pitchFamily="34" charset="-122"/>
                <a:cs typeface="Arial" pitchFamily="34" charset="-120"/>
              </a:rPr>
              <a:t>• Benefits include cost flexibility, scalability, collaboration, reliability, and faster delivery; risks include outages, lock-in, data bottlenecks, legal issues, and security concerns.</a:t>
            </a:r>
            <a:endParaRPr lang="en-US" sz="2010" dirty="0"/>
          </a:p>
          <a:p>
            <a:pPr marL="0" indent="0">
              <a:lnSpc>
                <a:spcPct val="97000"/>
              </a:lnSpc>
              <a:buNone/>
            </a:pPr>
            <a:r>
              <a:rPr lang="en-US" sz="2010" dirty="0">
                <a:solidFill>
                  <a:srgbClr val="3F4A55"/>
                </a:solidFill>
                <a:latin typeface="Arial" pitchFamily="34" charset="0"/>
                <a:ea typeface="Arial" pitchFamily="34" charset="-122"/>
                <a:cs typeface="Arial" pitchFamily="34" charset="-120"/>
              </a:rPr>
              <a:t>• Exit ticket: explain one cloud benefit, one cloud risk, and one control that reduces that risk.</a:t>
            </a:r>
            <a:endParaRPr lang="en-US" sz="2010" dirty="0"/>
          </a:p>
        </p:txBody>
      </p:sp>
      <p:sp>
        <p:nvSpPr>
          <p:cNvPr id="9" name="Text 6"/>
          <p:cNvSpPr/>
          <p:nvPr/>
        </p:nvSpPr>
        <p:spPr>
          <a:xfrm>
            <a:off x="1417320" y="5532120"/>
            <a:ext cx="9326880" cy="502920"/>
          </a:xfrm>
          <a:prstGeom prst="rect">
            <a:avLst/>
          </a:prstGeom>
          <a:solidFill>
            <a:srgbClr val="E6F8F0"/>
          </a:solidFill>
          <a:ln w="12700">
            <a:solidFill>
              <a:srgbClr val="B9D8F2"/>
            </a:solidFill>
          </a:ln>
        </p:spPr>
        <p:txBody>
          <a:bodyPr wrap="square" lIns="1397" tIns="1397" rIns="1397" bIns="1397" rtlCol="0" anchor="ctr">
            <a:normAutofit/>
          </a:bodyPr>
          <a:lstStyle/>
          <a:p>
            <a:pPr marL="0" indent="0" algn="ctr">
              <a:buNone/>
            </a:pPr>
            <a:r>
              <a:rPr lang="en-US" sz="1900" b="1" dirty="0">
                <a:solidFill>
                  <a:srgbClr val="1E9E66"/>
                </a:solidFill>
                <a:latin typeface="Arial" pitchFamily="34" charset="0"/>
                <a:ea typeface="Arial" pitchFamily="34" charset="-122"/>
                <a:cs typeface="Arial" pitchFamily="34" charset="-120"/>
              </a:rPr>
              <a:t>Next unit: Cloud Service and Deployment Models</a:t>
            </a:r>
            <a:endParaRPr lang="en-US" sz="1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953</TotalTime>
  <Words>4396</Words>
  <Application>Microsoft Office PowerPoint</Application>
  <PresentationFormat>Widescreen</PresentationFormat>
  <Paragraphs>425</Paragraphs>
  <Slides>36</Slides>
  <Notes>36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36</vt:i4>
      </vt:variant>
    </vt:vector>
  </HeadingPairs>
  <TitlesOfParts>
    <vt:vector size="39"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Mulungushi University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ICT411 Cloud Computing Unit 1 Expanded</dc:title>
  <dc:subject>ICT411 Cloud Computing - Unit 1</dc:subject>
  <dc:creator>OpenAI</dc:creator>
  <cp:lastModifiedBy>HP EliteBook</cp:lastModifiedBy>
  <cp:revision>7</cp:revision>
  <dcterms:created xsi:type="dcterms:W3CDTF">2026-09-01T10:22:09Z</dcterms:created>
  <dcterms:modified xsi:type="dcterms:W3CDTF">2026-09-09T04:29:41Z</dcterms:modified>
</cp:coreProperties>
</file>