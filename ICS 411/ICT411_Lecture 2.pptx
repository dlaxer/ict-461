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unit as the decision-making part of cloud adoption: what service model and what deployment model fit a real workload?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focus on competency: students should be able to choose and justify, not merely list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roadmap to prevent confusion between service models and deployment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this sentence: service model is about level of management; deployment model is about ownership and access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based on the attached notes explaining that cloud service models define control, management, and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SaaS gives the least technical control but the easiest operation, while IaaS gives the most control but requires more management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simple analogy: renting a finished office, renting a workspace with utilities, or renting an empty building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SaaS with examples students know: Gmail, Google Drive, Microsoft Teams, Zoom, learning management systems, and CRM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SaaS is ideal when the business need is common and does not require deep infrastructure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provider responsibility idea: even in SaaS, the consumer still manages accounts, permissions, data governance, training, and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examples come directly from the attached lecture notes. Ask students to describe what they manage versus what the provider manages.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PaaS to web app projects where students deploy code and let the platform handle runtime and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PaaS is often a good learning bridge between coding and professional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not to treat PaaS as magic. They still need secure coding, testing, monitoring, data protection, and cost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PaaS examples in the attached PowerPoint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IaaS to VirtualBox knowledge from Unit 1: a VM in cloud is managed through provider infrastructure instead of the local lab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IaaS is powerful because it gives control, but control also means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IaaS is not automatically cheaper or safer; it must be governed.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IaaS examples are from the attached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uses the MaaS and CaaS points listed in the attached lecture notes. Clarify that CaaS can mean communications as a service or containers as a service depending on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practice decision logic rather than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visual to explain public, private, hybrid, and community cloud together before going into each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public does not mean insecure by default; it means shared provider infrastructure with strong logical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advantages expand the attached notes: low cost, scalability, easy setup, and minimal upfront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disadvantages build on the attached notes: less control, possible performance issues, and limited customization.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public cloud provider examples are listed in the attached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cloud is not simply any local server room. It should provide cloud-like automation and service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advantages expand the attached notes: control, customization, security, compliance, and high performance from dedicated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disadvantages expand the attached notes: expensive, more management, and limited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local examples such as banking, health records, examination records, payroll, and government identity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expands the attached notes: public plus private, flexibility, data sharing, optimal resource allocation, and workload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advantages expand the attached notes: flexibility, cost-effective use of public cloud, and keeping critical operations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disadvantages expand the attached notes: complex management, security risks in transfers, and need for advanced expertise.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prepare students for the practical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the attached notes: shared among a specific community and tailored to common compliance or mission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cloud advantages and disadvantages come from the attached PowerPoint notes, expanded with practical governance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matrix row by row. Ask what changes if the workload is public website vs student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exit ticket so students practise professional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resolution_digital_illustr.png"/>
          <p:cNvPicPr>
            <a:picLocks noChangeAspect="1"/>
          </p:cNvPicPr>
          <p:nvPr/>
        </p:nvPicPr>
        <p:blipFill>
          <a:blip r:embed="rId3"/>
          <a:srcRect l="26625" r="26625"/>
          <a:stretch/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pic>
        <p:nvPicPr>
          <p:cNvPr id="3" name="Image 1" descr="/mnt/data/mulungushi_logo_cro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08760" y="411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MULUNGUSHI UNIVERSITY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508760" y="658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Engineering and Technology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463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502920" y="1920240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2: Cloud Service &amp; Deployment Models</a:t>
            </a:r>
            <a:endParaRPr lang="en-US" sz="3500" dirty="0"/>
          </a:p>
        </p:txBody>
      </p:sp>
      <p:sp>
        <p:nvSpPr>
          <p:cNvPr id="8" name="Text 4"/>
          <p:cNvSpPr/>
          <p:nvPr/>
        </p:nvSpPr>
        <p:spPr>
          <a:xfrm>
            <a:off x="50292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 • 4th Year Computer Science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35478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Lecturer: Mr. M Bwalya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 for Unit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43000"/>
            <a:ext cx="662940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Differentiate SaaS, PaaS, IaaS, MaaS, and CaaS using control and responsibility boundaries.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public, private, hybrid, and community cloud deployment models.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advantages, disadvantages, risks, and suitable use cases for each model.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examples such as AWS EC2, Azure Virtual Machines, Google Compute Engine, Heroku, Google App Engine, Salesforce, Microsoft 365, Google Workspace, AWS, Azure, and GCP.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 a model for a realistic organisation and justify the decision professionally.</a:t>
            </a:r>
            <a:endParaRPr lang="en-US" sz="2020" dirty="0"/>
          </a:p>
        </p:txBody>
      </p:sp>
      <p:pic>
        <p:nvPicPr>
          <p:cNvPr id="9" name="Image 1" descr="/mnt/data/wide_modern_tech_classroom_or_lab_scene_with_a_co.png"/>
          <p:cNvPicPr>
            <a:picLocks noChangeAspect="1"/>
          </p:cNvPicPr>
          <p:nvPr/>
        </p:nvPicPr>
        <p:blipFill>
          <a:blip r:embed="rId4"/>
          <a:srcRect l="25571" r="25571"/>
          <a:stretch/>
        </p:blipFill>
        <p:spPr>
          <a:xfrm>
            <a:off x="7543800" y="1188720"/>
            <a:ext cx="36118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76272" y="2057400"/>
            <a:ext cx="612648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736592" y="2057400"/>
            <a:ext cx="612648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296912" y="2057400"/>
            <a:ext cx="612648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857232" y="2057400"/>
            <a:ext cx="612648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640080" y="1572768"/>
            <a:ext cx="1554480" cy="96012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model concept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2788920" y="1572768"/>
            <a:ext cx="1965960" cy="96012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SaaS, PaaS, IaaS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349240" y="1572768"/>
            <a:ext cx="1965960" cy="96012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service models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909560" y="1572768"/>
            <a:ext cx="1965960" cy="96012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469880" y="1572768"/>
            <a:ext cx="1143000" cy="96012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selection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14400" y="3063240"/>
            <a:ext cx="1014984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first separate “what service is provided” from “where and how it is deployed”.</a:t>
            </a:r>
            <a:endParaRPr lang="en-US" sz="21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Then we examine each option using definition, advantages, disadvantages, examples, and practical use cases.</a:t>
            </a:r>
            <a:endParaRPr lang="en-US" sz="21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lesson ends with a scenario where students recommend a cloud approach for a real system.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idea: two decisions in every cloud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17320"/>
            <a:ext cx="4572000" cy="123444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MODEL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level of service do we consume?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675120" y="1417320"/>
            <a:ext cx="4572000" cy="123444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and for whom is the cloud deployed?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1024128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model answers: are we using a complete application, an application platform, or raw infrastructure?</a:t>
            </a:r>
            <a:endParaRPr lang="en-US" sz="21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model answers: is the cloud public, private, hybrid, or shared by a community?</a:t>
            </a:r>
            <a:endParaRPr lang="en-US" sz="21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Good architecture requires both decisions to fit the workload, budget, risk level, skills, and compliance needs.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model versus deployment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051560"/>
            <a:ext cx="10744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models define the level of control, management, and flexibility that an organisation has over the cloud infrastructure and services it uses.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2194560"/>
            <a:ext cx="4754880" cy="96012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model examples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• PaaS • IaaS • MaaS • CaaS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754880" cy="96012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 examples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• Private • Hybrid • Community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3794760"/>
            <a:ext cx="1014984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university may use SaaS for email, PaaS for a student web app, and IaaS for a custom server.</a:t>
            </a:r>
            <a:endParaRPr lang="en-US" sz="21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same university may place sensitive records in a private cloud while using public cloud for public websites.</a:t>
            </a:r>
            <a:endParaRPr lang="en-US" sz="21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1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selection is a trade-off, not a fixed answer.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boundary: who manages what?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pic>
        <p:nvPicPr>
          <p:cNvPr id="8" name="Image 1" descr="/mnt/data/cloud_service_models_explained.png"/>
          <p:cNvPicPr>
            <a:picLocks noChangeAspect="1"/>
          </p:cNvPicPr>
          <p:nvPr/>
        </p:nvPicPr>
        <p:blipFill>
          <a:blip r:embed="rId4"/>
          <a:srcRect t="9764" b="9764"/>
          <a:stretch/>
        </p:blipFill>
        <p:spPr>
          <a:xfrm>
            <a:off x="548640" y="1005840"/>
            <a:ext cx="11064240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main cloud service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80160"/>
            <a:ext cx="3063240" cy="9144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as a Service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0" y="1280160"/>
            <a:ext cx="3063240" cy="9144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 a Service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21040" y="1280160"/>
            <a:ext cx="3063240" cy="9144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a Service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2560320"/>
            <a:ext cx="2971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8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application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 runs the app and underlying platform. Users access it through a browser, mobile app, or API.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617720" y="2560320"/>
            <a:ext cx="2971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8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platform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 manages runtime, middleware, servers, and tools. Developers focus on code and data.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366760" y="2560320"/>
            <a:ext cx="2971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8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infrastructure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 supplies compute, storage, and network. The consumer manages OS, apps, and configurations.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005840" y="5120640"/>
            <a:ext cx="10149840" cy="56692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how much control do we need, and how much management work can we handle?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SaaS: Software as a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8122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SaaS delivers complete software applications over the internet, commonly through subscription access.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normally access the application through a web browser, mobile app, or API.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provider hosts and manages the application, servers, storage, updates, and much of the platform security.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consumer focuses on users, roles, data use, configuration, acceptable use, and business processes.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Typical examples include Salesforce, Microsoft Office 365, and Google Workspace.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74520"/>
            <a:ext cx="3108960" cy="192024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= use the software, do not run the software infrastructure.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SaaS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81228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4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adoption because users can start after account setup rather than server installation.</a:t>
            </a:r>
            <a:endParaRPr lang="en-US" sz="204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4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Lower technical administration because patching, upgrades, uptime, and platform maintenance are mainly handled by the provider.</a:t>
            </a:r>
            <a:endParaRPr lang="en-US" sz="204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4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Easy access from different locations and devices, supporting collaboration and remote work.</a:t>
            </a:r>
            <a:endParaRPr lang="en-US" sz="204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4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Predictable subscription pricing can simplify planning for small organisations and departments.</a:t>
            </a:r>
            <a:endParaRPr lang="en-US" sz="204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4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integrations and APIs may connect SaaS to other systems and workflows.</a:t>
            </a:r>
            <a:endParaRPr lang="en-US" sz="2040" dirty="0"/>
          </a:p>
        </p:txBody>
      </p:sp>
      <p:pic>
        <p:nvPicPr>
          <p:cNvPr id="9" name="Image 1" descr="/mnt/data/cloud_access_and_api_ecosystem.png"/>
          <p:cNvPicPr>
            <a:picLocks noChangeAspect="1"/>
          </p:cNvPicPr>
          <p:nvPr/>
        </p:nvPicPr>
        <p:blipFill>
          <a:blip r:embed="rId4"/>
          <a:srcRect l="24952" r="24952"/>
          <a:stretch/>
        </p:blipFill>
        <p:spPr>
          <a:xfrm>
            <a:off x="7635240" y="1170432"/>
            <a:ext cx="37033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and risks of SaaS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8122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control over infrastructure, update timing, deep security settings, and some data-processing locations.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Vendor lock-in may occur when data formats, workflows, integrations, or user habits become difficult to move away from.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Customisation is limited compared with building or hosting a custom application.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Internet dependency can affect productivity when connectivity is poor or the provider has an outage.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privacy, compliance, and user access must be carefully reviewed before sensitive information is uploaded.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7726680" y="1828800"/>
            <a:ext cx="3474720" cy="219456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risk question: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trust the provider with our users, data, uptime, and compliance obligations?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</a:t>
            </a:r>
            <a:r>
              <a:rPr lang="en-US" sz="2800" b="1" dirty="0" smtClean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Salesforce: customer relationship management used for sales, service, marketing, reporting, and customer data workflows.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Microsoft Office 365: productivity and collaboration services such as email, documents, spreadsheets, meetings, and storage.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Workspace: cloud-based collaboration through email, Drive, Docs, Sheets, Calendar, Meet, and shared workspaces.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University example: use SaaS for official email, file sharing, online forms, meetings, and document collaboration.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decision: choose SaaS when speed, collaboration, and lower administration matter more than deep technical control.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1417320" y="5733288"/>
            <a:ext cx="932688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name one SaaS used by students and identify what the provider manages.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PaaS: Platform as a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PaaS provides a managed platform for developing, testing, deploying, and scaling applications.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Developers focus on application code, data, business logic, and configuration instead of physical servers.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provider manages infrastructure, operating systems, runtime environments, middleware, scaling tools, and deployment mechanisms.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PaaS supports faster software delivery when teams want to avoid routine infrastructure administration.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Lecture examples include Heroku, Google App Engine, and AWS Elastic Beanstalk.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20574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= build and deploy applications without managing every server layer.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PaaS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85800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Improves developer productivity because environments, runtimes, build processes, and deployment workflows are already available.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server administration, patching effort, and manual configuration compared with IaaS.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rapid testing, prototyping, and deployment for student projects, start-ups, and agile teams.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Often includes monitoring, scaling, databases, logging, and integration tools that speed up delivery.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Encourages standardisation because teams deploy through repeatable platform workflows.</a:t>
            </a:r>
            <a:endParaRPr lang="en-US" sz="2020" dirty="0"/>
          </a:p>
        </p:txBody>
      </p:sp>
      <p:sp>
        <p:nvSpPr>
          <p:cNvPr id="9" name="Text 6"/>
          <p:cNvSpPr/>
          <p:nvPr/>
        </p:nvSpPr>
        <p:spPr>
          <a:xfrm>
            <a:off x="7863840" y="1737360"/>
            <a:ext cx="3154680" cy="251460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2300" dirty="0"/>
          </a:p>
          <a:p>
            <a:pPr marL="0" indent="0" algn="ctr">
              <a:buNone/>
            </a:pP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write applications and want the platform to handle most operational plumbing.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and risks of PaaS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control over the operating system, runtime internals, network layout, and some security configurations.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Applications may need to follow platform rules, supported languages, frameworks, or deployment patterns.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Vendor lock-in can occur when code depends heavily on proprietary platform services or APIs.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Debugging deep performance problems may be harder because the provider hides some infrastructure details.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Costs can grow if scaling, add-ons, databases, or traffic are not monitored.</a:t>
            </a:r>
            <a:endParaRPr lang="en-US" sz="202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196596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trade-off: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speed and less maintenance, but less low-level control.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</a:t>
            </a:r>
            <a:r>
              <a:rPr lang="en-US" sz="2800" b="1" dirty="0" smtClean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Heroku: deploy applications with managed buildpacks, add-ons, databases, logs, and scaling options.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App Engine: build applications on Google’s managed platform using supported runtimes and automatic scaling.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Elastic Beanstalk: upload application code while AWS provisions and manages related infrastructure components.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example: deploy a class project API without manually installing Apache, Nginx, runtime packages, and database clients on a VM.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decision: choose PaaS when speed of delivery is more important than full infrastructure control.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1234440" y="5733288"/>
            <a:ext cx="969264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identify one web app you could deploy on PaaS and list two platform services it would need.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IaaS: Infrastructure as a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IaaS provides virtualized computing resources over the internet.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Consumers can provision virtual machines, storage, and networking according to their requirements.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usually control the operating system, installed applications, firewall rules, storage attachment, and network configuration.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provider manages physical data-center facilities, hardware, core virtualization, and underlying availability zones or regions.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Lecture examples include AWS EC2, Azure Virtual Machines, and Google Compute Engine.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20574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 = rent flexible infrastructure and manage more of the software stack yourself.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IaaS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81228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3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flexibility because teams can choose operating systems, server sizes, storage types, network rules, and application stacks.</a:t>
            </a:r>
            <a:endParaRPr lang="en-US" sz="203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3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migrating existing applications that are not ready for PaaS or SaaS.</a:t>
            </a:r>
            <a:endParaRPr lang="en-US" sz="203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3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custom security configurations, specialised software, test labs, and development environments.</a:t>
            </a:r>
            <a:endParaRPr lang="en-US" sz="203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3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 can be increased or reduced faster than buying physical servers.</a:t>
            </a:r>
            <a:endParaRPr lang="en-US" sz="203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3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Suitable for workloads requiring more control than SaaS or PaaS provides.</a:t>
            </a:r>
            <a:endParaRPr lang="en-US" sz="2030" dirty="0"/>
          </a:p>
        </p:txBody>
      </p:sp>
      <p:pic>
        <p:nvPicPr>
          <p:cNvPr id="9" name="Image 1" descr="/mnt/data/virtualization_do_more_with_less.png"/>
          <p:cNvPicPr>
            <a:picLocks noChangeAspect="1"/>
          </p:cNvPicPr>
          <p:nvPr/>
        </p:nvPicPr>
        <p:blipFill>
          <a:blip r:embed="rId4"/>
          <a:srcRect l="23423" r="23423"/>
          <a:stretch/>
        </p:blipFill>
        <p:spPr>
          <a:xfrm>
            <a:off x="7498080" y="1234440"/>
            <a:ext cx="3886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and risks of IaaS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more technical skill because the consumer manages operating systems, patches, application security, backups, and monitoring.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Misconfiguration can expose servers, databases, storage buckets, management ports, or credentials to attackers.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Costs can rise if VMs, disks, snapshots, public IPs, or data transfers are left running without governance.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operational work is needed for high availability, scaling, disaster recovery, and performance tuning.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Poor design may simply recreate an expensive traditional data center inside a cloud account.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210312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 risk question: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have the skills and processes to manage what the provider does not manage?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 </a:t>
            </a:r>
            <a:r>
              <a:rPr lang="en-US" sz="2800" b="1" dirty="0" smtClean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EC2: virtual servers that can run custom operating systems and applications in Amazon’s cloud.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Azure Virtual Machines: Microsoft cloud VMs integrated with Azure networking, storage, identity, and monitoring services.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Compute Engine: Google Cloud virtual machines for custom workloads, compute clusters, and web services.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University example: create a controlled VM lab for operating systems, networking, cybersecurity, or web server practice.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decision: choose IaaS when control, customisation, or migration needs are stronger than the desire for provider-managed simplicity.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1234440" y="5733288"/>
            <a:ext cx="969264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list three responsibilities a student team must manage when hosting an app on a VM.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cloud service models: MaaS and CaaS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 as a Service provides outsourced monitoring of IT systems, applications, networks, logs, availability, and performance.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Communications as a Service provides hosted voice, meetings, messaging, and collaboration capabilities.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Containers as a Service lets teams upload container images while the platform runs, schedules, scales, and manages them.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These models show that cloud services can package specialised functions, not only software, platforms, or raw infrastructure.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evaluating them, ask what is managed by the provider, what data is exposed, and what controls remain with the consumer.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325880"/>
            <a:ext cx="3246120" cy="749808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monitor your systems.”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18120" y="2359152"/>
            <a:ext cx="3246120" cy="749808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host your communication.”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18120" y="3401568"/>
            <a:ext cx="3246120" cy="841248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CaaS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run and scale your containers.”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18120" y="4572000"/>
            <a:ext cx="3246120" cy="73152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identify the responsibility boundary.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service model: decision guide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143000"/>
            <a:ext cx="3383280" cy="6858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ready-made business application?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160520" y="1481328"/>
            <a:ext cx="640080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4800600" y="1143000"/>
            <a:ext cx="1874520" cy="68580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SaaS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3383280" cy="6858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build and deploy code quickly?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160520" y="2624328"/>
            <a:ext cx="640080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800600" y="2286000"/>
            <a:ext cx="1874520" cy="68580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PaaS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3429000"/>
            <a:ext cx="3383280" cy="68580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OS, network, and server control?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160520" y="3767328"/>
            <a:ext cx="640080" cy="0"/>
          </a:xfrm>
          <a:prstGeom prst="line">
            <a:avLst/>
          </a:prstGeom>
          <a:noFill/>
          <a:ln w="25400">
            <a:solidFill>
              <a:srgbClr val="1267A8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4800600" y="3429000"/>
            <a:ext cx="1874520" cy="68580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IaaS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452360" y="114300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8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criteria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required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privacy needs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skills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and billing risk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requirements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delivery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obligations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25880" y="5257800"/>
            <a:ext cx="9372600" cy="530352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answer = model + justification + trade-offs.</a:t>
            </a:r>
            <a:endParaRPr lang="en-US" sz="1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models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pic>
        <p:nvPicPr>
          <p:cNvPr id="8" name="Image 1" descr="/mnt/data/cloud_deployment_models_infographic.png"/>
          <p:cNvPicPr>
            <a:picLocks noChangeAspect="1"/>
          </p:cNvPicPr>
          <p:nvPr/>
        </p:nvPicPr>
        <p:blipFill>
          <a:blip r:embed="rId4"/>
          <a:srcRect t="10192" b="10192"/>
          <a:stretch/>
        </p:blipFill>
        <p:spPr>
          <a:xfrm>
            <a:off x="502920" y="1005840"/>
            <a:ext cx="11183112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cloud: definition and practical meaning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cloud services are provided over a public network and are available to many customers who want to use them.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Resources are shared at provider scale, while each customer receives logical separation through accounts, tenants, networks, policies, and identity controls.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public cloud is normally fast to start because customers do not build the underlying data center.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commonly used for websites, mobile backends, testing, collaboration, analytics, start-up products, and variable workloads.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Lecture examples of public cloud providers include AWS, Microsoft Azure, and Google Cloud Platform.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74520"/>
            <a:ext cx="3246120" cy="201168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= provider-owned services used by many customers over standard networks.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public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Cost-effective because resources are shared across many customers and no large upfront infrastructure purchase is required.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Highly scalable because large providers offer very large pools of compute, storage, network, and managed services.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setup allows teams to create resources and experiment within minutes when governance is in place.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reach supports users in different locations through regions, availability zones, content delivery, and internet access.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 service catalogues provide databases, AI, analytics, monitoring, backup, identity, and developer tools.</a:t>
            </a:r>
            <a:endParaRPr lang="en-US" sz="2000" dirty="0"/>
          </a:p>
        </p:txBody>
      </p:sp>
      <p:pic>
        <p:nvPicPr>
          <p:cNvPr id="9" name="Image 1" descr="/mnt/data/cloud_computing_from_infrastructure_to_innovation.png"/>
          <p:cNvPicPr>
            <a:picLocks noChangeAspect="1"/>
          </p:cNvPicPr>
          <p:nvPr/>
        </p:nvPicPr>
        <p:blipFill>
          <a:blip r:embed="rId4"/>
          <a:srcRect l="27426" r="27426"/>
          <a:stretch/>
        </p:blipFill>
        <p:spPr>
          <a:xfrm>
            <a:off x="7818120" y="1170432"/>
            <a:ext cx="3337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and risks of public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direct control over physical infrastructure, hardware location, provider operations, and some security implementation details.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and data residency concerns may arise where sensitive data must remain within specific legal or organisational boundaries.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can vary if applications are poorly designed or if network connectivity is weak between users and cloud regions.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deep customisation compared with owning dedicated infrastructure.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Vendor lock-in and unexpected billing can occur without architecture review, tagging, budgets, and exit planning.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214884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question: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its cost and scalability benefits outweigh control, compliance, and integration concerns?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examples and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AWS: widely used for EC2 virtual machines, S3 object storage, databases, networking, analytics, and many managed services.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Microsoft Azure: strong integration with Microsoft identity, Windows environments, enterprise systems, virtual machines, databases, and developer tools.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Cloud Platform: known for compute, networking, data analytics, machine learning, Kubernetes, and scalable platform services.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case: host a public university website or e-learning static content with global access and managed availability.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case: run development and testing environments that can be created for a class project and removed after marking.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1234440" y="5733288"/>
            <a:ext cx="969264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choose one public cloud provider and identify two services useful for a student project.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cloud: definition and practical meaning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Private cloud infrastructure is dedicated to a single organisation and may be located on-premises or hosted off-premises by a provider.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designed to meet specific requirements for security, compliance, performance, control, and customisation.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Private cloud still uses cloud principles such as resource pooling, self-service, automation, virtualization, and measured management.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organisation normally has more control but also more responsibility for cost, capacity planning, governance, operations, and skilled staff.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common where workloads are highly sensitive, regulated, mission-critical, or tightly integrated with internal systems.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74520"/>
            <a:ext cx="3246120" cy="192024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= cloud-like capability dedicated to one organisation.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private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Greater control over data, infrastructure design, access policies, security controls, and compliance procedures.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Customisation can be aligned with specific organisational systems, legacy applications, performance targets, and governance processes.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resources may improve predictability for sensitive or mission-critical workloads.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location and operational procedures can be controlled more closely than in many public cloud arrangements.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organisations with strong internal technical teams and strict regulatory obligations.</a:t>
            </a:r>
            <a:endParaRPr lang="en-US" sz="2010" dirty="0"/>
          </a:p>
        </p:txBody>
      </p:sp>
      <p:pic>
        <p:nvPicPr>
          <p:cNvPr id="9" name="Image 1" descr="/mnt/data/cloud_identity_federation_and_privacy_diagram.png"/>
          <p:cNvPicPr>
            <a:picLocks noChangeAspect="1"/>
          </p:cNvPicPr>
          <p:nvPr/>
        </p:nvPicPr>
        <p:blipFill>
          <a:blip r:embed="rId4"/>
          <a:srcRect l="27426" r="27426"/>
          <a:stretch/>
        </p:blipFill>
        <p:spPr>
          <a:xfrm>
            <a:off x="7818120" y="1207008"/>
            <a:ext cx="3337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and risks of private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cost because dedicated infrastructure, software, facilities, security, power, cooling, backup, and staff may be required.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in-house management expertise is needed for virtualization, storage, networks, identity, monitoring, backup, and automation.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is usually more limited than public cloud because capacity is restricted by purchased or reserved infrastructure.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 smtClean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Poorly managed private cloud can become expensive traditional IT with a cloud label.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214884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question: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organisation afford the cost, skills, and operational discipline required?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examples and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bank may keep core banking workloads in a private cloud to meet strict security, audit, latency, and regulatory requirements.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government agency may operate citizen data systems in a private cloud to maintain stronger control over sensitive national records.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university may run internal examination-processing systems privately while exposing only selected services to students through controlled interfaces.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health institution may keep patient systems in a private environment because data privacy, audit trails, and access control are critical.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decision: select private cloud when control and compliance are more important than lowest upfront cost.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1234440" y="5733288"/>
            <a:ext cx="969264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identify one workload that should not be placed in a poorly governed public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cloud: definition and practical meaning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cloud combines public and private cloud environments, allowing flexibility and data sharing between them.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Organisations use private environments for sensitive or stable workloads and public cloud for scalable, less sensitive, or temporary workloads.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cloud requires connectivity, identity integration, workload planning, monitoring, security controls, and clear data movement rules.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 smtClean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hybrid designs are intentional; they are not random mixtures of disconnected platforms.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74520"/>
            <a:ext cx="3246120" cy="192024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cloud = combine strengths, manage complexity.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hybrid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Flexibility because organisations can choose the best environment for each workload.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optimisation by using public cloud resources for less sensitive, variable, or temporary workloads while keeping critical systems private.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strategy because highly sensitive operations can stay in private environments under stronger organisational control.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migration in phases, reducing the risk of moving all systems at once.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improve business continuity when workloads and backups are designed across environments.</a:t>
            </a:r>
            <a:endParaRPr lang="en-US" sz="2010" dirty="0"/>
          </a:p>
        </p:txBody>
      </p:sp>
      <p:pic>
        <p:nvPicPr>
          <p:cNvPr id="9" name="Image 1" descr="/mnt/data/cloud_deployment_models_infographic.png"/>
          <p:cNvPicPr>
            <a:picLocks noChangeAspect="1"/>
          </p:cNvPicPr>
          <p:nvPr/>
        </p:nvPicPr>
        <p:blipFill>
          <a:blip r:embed="rId4"/>
          <a:srcRect l="27426" r="27426"/>
          <a:stretch/>
        </p:blipFill>
        <p:spPr>
          <a:xfrm>
            <a:off x="7818120" y="1188720"/>
            <a:ext cx="3337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and risks of hybrid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Management is more complex because teams must coordinate two or more environments, tools, policies, networks, and monitoring systems.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challenges can appear when data, identity, APIs, and workloads must move between public and private platforms.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risks increase if data transfers, VPNs, keys, identities, logs, or firewall rules are poorly configured.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Skilled architecture and operations teams are required for orchestration, governance, automation, and troubleshooting.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control can be difficult because spending occurs in both private and public environments.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246120" cy="214884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cloud question: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manage integration, security, observability, and cost across both worlds?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cloud examples and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university keeps examination records private but hosts the public admissions portal in public cloud during peak application periods.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bank keeps core banking private while using public cloud analytics for anonymised or approved reporting data.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hospital keeps patient records in a private environment but uses public cloud collaboration tools for non-sensitive administrative work.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company uses public cloud for disaster recovery copies while production remains in a private environment.</a:t>
            </a:r>
            <a:endParaRPr lang="en-US" sz="201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1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decision: choose hybrid cloud when different workloads have different sensitivity, scalability, and cost requirements.</a:t>
            </a:r>
            <a:endParaRPr lang="en-US" sz="2010" dirty="0"/>
          </a:p>
        </p:txBody>
      </p:sp>
      <p:sp>
        <p:nvSpPr>
          <p:cNvPr id="9" name="Text 6"/>
          <p:cNvSpPr/>
          <p:nvPr/>
        </p:nvSpPr>
        <p:spPr>
          <a:xfrm>
            <a:off x="1234440" y="5733288"/>
            <a:ext cx="969264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split a student-registration system into public, private, and shared components.</a:t>
            </a:r>
            <a:endParaRPr lang="en-US" sz="1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cloud: definition and practical meaning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6903720" cy="4572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cloud is shared among a specific community or group of organisations with similar goals, missions, risks, or compliance needs.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can serve government agencies, educational institutions, research organisations, healthcare networks, or sector-specific consortia.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cloud is designed around common requirements rather than open use by the general public.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Costs, policies, governance, and services may be shared across the participating organisations.</a:t>
            </a:r>
            <a:endParaRPr lang="en-US" sz="20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0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useful when organisations need collaboration but also need standards that match their community.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874520"/>
            <a:ext cx="3246120" cy="1965960"/>
          </a:xfrm>
          <a:prstGeom prst="rect">
            <a:avLst/>
          </a:prstGeom>
          <a:solidFill>
            <a:srgbClr val="EAF5FF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cloud = shared cloud for a defined group with common needs.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cloud: advantages, disadvantages and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143000"/>
            <a:ext cx="4937760" cy="502920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1828800"/>
            <a:ext cx="461772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costs among participating organisations.</a:t>
            </a:r>
            <a:endParaRPr lang="en-US" sz="19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Services and controls can be tailored to common community requirements.</a:t>
            </a:r>
            <a:endParaRPr lang="en-US" sz="19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Improves collaboration among organisations with similar needs.</a:t>
            </a:r>
            <a:endParaRPr lang="en-US" sz="19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support common compliance, data-sharing, and governance standards.</a:t>
            </a:r>
            <a:endParaRPr lang="en-US" sz="1920" dirty="0"/>
          </a:p>
        </p:txBody>
      </p:sp>
      <p:sp>
        <p:nvSpPr>
          <p:cNvPr id="10" name="Text 7"/>
          <p:cNvSpPr/>
          <p:nvPr/>
        </p:nvSpPr>
        <p:spPr>
          <a:xfrm>
            <a:off x="6446520" y="1143000"/>
            <a:ext cx="4937760" cy="502920"/>
          </a:xfrm>
          <a:prstGeom prst="rect">
            <a:avLst/>
          </a:prstGeom>
          <a:solidFill>
            <a:srgbClr val="FCEFEA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83680" y="1828800"/>
            <a:ext cx="461772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the specific community, so it may not serve wider users.</a:t>
            </a:r>
            <a:endParaRPr lang="en-US" sz="19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Governance disagreements may arise over cost, control, priorities, and usage.</a:t>
            </a:r>
            <a:endParaRPr lang="en-US" sz="19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flexible than public cloud when the community has strict policies.</a:t>
            </a:r>
            <a:endParaRPr lang="en-US" sz="19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19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coordination, trust, contracts, and shared operational rules.</a:t>
            </a:r>
            <a:endParaRPr lang="en-US" sz="1920" dirty="0"/>
          </a:p>
        </p:txBody>
      </p:sp>
      <p:sp>
        <p:nvSpPr>
          <p:cNvPr id="13" name="Text 9"/>
          <p:cNvSpPr/>
          <p:nvPr/>
        </p:nvSpPr>
        <p:spPr>
          <a:xfrm>
            <a:off x="1188720" y="5733288"/>
            <a:ext cx="9784080" cy="38404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university research consortium • government shared services • healthcare reporting network</a:t>
            </a:r>
            <a:endParaRPr lang="en-US" sz="1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deployment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143000"/>
            <a:ext cx="1828800" cy="420624"/>
          </a:xfrm>
          <a:prstGeom prst="rect">
            <a:avLst/>
          </a:prstGeom>
          <a:solidFill>
            <a:srgbClr val="073B73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331720" y="1143000"/>
            <a:ext cx="1965960" cy="420624"/>
          </a:xfrm>
          <a:prstGeom prst="rect">
            <a:avLst/>
          </a:prstGeom>
          <a:solidFill>
            <a:srgbClr val="073B73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343400" y="1143000"/>
            <a:ext cx="1965960" cy="420624"/>
          </a:xfrm>
          <a:prstGeom prst="rect">
            <a:avLst/>
          </a:prstGeom>
          <a:solidFill>
            <a:srgbClr val="073B73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0" y="1143000"/>
            <a:ext cx="1965960" cy="420624"/>
          </a:xfrm>
          <a:prstGeom prst="rect">
            <a:avLst/>
          </a:prstGeom>
          <a:solidFill>
            <a:srgbClr val="073B73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58200" y="1143000"/>
            <a:ext cx="1828800" cy="420624"/>
          </a:xfrm>
          <a:prstGeom prst="rect">
            <a:avLst/>
          </a:prstGeom>
          <a:solidFill>
            <a:srgbClr val="073B73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332720" y="1143000"/>
            <a:ext cx="1325880" cy="420624"/>
          </a:xfrm>
          <a:prstGeom prst="rect">
            <a:avLst/>
          </a:prstGeom>
          <a:solidFill>
            <a:srgbClr val="073B73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1673352"/>
            <a:ext cx="1828800" cy="530352"/>
          </a:xfrm>
          <a:prstGeom prst="rect">
            <a:avLst/>
          </a:prstGeom>
          <a:solidFill>
            <a:srgbClr val="EAF5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2331720" y="1673352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workloads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4343400" y="1673352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upfront cost, scalable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400800" y="1673352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control, compliance concerns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8458200" y="1673352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Azure, GCP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10332720" y="1673352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502920" y="2368296"/>
            <a:ext cx="1828800" cy="530352"/>
          </a:xfrm>
          <a:prstGeom prst="rect">
            <a:avLst/>
          </a:prstGeom>
          <a:solidFill>
            <a:srgbClr val="EAF5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2331720" y="2368296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workloads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4343400" y="2368296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customisation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6400800" y="2368296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cost, skills required</a:t>
            </a:r>
            <a:endParaRPr lang="en-US" sz="1260" dirty="0"/>
          </a:p>
        </p:txBody>
      </p:sp>
      <p:sp>
        <p:nvSpPr>
          <p:cNvPr id="24" name="Text 21"/>
          <p:cNvSpPr/>
          <p:nvPr/>
        </p:nvSpPr>
        <p:spPr>
          <a:xfrm>
            <a:off x="8458200" y="2368296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Bank, govt, health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10332720" y="2368296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502920" y="3063240"/>
            <a:ext cx="1828800" cy="530352"/>
          </a:xfrm>
          <a:prstGeom prst="rect">
            <a:avLst/>
          </a:prstGeom>
          <a:solidFill>
            <a:srgbClr val="EAF5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2331720" y="3063240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sensitivity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4343400" y="3063240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Flexibility, phased migration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6400800" y="3063240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integration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8458200" y="3063240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+ records</a:t>
            </a:r>
            <a:endParaRPr lang="en-US" sz="1260" dirty="0"/>
          </a:p>
        </p:txBody>
      </p:sp>
      <p:sp>
        <p:nvSpPr>
          <p:cNvPr id="31" name="Text 28"/>
          <p:cNvSpPr/>
          <p:nvPr/>
        </p:nvSpPr>
        <p:spPr>
          <a:xfrm>
            <a:off x="10332720" y="3063240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Med-High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502920" y="3758184"/>
            <a:ext cx="1828800" cy="530352"/>
          </a:xfrm>
          <a:prstGeom prst="rect">
            <a:avLst/>
          </a:prstGeom>
          <a:solidFill>
            <a:srgbClr val="EAF5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60" dirty="0"/>
          </a:p>
        </p:txBody>
      </p:sp>
      <p:sp>
        <p:nvSpPr>
          <p:cNvPr id="33" name="Text 30"/>
          <p:cNvSpPr/>
          <p:nvPr/>
        </p:nvSpPr>
        <p:spPr>
          <a:xfrm>
            <a:off x="2331720" y="3758184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mission</a:t>
            </a:r>
            <a:endParaRPr lang="en-US" sz="1260" dirty="0"/>
          </a:p>
        </p:txBody>
      </p:sp>
      <p:sp>
        <p:nvSpPr>
          <p:cNvPr id="34" name="Text 31"/>
          <p:cNvSpPr/>
          <p:nvPr/>
        </p:nvSpPr>
        <p:spPr>
          <a:xfrm>
            <a:off x="4343400" y="3758184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cost, tailored rules</a:t>
            </a:r>
            <a:endParaRPr lang="en-US" sz="1260" dirty="0"/>
          </a:p>
        </p:txBody>
      </p:sp>
      <p:sp>
        <p:nvSpPr>
          <p:cNvPr id="35" name="Text 32"/>
          <p:cNvSpPr/>
          <p:nvPr/>
        </p:nvSpPr>
        <p:spPr>
          <a:xfrm>
            <a:off x="6400800" y="3758184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conflicts</a:t>
            </a:r>
            <a:endParaRPr lang="en-US" sz="1260" dirty="0"/>
          </a:p>
        </p:txBody>
      </p:sp>
      <p:sp>
        <p:nvSpPr>
          <p:cNvPr id="36" name="Text 33"/>
          <p:cNvSpPr/>
          <p:nvPr/>
        </p:nvSpPr>
        <p:spPr>
          <a:xfrm>
            <a:off x="8458200" y="3758184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health network</a:t>
            </a:r>
            <a:endParaRPr lang="en-US" sz="1260" dirty="0"/>
          </a:p>
        </p:txBody>
      </p:sp>
      <p:sp>
        <p:nvSpPr>
          <p:cNvPr id="37" name="Text 34"/>
          <p:cNvSpPr/>
          <p:nvPr/>
        </p:nvSpPr>
        <p:spPr>
          <a:xfrm>
            <a:off x="10332720" y="3758184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9D8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1260" dirty="0"/>
          </a:p>
        </p:txBody>
      </p:sp>
      <p:sp>
        <p:nvSpPr>
          <p:cNvPr id="38" name="Text 35"/>
          <p:cNvSpPr/>
          <p:nvPr/>
        </p:nvSpPr>
        <p:spPr>
          <a:xfrm>
            <a:off x="868680" y="5230368"/>
            <a:ext cx="10424160" cy="566928"/>
          </a:xfrm>
          <a:prstGeom prst="rect">
            <a:avLst/>
          </a:prstGeom>
          <a:solidFill>
            <a:srgbClr val="E6F8F0"/>
          </a:solidFill>
          <a:ln w="12700">
            <a:solidFill>
              <a:srgbClr val="B9D8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model that best matches data sensitivity, cost, control, scalability, skills, and legal requirements.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9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summary and exit ticket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327648"/>
            <a:ext cx="11247120" cy="0"/>
          </a:xfrm>
          <a:prstGeom prst="line">
            <a:avLst/>
          </a:prstGeom>
          <a:noFill/>
          <a:ln w="8890">
            <a:solidFill>
              <a:srgbClr val="B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382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ICT411 Cloud Computing • Unit 2 • Cloud Service &amp; Deployment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364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9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pic>
        <p:nvPicPr>
          <p:cNvPr id="7" name="Image 0" descr="/mnt/data/mulungushi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199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15568"/>
            <a:ext cx="1037844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SaaS delivers complete applications; it is fast and convenient but offers less technical control.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PaaS gives developers a managed application platform; it improves delivery speed but may limit deep customisation.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IaaS provides virtualized infrastructure; it offers more control but requires more management responsibility.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cloud is scalable and cost-effective; private cloud offers control; hybrid combines environments; community cloud serves shared mission groups.</a:t>
            </a:r>
            <a:endParaRPr lang="en-US" sz="202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202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Exit ticket: recommend one service model and one deployment model for a clinic appointment system, with one advantage and one disadvantage for each.</a:t>
            </a:r>
            <a:endParaRPr lang="en-US" sz="2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5185</Words>
  <Application>Microsoft Office PowerPoint</Application>
  <PresentationFormat>Widescreen</PresentationFormat>
  <Paragraphs>504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Mulungushi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ICT411 Cloud Computing Unit 2 Service and Deployment Models</dc:title>
  <dc:subject>ICT411 Cloud Computing - Unit 2</dc:subject>
  <dc:creator>OpenAI</dc:creator>
  <cp:lastModifiedBy>HP EliteBook</cp:lastModifiedBy>
  <cp:revision>6</cp:revision>
  <dcterms:created xsi:type="dcterms:W3CDTF">2026-09-01T10:40:42Z</dcterms:created>
  <dcterms:modified xsi:type="dcterms:W3CDTF">2026-09-09T05:10:21Z</dcterms:modified>
</cp:coreProperties>
</file>